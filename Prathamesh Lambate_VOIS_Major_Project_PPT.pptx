
<file path=[Content_Types].xml><?xml version="1.0" encoding="utf-8"?>
<Types xmlns="http://schemas.openxmlformats.org/package/2006/content-types">
  <Default Extension="jfif"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47" r:id="rId4"/>
  </p:sldMasterIdLst>
  <p:notesMasterIdLst>
    <p:notesMasterId r:id="rId25"/>
  </p:notesMasterIdLst>
  <p:handoutMasterIdLst>
    <p:handoutMasterId r:id="rId26"/>
  </p:handoutMasterIdLst>
  <p:sldIdLst>
    <p:sldId id="338" r:id="rId5"/>
    <p:sldId id="327" r:id="rId6"/>
    <p:sldId id="347" r:id="rId7"/>
    <p:sldId id="329" r:id="rId8"/>
    <p:sldId id="348" r:id="rId9"/>
    <p:sldId id="339" r:id="rId10"/>
    <p:sldId id="356" r:id="rId11"/>
    <p:sldId id="349" r:id="rId12"/>
    <p:sldId id="350" r:id="rId13"/>
    <p:sldId id="351" r:id="rId14"/>
    <p:sldId id="352" r:id="rId15"/>
    <p:sldId id="353" r:id="rId16"/>
    <p:sldId id="354" r:id="rId17"/>
    <p:sldId id="355" r:id="rId18"/>
    <p:sldId id="357" r:id="rId19"/>
    <p:sldId id="359" r:id="rId20"/>
    <p:sldId id="341" r:id="rId21"/>
    <p:sldId id="342" r:id="rId22"/>
    <p:sldId id="343" r:id="rId23"/>
    <p:sldId id="304" r:id="rId2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968" userDrawn="1">
          <p15:clr>
            <a:srgbClr val="A4A3A4"/>
          </p15:clr>
        </p15:guide>
        <p15:guide id="2" pos="408" userDrawn="1">
          <p15:clr>
            <a:srgbClr val="A4A3A4"/>
          </p15:clr>
        </p15:guide>
        <p15:guide id="3" orient="horz" pos="3912" userDrawn="1">
          <p15:clr>
            <a:srgbClr val="A4A3A4"/>
          </p15:clr>
        </p15:guide>
        <p15:guide id="4" pos="7272" userDrawn="1">
          <p15:clr>
            <a:srgbClr val="A4A3A4"/>
          </p15:clr>
        </p15:guide>
        <p15:guide id="5" orient="horz" pos="1656"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9D9D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6E25E649-3F16-4E02-A733-19D2CDBF48F0}">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085" autoAdjust="0"/>
    <p:restoredTop sz="95033" autoAdjust="0"/>
  </p:normalViewPr>
  <p:slideViewPr>
    <p:cSldViewPr snapToGrid="0">
      <p:cViewPr varScale="1">
        <p:scale>
          <a:sx n="80" d="100"/>
          <a:sy n="80" d="100"/>
        </p:scale>
        <p:origin x="686" y="62"/>
      </p:cViewPr>
      <p:guideLst>
        <p:guide orient="horz" pos="1968"/>
        <p:guide pos="408"/>
        <p:guide orient="horz" pos="3912"/>
        <p:guide pos="7272"/>
        <p:guide orient="horz" pos="1656"/>
      </p:guideLst>
    </p:cSldViewPr>
  </p:slideViewPr>
  <p:outlineViewPr>
    <p:cViewPr>
      <p:scale>
        <a:sx n="33" d="100"/>
        <a:sy n="33" d="100"/>
      </p:scale>
      <p:origin x="0" y="-4886"/>
    </p:cViewPr>
  </p:outlineViewPr>
  <p:notesTextViewPr>
    <p:cViewPr>
      <p:scale>
        <a:sx n="3" d="2"/>
        <a:sy n="3" d="2"/>
      </p:scale>
      <p:origin x="0" y="0"/>
    </p:cViewPr>
  </p:notesTextViewPr>
  <p:sorterViewPr>
    <p:cViewPr>
      <p:scale>
        <a:sx n="110" d="100"/>
        <a:sy n="110" d="100"/>
      </p:scale>
      <p:origin x="0" y="-965"/>
    </p:cViewPr>
  </p:sorterViewPr>
  <p:notesViewPr>
    <p:cSldViewPr snapToGrid="0">
      <p:cViewPr varScale="1">
        <p:scale>
          <a:sx n="60" d="100"/>
          <a:sy n="60" d="100"/>
        </p:scale>
        <p:origin x="3187" y="48"/>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handoutMaster" Target="handoutMasters/handoutMaster1.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notesMaster" Target="notesMasters/notesMaster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viewProps" Target="viewProp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presProps" Target="presProps.xml"/><Relationship Id="rId30"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B76F666D-E0C2-435B-BAA8-9287F9E5D38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19FEBCAF-CB3F-4928-91AA-D61472F880C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F1077DB-935E-4A0A-947A-D283B9F9F452}" type="datetimeFigureOut">
              <a:rPr lang="en-US" smtClean="0"/>
              <a:t>9/4/2026</a:t>
            </a:fld>
            <a:endParaRPr lang="en-US" dirty="0"/>
          </a:p>
        </p:txBody>
      </p:sp>
      <p:sp>
        <p:nvSpPr>
          <p:cNvPr id="4" name="Footer Placeholder 3">
            <a:extLst>
              <a:ext uri="{FF2B5EF4-FFF2-40B4-BE49-F238E27FC236}">
                <a16:creationId xmlns:a16="http://schemas.microsoft.com/office/drawing/2014/main" id="{69256698-63C6-4CCC-81CB-EA5604C30F1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B2467FDA-05D7-4760-A373-5D6AEAAF427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82C0B10-7CAE-41E4-AB02-7E8B1FF2B898}" type="slidenum">
              <a:rPr lang="en-US" smtClean="0"/>
              <a:t>‹#›</a:t>
            </a:fld>
            <a:endParaRPr lang="en-US" dirty="0"/>
          </a:p>
        </p:txBody>
      </p:sp>
    </p:spTree>
    <p:extLst>
      <p:ext uri="{BB962C8B-B14F-4D97-AF65-F5344CB8AC3E}">
        <p14:creationId xmlns:p14="http://schemas.microsoft.com/office/powerpoint/2010/main" val="368753759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noProof="0"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D9EC30E-1A71-4188-9BE7-E2A64929A436}" type="datetimeFigureOut">
              <a:rPr lang="en-US" noProof="0" smtClean="0"/>
              <a:t>9/4/2026</a:t>
            </a:fld>
            <a:endParaRPr lang="en-US" noProof="0"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noProof="0"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noProof="0"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530193B-564F-4854-8A52-728F3FB19C85}" type="slidenum">
              <a:rPr lang="en-US" noProof="0" smtClean="0"/>
              <a:t>‹#›</a:t>
            </a:fld>
            <a:endParaRPr lang="en-US" noProof="0" dirty="0"/>
          </a:p>
        </p:txBody>
      </p:sp>
    </p:spTree>
    <p:extLst>
      <p:ext uri="{BB962C8B-B14F-4D97-AF65-F5344CB8AC3E}">
        <p14:creationId xmlns:p14="http://schemas.microsoft.com/office/powerpoint/2010/main" val="36038165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6" name="Group 15"/>
          <p:cNvGrpSpPr/>
          <p:nvPr/>
        </p:nvGrpSpPr>
        <p:grpSpPr>
          <a:xfrm>
            <a:off x="0" y="-8467"/>
            <a:ext cx="12192000" cy="6866467"/>
            <a:chOff x="0" y="-8467"/>
            <a:chExt cx="12192000" cy="6866467"/>
          </a:xfrm>
        </p:grpSpPr>
        <p:sp>
          <p:nvSpPr>
            <p:cNvPr id="15" name="Freeform 14"/>
            <p:cNvSpPr/>
            <p:nvPr/>
          </p:nvSpPr>
          <p:spPr>
            <a:xfrm>
              <a:off x="0" y="-7862"/>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cxnSp>
          <p:nvCxnSpPr>
            <p:cNvPr id="19" name="Straight Connector 18"/>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1"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Isosceles Triangle 22"/>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870022032"/>
      </p:ext>
    </p:extLst>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660528460"/>
      </p:ext>
    </p:extLst>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637669602"/>
      </p:ext>
    </p:extLst>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B712588-04B1-427B-82EE-E8DB90309F08}" type="datetimeFigureOut">
              <a:rPr lang="en-US" smtClean="0"/>
              <a:t>9/4/2026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FF9F0C5-380F-41C2-899A-BAC0F0927E16}" type="slidenum">
              <a:rPr lang="en-US" smtClean="0"/>
              <a:t>‹#›</a:t>
            </a:fld>
            <a:endParaRPr lang="en-US" dirty="0"/>
          </a:p>
        </p:txBody>
      </p:sp>
    </p:spTree>
    <p:extLst>
      <p:ext uri="{BB962C8B-B14F-4D97-AF65-F5344CB8AC3E}">
        <p14:creationId xmlns:p14="http://schemas.microsoft.com/office/powerpoint/2010/main" val="2397459935"/>
      </p:ext>
    </p:extLst>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smtClean="0"/>
              <a:pPr/>
              <a:t>9/4/2026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063239096"/>
      </p:ext>
    </p:extLst>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smtClean="0"/>
              <a:pPr/>
              <a:t>9/4/2026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891965439"/>
      </p:ext>
    </p:extLst>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smtClean="0"/>
              <a:pPr/>
              <a:t>9/4/2026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086897335"/>
      </p:ext>
    </p:extLst>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2A54C80-263E-416B-A8E0-580EDEADCBDC}" type="datetimeFigureOut">
              <a:rPr lang="en-US" smtClean="0"/>
              <a:t>9/4/2026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19954A3-9DFD-4C44-94BA-B95130A3BA1C}" type="slidenum">
              <a:rPr lang="en-US" smtClean="0"/>
              <a:t>‹#›</a:t>
            </a:fld>
            <a:endParaRPr lang="en-US" dirty="0"/>
          </a:p>
        </p:txBody>
      </p:sp>
    </p:spTree>
    <p:extLst>
      <p:ext uri="{BB962C8B-B14F-4D97-AF65-F5344CB8AC3E}">
        <p14:creationId xmlns:p14="http://schemas.microsoft.com/office/powerpoint/2010/main" val="1589620618"/>
      </p:ext>
    </p:extLst>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
        <p:nvSpPr>
          <p:cNvPr id="5" name="Date Placeholder 4"/>
          <p:cNvSpPr>
            <a:spLocks noGrp="1"/>
          </p:cNvSpPr>
          <p:nvPr>
            <p:ph type="dt" sz="half" idx="10"/>
          </p:nvPr>
        </p:nvSpPr>
        <p:spPr/>
        <p:txBody>
          <a:bodyPr/>
          <a:lstStyle/>
          <a:p>
            <a:fld id="{B61BEF0D-F0BB-DE4B-95CE-6DB70DBA9567}" type="datetimeFigureOut">
              <a:rPr lang="en-US" smtClean="0"/>
              <a:pPr/>
              <a:t>9/4/2026</a:t>
            </a:fld>
            <a:endParaRPr lang="en-US" dirty="0"/>
          </a:p>
        </p:txBody>
      </p:sp>
    </p:spTree>
    <p:extLst>
      <p:ext uri="{BB962C8B-B14F-4D97-AF65-F5344CB8AC3E}">
        <p14:creationId xmlns:p14="http://schemas.microsoft.com/office/powerpoint/2010/main" val="3530304514"/>
      </p:ext>
    </p:extLst>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638109717"/>
      </p:ext>
    </p:extLst>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3322563127"/>
      </p:ext>
    </p:extLst>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928478255"/>
      </p:ext>
    </p:extLst>
  </p:cSld>
  <p:clrMapOvr>
    <a:masterClrMapping/>
  </p:clrMapOvr>
  <p:hf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2926250616"/>
      </p:ext>
    </p:extLst>
  </p:cSld>
  <p:clrMapOvr>
    <a:masterClrMapping/>
  </p:clrMapOvr>
  <p:hf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533561930"/>
      </p:ext>
    </p:extLst>
  </p:cSld>
  <p:clrMapOvr>
    <a:masterClrMapping/>
  </p:clrMapOvr>
  <p:hf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5C6B4A9-1611-4792-9094-5F34BCA07E0B}" type="datetimeFigureOut">
              <a:rPr lang="en-US" smtClean="0"/>
              <a:t>9/4/2026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9333C77-0158-454C-844F-B7AB9BD7DAD4}" type="slidenum">
              <a:rPr lang="en-US" smtClean="0"/>
              <a:t>‹#›</a:t>
            </a:fld>
            <a:endParaRPr lang="en-US" dirty="0"/>
          </a:p>
        </p:txBody>
      </p:sp>
    </p:spTree>
    <p:extLst>
      <p:ext uri="{BB962C8B-B14F-4D97-AF65-F5344CB8AC3E}">
        <p14:creationId xmlns:p14="http://schemas.microsoft.com/office/powerpoint/2010/main" val="877920135"/>
      </p:ext>
    </p:extLst>
  </p:cSld>
  <p:clrMapOvr>
    <a:masterClrMapping/>
  </p:clrMapOvr>
  <p:hf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35619384"/>
      </p:ext>
    </p:extLst>
  </p:cSld>
  <p:clrMapOvr>
    <a:masterClrMapping/>
  </p:clrMapOvr>
  <p:hf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Quote">
    <p:spTree>
      <p:nvGrpSpPr>
        <p:cNvPr id="1" name=""/>
        <p:cNvGrpSpPr/>
        <p:nvPr/>
      </p:nvGrpSpPr>
      <p:grpSpPr>
        <a:xfrm>
          <a:off x="0" y="0"/>
          <a:ext cx="0" cy="0"/>
          <a:chOff x="0" y="0"/>
          <a:chExt cx="0" cy="0"/>
        </a:xfrm>
      </p:grpSpPr>
      <p:sp>
        <p:nvSpPr>
          <p:cNvPr id="11" name="Text Placeholder 10">
            <a:extLst>
              <a:ext uri="{FF2B5EF4-FFF2-40B4-BE49-F238E27FC236}">
                <a16:creationId xmlns:a16="http://schemas.microsoft.com/office/drawing/2014/main" id="{6FDA3C6F-5F6A-4D64-8BFE-AFFF58B1A047}"/>
              </a:ext>
            </a:extLst>
          </p:cNvPr>
          <p:cNvSpPr>
            <a:spLocks noGrp="1"/>
          </p:cNvSpPr>
          <p:nvPr>
            <p:ph type="body" sz="quarter" idx="11"/>
          </p:nvPr>
        </p:nvSpPr>
        <p:spPr>
          <a:xfrm>
            <a:off x="6312871" y="4141999"/>
            <a:ext cx="4220845" cy="861497"/>
          </a:xfrm>
          <a:prstGeom prst="rect">
            <a:avLst/>
          </a:prstGeom>
        </p:spPr>
        <p:txBody>
          <a:bodyPr/>
          <a:lstStyle>
            <a:lvl1pPr marL="0" indent="0">
              <a:buNone/>
              <a:defRPr sz="2000" b="1">
                <a:solidFill>
                  <a:schemeClr val="accent4"/>
                </a:solidFill>
                <a:latin typeface="+mj-lt"/>
              </a:defRPr>
            </a:lvl1pPr>
            <a:lvl2pPr>
              <a:buNone/>
              <a:defRPr sz="2000"/>
            </a:lvl2pPr>
          </a:lstStyle>
          <a:p>
            <a:pPr lvl="0"/>
            <a:r>
              <a:rPr lang="en-US"/>
              <a:t>Click to edit Master text styles</a:t>
            </a:r>
          </a:p>
          <a:p>
            <a:pPr lvl="1"/>
            <a:r>
              <a:rPr lang="en-US"/>
              <a:t>Second level</a:t>
            </a:r>
          </a:p>
        </p:txBody>
      </p:sp>
      <p:sp>
        <p:nvSpPr>
          <p:cNvPr id="15" name="Hexagon 14">
            <a:extLst>
              <a:ext uri="{FF2B5EF4-FFF2-40B4-BE49-F238E27FC236}">
                <a16:creationId xmlns:a16="http://schemas.microsoft.com/office/drawing/2014/main" id="{AC159667-7690-4645-986D-BE501438455F}"/>
              </a:ext>
            </a:extLst>
          </p:cNvPr>
          <p:cNvSpPr/>
          <p:nvPr userDrawn="1"/>
        </p:nvSpPr>
        <p:spPr>
          <a:xfrm>
            <a:off x="740309" y="1382809"/>
            <a:ext cx="1229566" cy="1059971"/>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Hexagon 15">
            <a:extLst>
              <a:ext uri="{FF2B5EF4-FFF2-40B4-BE49-F238E27FC236}">
                <a16:creationId xmlns:a16="http://schemas.microsoft.com/office/drawing/2014/main" id="{54667EE4-E77F-453B-BF8B-B1EE2AE80715}"/>
              </a:ext>
            </a:extLst>
          </p:cNvPr>
          <p:cNvSpPr/>
          <p:nvPr userDrawn="1"/>
        </p:nvSpPr>
        <p:spPr>
          <a:xfrm>
            <a:off x="3755031" y="1194620"/>
            <a:ext cx="1666162" cy="1436347"/>
          </a:xfrm>
          <a:prstGeom prst="hexagon">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Hexagon 16">
            <a:extLst>
              <a:ext uri="{FF2B5EF4-FFF2-40B4-BE49-F238E27FC236}">
                <a16:creationId xmlns:a16="http://schemas.microsoft.com/office/drawing/2014/main" id="{FC050232-A229-425F-BFC8-D50374F2D171}"/>
              </a:ext>
            </a:extLst>
          </p:cNvPr>
          <p:cNvSpPr/>
          <p:nvPr userDrawn="1"/>
        </p:nvSpPr>
        <p:spPr>
          <a:xfrm>
            <a:off x="3804994" y="5233183"/>
            <a:ext cx="718261" cy="619191"/>
          </a:xfrm>
          <a:prstGeom prst="hexagon">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Hexagon 17">
            <a:extLst>
              <a:ext uri="{FF2B5EF4-FFF2-40B4-BE49-F238E27FC236}">
                <a16:creationId xmlns:a16="http://schemas.microsoft.com/office/drawing/2014/main" id="{53E4EBC7-340A-43A5-9E23-4B73A6F700B6}"/>
              </a:ext>
            </a:extLst>
          </p:cNvPr>
          <p:cNvSpPr/>
          <p:nvPr userDrawn="1"/>
        </p:nvSpPr>
        <p:spPr>
          <a:xfrm>
            <a:off x="1837838" y="1101306"/>
            <a:ext cx="651613" cy="561736"/>
          </a:xfrm>
          <a:prstGeom prst="hexagon">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Picture Placeholder 18">
            <a:extLst>
              <a:ext uri="{FF2B5EF4-FFF2-40B4-BE49-F238E27FC236}">
                <a16:creationId xmlns:a16="http://schemas.microsoft.com/office/drawing/2014/main" id="{1ED0E31A-F0A3-481D-8D9C-E3C4531FD21D}"/>
              </a:ext>
            </a:extLst>
          </p:cNvPr>
          <p:cNvSpPr>
            <a:spLocks noGrp="1"/>
          </p:cNvSpPr>
          <p:nvPr>
            <p:ph type="pic" sz="quarter" idx="12"/>
          </p:nvPr>
        </p:nvSpPr>
        <p:spPr>
          <a:xfrm>
            <a:off x="1571515" y="1914044"/>
            <a:ext cx="3993624" cy="3617848"/>
          </a:xfrm>
          <a:custGeom>
            <a:avLst/>
            <a:gdLst>
              <a:gd name="connsiteX0" fmla="*/ 1223161 w 3993624"/>
              <a:gd name="connsiteY0" fmla="*/ 2354088 h 3617848"/>
              <a:gd name="connsiteX1" fmla="*/ 2057242 w 3993624"/>
              <a:gd name="connsiteY1" fmla="*/ 2354088 h 3617848"/>
              <a:gd name="connsiteX2" fmla="*/ 2373182 w 3993624"/>
              <a:gd name="connsiteY2" fmla="*/ 2985968 h 3617848"/>
              <a:gd name="connsiteX3" fmla="*/ 2057242 w 3993624"/>
              <a:gd name="connsiteY3" fmla="*/ 3617848 h 3617848"/>
              <a:gd name="connsiteX4" fmla="*/ 1223161 w 3993624"/>
              <a:gd name="connsiteY4" fmla="*/ 3617848 h 3617848"/>
              <a:gd name="connsiteX5" fmla="*/ 907221 w 3993624"/>
              <a:gd name="connsiteY5" fmla="*/ 2985968 h 3617848"/>
              <a:gd name="connsiteX6" fmla="*/ 2569631 w 3993624"/>
              <a:gd name="connsiteY6" fmla="*/ 1425984 h 3617848"/>
              <a:gd name="connsiteX7" fmla="*/ 3602417 w 3993624"/>
              <a:gd name="connsiteY7" fmla="*/ 1425984 h 3617848"/>
              <a:gd name="connsiteX8" fmla="*/ 3993624 w 3993624"/>
              <a:gd name="connsiteY8" fmla="*/ 2208398 h 3617848"/>
              <a:gd name="connsiteX9" fmla="*/ 3602417 w 3993624"/>
              <a:gd name="connsiteY9" fmla="*/ 2990812 h 3617848"/>
              <a:gd name="connsiteX10" fmla="*/ 2569631 w 3993624"/>
              <a:gd name="connsiteY10" fmla="*/ 2990812 h 3617848"/>
              <a:gd name="connsiteX11" fmla="*/ 2178424 w 3993624"/>
              <a:gd name="connsiteY11" fmla="*/ 2208398 h 3617848"/>
              <a:gd name="connsiteX12" fmla="*/ 551406 w 3993624"/>
              <a:gd name="connsiteY12" fmla="*/ 0 h 3617848"/>
              <a:gd name="connsiteX13" fmla="*/ 2007117 w 3993624"/>
              <a:gd name="connsiteY13" fmla="*/ 0 h 3617848"/>
              <a:gd name="connsiteX14" fmla="*/ 2558523 w 3993624"/>
              <a:gd name="connsiteY14" fmla="*/ 1102811 h 3617848"/>
              <a:gd name="connsiteX15" fmla="*/ 2007117 w 3993624"/>
              <a:gd name="connsiteY15" fmla="*/ 2205622 h 3617848"/>
              <a:gd name="connsiteX16" fmla="*/ 551406 w 3993624"/>
              <a:gd name="connsiteY16" fmla="*/ 2205622 h 3617848"/>
              <a:gd name="connsiteX17" fmla="*/ 0 w 3993624"/>
              <a:gd name="connsiteY17" fmla="*/ 1102811 h 36178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993624" h="3617848">
                <a:moveTo>
                  <a:pt x="1223161" y="2354088"/>
                </a:moveTo>
                <a:lnTo>
                  <a:pt x="2057242" y="2354088"/>
                </a:lnTo>
                <a:lnTo>
                  <a:pt x="2373182" y="2985968"/>
                </a:lnTo>
                <a:lnTo>
                  <a:pt x="2057242" y="3617848"/>
                </a:lnTo>
                <a:lnTo>
                  <a:pt x="1223161" y="3617848"/>
                </a:lnTo>
                <a:lnTo>
                  <a:pt x="907221" y="2985968"/>
                </a:lnTo>
                <a:close/>
                <a:moveTo>
                  <a:pt x="2569631" y="1425984"/>
                </a:moveTo>
                <a:lnTo>
                  <a:pt x="3602417" y="1425984"/>
                </a:lnTo>
                <a:lnTo>
                  <a:pt x="3993624" y="2208398"/>
                </a:lnTo>
                <a:lnTo>
                  <a:pt x="3602417" y="2990812"/>
                </a:lnTo>
                <a:lnTo>
                  <a:pt x="2569631" y="2990812"/>
                </a:lnTo>
                <a:lnTo>
                  <a:pt x="2178424" y="2208398"/>
                </a:lnTo>
                <a:close/>
                <a:moveTo>
                  <a:pt x="551406" y="0"/>
                </a:moveTo>
                <a:lnTo>
                  <a:pt x="2007117" y="0"/>
                </a:lnTo>
                <a:lnTo>
                  <a:pt x="2558523" y="1102811"/>
                </a:lnTo>
                <a:lnTo>
                  <a:pt x="2007117" y="2205622"/>
                </a:lnTo>
                <a:lnTo>
                  <a:pt x="551406" y="2205622"/>
                </a:lnTo>
                <a:lnTo>
                  <a:pt x="0" y="1102811"/>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03E68100-C56F-4515-A4FD-3F301797E78F}"/>
              </a:ext>
            </a:extLst>
          </p:cNvPr>
          <p:cNvSpPr>
            <a:spLocks noGrp="1"/>
          </p:cNvSpPr>
          <p:nvPr>
            <p:ph type="title"/>
          </p:nvPr>
        </p:nvSpPr>
        <p:spPr>
          <a:xfrm>
            <a:off x="6312871" y="2050552"/>
            <a:ext cx="4998720" cy="1748983"/>
          </a:xfrm>
          <a:prstGeom prst="rect">
            <a:avLst/>
          </a:prstGeom>
        </p:spPr>
        <p:txBody>
          <a:bodyPr/>
          <a:lstStyle>
            <a:lvl1pPr>
              <a:defRPr sz="2800">
                <a:solidFill>
                  <a:schemeClr val="tx1"/>
                </a:solidFill>
                <a:latin typeface="+mn-lt"/>
              </a:defRPr>
            </a:lvl1pPr>
          </a:lstStyle>
          <a:p>
            <a:r>
              <a:rPr lang="en-US"/>
              <a:t>Click to edit Master title style</a:t>
            </a:r>
          </a:p>
        </p:txBody>
      </p:sp>
    </p:spTree>
    <p:extLst>
      <p:ext uri="{BB962C8B-B14F-4D97-AF65-F5344CB8AC3E}">
        <p14:creationId xmlns:p14="http://schemas.microsoft.com/office/powerpoint/2010/main" val="1409194673"/>
      </p:ext>
    </p:extLst>
  </p:cSld>
  <p:clrMapOvr>
    <a:masterClrMapping/>
  </p:clrMapOvr>
  <p:extLst>
    <p:ext uri="{DCECCB84-F9BA-43D5-87BE-67443E8EF086}">
      <p15:sldGuideLst xmlns:p15="http://schemas.microsoft.com/office/powerpoint/2012/main">
        <p15:guide id="1" orient="horz" pos="1272">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Agenda">
    <p:spTree>
      <p:nvGrpSpPr>
        <p:cNvPr id="1" name=""/>
        <p:cNvGrpSpPr/>
        <p:nvPr/>
      </p:nvGrpSpPr>
      <p:grpSpPr>
        <a:xfrm>
          <a:off x="0" y="0"/>
          <a:ext cx="0" cy="0"/>
          <a:chOff x="0" y="0"/>
          <a:chExt cx="0" cy="0"/>
        </a:xfrm>
      </p:grpSpPr>
      <p:sp>
        <p:nvSpPr>
          <p:cNvPr id="10" name="Text Placeholder 26">
            <a:extLst>
              <a:ext uri="{FF2B5EF4-FFF2-40B4-BE49-F238E27FC236}">
                <a16:creationId xmlns:a16="http://schemas.microsoft.com/office/drawing/2014/main" id="{4AA38E8C-A334-4183-8ABC-112B8517F487}"/>
              </a:ext>
            </a:extLst>
          </p:cNvPr>
          <p:cNvSpPr>
            <a:spLocks noGrp="1"/>
          </p:cNvSpPr>
          <p:nvPr>
            <p:ph type="body" sz="quarter" idx="12"/>
          </p:nvPr>
        </p:nvSpPr>
        <p:spPr>
          <a:xfrm>
            <a:off x="660400" y="2044700"/>
            <a:ext cx="4275138" cy="3560763"/>
          </a:xfrm>
          <a:prstGeom prst="rect">
            <a:avLst/>
          </a:prstGeom>
        </p:spPr>
        <p:txBody>
          <a:bodyPr/>
          <a:lstStyle>
            <a:lvl1pPr>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1800"/>
            </a:lvl2pPr>
            <a:lvl3pPr>
              <a:buClr>
                <a:schemeClr val="accent4"/>
              </a:buClr>
              <a:buFont typeface="Wingdings" panose="05000000000000000000" pitchFamily="2" charset="2"/>
              <a:buChar char="§"/>
              <a:defRPr sz="1600"/>
            </a:lvl3pPr>
            <a:lvl4pPr>
              <a:buClr>
                <a:schemeClr val="accent4"/>
              </a:buClr>
              <a:buFont typeface="Wingdings" panose="05000000000000000000" pitchFamily="2" charset="2"/>
              <a:buChar char="§"/>
              <a:defRPr sz="1600"/>
            </a:lvl4pPr>
            <a:lvl5pPr>
              <a:buClr>
                <a:schemeClr val="accent4"/>
              </a:buClr>
              <a:buFont typeface="Wingdings" panose="05000000000000000000" pitchFamily="2" charset="2"/>
              <a:buChar char="§"/>
              <a:defRPr sz="1600"/>
            </a:lvl5pPr>
          </a:lstStyle>
          <a:p>
            <a:pPr lvl="0"/>
            <a:r>
              <a:rPr lang="en-US"/>
              <a:t>Click to edit Master text styles</a:t>
            </a:r>
          </a:p>
        </p:txBody>
      </p:sp>
      <p:sp>
        <p:nvSpPr>
          <p:cNvPr id="19" name="Rectangle 18">
            <a:extLst>
              <a:ext uri="{FF2B5EF4-FFF2-40B4-BE49-F238E27FC236}">
                <a16:creationId xmlns:a16="http://schemas.microsoft.com/office/drawing/2014/main" id="{B80624A4-5116-4AAF-8C31-C25D1DB16FEC}"/>
              </a:ext>
            </a:extLst>
          </p:cNvPr>
          <p:cNvSpPr/>
          <p:nvPr userDrawn="1"/>
        </p:nvSpPr>
        <p:spPr>
          <a:xfrm>
            <a:off x="9354457" y="5363987"/>
            <a:ext cx="457200" cy="4572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Rectangle 20">
            <a:extLst>
              <a:ext uri="{FF2B5EF4-FFF2-40B4-BE49-F238E27FC236}">
                <a16:creationId xmlns:a16="http://schemas.microsoft.com/office/drawing/2014/main" id="{1D07EC8A-6024-4DEA-9C4D-AE4228E17854}"/>
              </a:ext>
            </a:extLst>
          </p:cNvPr>
          <p:cNvSpPr/>
          <p:nvPr userDrawn="1"/>
        </p:nvSpPr>
        <p:spPr>
          <a:xfrm>
            <a:off x="6692791" y="1699889"/>
            <a:ext cx="319749" cy="31974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Rectangle 22">
            <a:extLst>
              <a:ext uri="{FF2B5EF4-FFF2-40B4-BE49-F238E27FC236}">
                <a16:creationId xmlns:a16="http://schemas.microsoft.com/office/drawing/2014/main" id="{D1C8FAEF-DF78-48CC-AEEF-F9B802055C05}"/>
              </a:ext>
            </a:extLst>
          </p:cNvPr>
          <p:cNvSpPr/>
          <p:nvPr userDrawn="1"/>
        </p:nvSpPr>
        <p:spPr>
          <a:xfrm>
            <a:off x="9354457" y="5897738"/>
            <a:ext cx="179977" cy="179977"/>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Picture Placeholder 10">
            <a:extLst>
              <a:ext uri="{FF2B5EF4-FFF2-40B4-BE49-F238E27FC236}">
                <a16:creationId xmlns:a16="http://schemas.microsoft.com/office/drawing/2014/main" id="{566F72D6-AEEE-4CF3-8136-F6782F1E489E}"/>
              </a:ext>
            </a:extLst>
          </p:cNvPr>
          <p:cNvSpPr>
            <a:spLocks noGrp="1"/>
          </p:cNvSpPr>
          <p:nvPr>
            <p:ph type="pic" sz="quarter" idx="13"/>
          </p:nvPr>
        </p:nvSpPr>
        <p:spPr>
          <a:xfrm>
            <a:off x="7090227" y="786181"/>
            <a:ext cx="4441372" cy="5393036"/>
          </a:xfrm>
          <a:custGeom>
            <a:avLst/>
            <a:gdLst>
              <a:gd name="connsiteX0" fmla="*/ 0 w 4441372"/>
              <a:gd name="connsiteY0" fmla="*/ 3188969 h 5393036"/>
              <a:gd name="connsiteX1" fmla="*/ 2173516 w 4441372"/>
              <a:gd name="connsiteY1" fmla="*/ 3188969 h 5393036"/>
              <a:gd name="connsiteX2" fmla="*/ 2173516 w 4441372"/>
              <a:gd name="connsiteY2" fmla="*/ 5393036 h 5393036"/>
              <a:gd name="connsiteX3" fmla="*/ 0 w 4441372"/>
              <a:gd name="connsiteY3" fmla="*/ 5393036 h 5393036"/>
              <a:gd name="connsiteX4" fmla="*/ 2267856 w 4441372"/>
              <a:gd name="connsiteY4" fmla="*/ 2293018 h 5393036"/>
              <a:gd name="connsiteX5" fmla="*/ 4441372 w 4441372"/>
              <a:gd name="connsiteY5" fmla="*/ 2293018 h 5393036"/>
              <a:gd name="connsiteX6" fmla="*/ 4441372 w 4441372"/>
              <a:gd name="connsiteY6" fmla="*/ 4497085 h 5393036"/>
              <a:gd name="connsiteX7" fmla="*/ 2267856 w 4441372"/>
              <a:gd name="connsiteY7" fmla="*/ 4497085 h 5393036"/>
              <a:gd name="connsiteX8" fmla="*/ 0 w 4441372"/>
              <a:gd name="connsiteY8" fmla="*/ 906837 h 5393036"/>
              <a:gd name="connsiteX9" fmla="*/ 2173516 w 4441372"/>
              <a:gd name="connsiteY9" fmla="*/ 906837 h 5393036"/>
              <a:gd name="connsiteX10" fmla="*/ 2173516 w 4441372"/>
              <a:gd name="connsiteY10" fmla="*/ 3110904 h 5393036"/>
              <a:gd name="connsiteX11" fmla="*/ 0 w 4441372"/>
              <a:gd name="connsiteY11" fmla="*/ 3110904 h 5393036"/>
              <a:gd name="connsiteX12" fmla="*/ 2267856 w 4441372"/>
              <a:gd name="connsiteY12" fmla="*/ 0 h 5393036"/>
              <a:gd name="connsiteX13" fmla="*/ 4441372 w 4441372"/>
              <a:gd name="connsiteY13" fmla="*/ 0 h 5393036"/>
              <a:gd name="connsiteX14" fmla="*/ 4441372 w 4441372"/>
              <a:gd name="connsiteY14" fmla="*/ 2204067 h 5393036"/>
              <a:gd name="connsiteX15" fmla="*/ 2267856 w 4441372"/>
              <a:gd name="connsiteY15" fmla="*/ 2204067 h 53930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441372" h="5393036">
                <a:moveTo>
                  <a:pt x="0" y="3188969"/>
                </a:moveTo>
                <a:lnTo>
                  <a:pt x="2173516" y="3188969"/>
                </a:lnTo>
                <a:lnTo>
                  <a:pt x="2173516" y="5393036"/>
                </a:lnTo>
                <a:lnTo>
                  <a:pt x="0" y="5393036"/>
                </a:lnTo>
                <a:close/>
                <a:moveTo>
                  <a:pt x="2267856" y="2293018"/>
                </a:moveTo>
                <a:lnTo>
                  <a:pt x="4441372" y="2293018"/>
                </a:lnTo>
                <a:lnTo>
                  <a:pt x="4441372" y="4497085"/>
                </a:lnTo>
                <a:lnTo>
                  <a:pt x="2267856" y="4497085"/>
                </a:lnTo>
                <a:close/>
                <a:moveTo>
                  <a:pt x="0" y="906837"/>
                </a:moveTo>
                <a:lnTo>
                  <a:pt x="2173516" y="906837"/>
                </a:lnTo>
                <a:lnTo>
                  <a:pt x="2173516" y="3110904"/>
                </a:lnTo>
                <a:lnTo>
                  <a:pt x="0" y="3110904"/>
                </a:lnTo>
                <a:close/>
                <a:moveTo>
                  <a:pt x="2267856" y="0"/>
                </a:moveTo>
                <a:lnTo>
                  <a:pt x="4441372" y="0"/>
                </a:lnTo>
                <a:lnTo>
                  <a:pt x="4441372" y="2204067"/>
                </a:lnTo>
                <a:lnTo>
                  <a:pt x="2267856" y="2204067"/>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459DADC7-BE21-4434-A6E4-BAF809005389}"/>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1591254852"/>
      </p:ext>
    </p:extLst>
  </p:cSld>
  <p:clrMapOvr>
    <a:masterClrMapping/>
  </p:clrMapOvr>
  <p:extLst>
    <p:ext uri="{DCECCB84-F9BA-43D5-87BE-67443E8EF086}">
      <p15:sldGuideLst xmlns:p15="http://schemas.microsoft.com/office/powerpoint/2012/main">
        <p15:guide id="1" orient="horz" pos="504">
          <p15:clr>
            <a:srgbClr val="FBAE40"/>
          </p15:clr>
        </p15:guide>
        <p15:guide id="2" pos="3840">
          <p15:clr>
            <a:srgbClr val="FBAE40"/>
          </p15:clr>
        </p15:guide>
        <p15:guide id="3" orient="horz" pos="1416">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Team">
    <p:spTree>
      <p:nvGrpSpPr>
        <p:cNvPr id="1" name=""/>
        <p:cNvGrpSpPr/>
        <p:nvPr/>
      </p:nvGrpSpPr>
      <p:grpSpPr>
        <a:xfrm>
          <a:off x="0" y="0"/>
          <a:ext cx="0" cy="0"/>
          <a:chOff x="0" y="0"/>
          <a:chExt cx="0" cy="0"/>
        </a:xfrm>
      </p:grpSpPr>
      <p:sp>
        <p:nvSpPr>
          <p:cNvPr id="39" name="Picture Placeholder 38">
            <a:extLst>
              <a:ext uri="{FF2B5EF4-FFF2-40B4-BE49-F238E27FC236}">
                <a16:creationId xmlns:a16="http://schemas.microsoft.com/office/drawing/2014/main" id="{CF421413-161E-4B36-B693-FB38DF14EDAB}"/>
              </a:ext>
            </a:extLst>
          </p:cNvPr>
          <p:cNvSpPr>
            <a:spLocks noGrp="1"/>
          </p:cNvSpPr>
          <p:nvPr>
            <p:ph type="pic" sz="quarter" idx="22"/>
          </p:nvPr>
        </p:nvSpPr>
        <p:spPr>
          <a:xfrm>
            <a:off x="5353508"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38" name="Picture Placeholder 37">
            <a:extLst>
              <a:ext uri="{FF2B5EF4-FFF2-40B4-BE49-F238E27FC236}">
                <a16:creationId xmlns:a16="http://schemas.microsoft.com/office/drawing/2014/main" id="{B5D207AE-9C9C-410A-9F31-2402BAD6DDFF}"/>
              </a:ext>
            </a:extLst>
          </p:cNvPr>
          <p:cNvSpPr>
            <a:spLocks noGrp="1"/>
          </p:cNvSpPr>
          <p:nvPr>
            <p:ph type="pic" sz="quarter" idx="21"/>
          </p:nvPr>
        </p:nvSpPr>
        <p:spPr>
          <a:xfrm>
            <a:off x="311592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0" name="Picture Placeholder 39">
            <a:extLst>
              <a:ext uri="{FF2B5EF4-FFF2-40B4-BE49-F238E27FC236}">
                <a16:creationId xmlns:a16="http://schemas.microsoft.com/office/drawing/2014/main" id="{DE3344FC-C4DE-481F-9C31-667EDD563C47}"/>
              </a:ext>
            </a:extLst>
          </p:cNvPr>
          <p:cNvSpPr>
            <a:spLocks noGrp="1"/>
          </p:cNvSpPr>
          <p:nvPr>
            <p:ph type="pic" sz="quarter" idx="23"/>
          </p:nvPr>
        </p:nvSpPr>
        <p:spPr>
          <a:xfrm>
            <a:off x="7602465"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1" name="Picture Placeholder 40">
            <a:extLst>
              <a:ext uri="{FF2B5EF4-FFF2-40B4-BE49-F238E27FC236}">
                <a16:creationId xmlns:a16="http://schemas.microsoft.com/office/drawing/2014/main" id="{59094D7D-3613-49C1-BB58-A65B41A9738D}"/>
              </a:ext>
            </a:extLst>
          </p:cNvPr>
          <p:cNvSpPr>
            <a:spLocks noGrp="1"/>
          </p:cNvSpPr>
          <p:nvPr>
            <p:ph type="pic" sz="quarter" idx="24"/>
          </p:nvPr>
        </p:nvSpPr>
        <p:spPr>
          <a:xfrm>
            <a:off x="984005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8" name="Title 1">
            <a:extLst>
              <a:ext uri="{FF2B5EF4-FFF2-40B4-BE49-F238E27FC236}">
                <a16:creationId xmlns:a16="http://schemas.microsoft.com/office/drawing/2014/main" id="{69FE87B7-32A4-4C7F-9AAF-37688E640456}"/>
              </a:ext>
            </a:extLst>
          </p:cNvPr>
          <p:cNvSpPr>
            <a:spLocks noGrp="1"/>
          </p:cNvSpPr>
          <p:nvPr>
            <p:ph type="title"/>
          </p:nvPr>
        </p:nvSpPr>
        <p:spPr>
          <a:xfrm>
            <a:off x="432000" y="647700"/>
            <a:ext cx="11340000" cy="700114"/>
          </a:xfrm>
          <a:prstGeom prst="rect">
            <a:avLst/>
          </a:prstGeom>
        </p:spPr>
        <p:txBody>
          <a:bodyPr anchor="ctr"/>
          <a:lstStyle/>
          <a:p>
            <a:pPr algn="ctr"/>
            <a:r>
              <a:rPr lang="en-US" sz="4800" b="1">
                <a:solidFill>
                  <a:schemeClr val="tx1"/>
                </a:solidFill>
              </a:rPr>
              <a:t>Click to edit Master title style</a:t>
            </a:r>
            <a:endParaRPr lang="en-US" sz="4800" b="1" dirty="0">
              <a:solidFill>
                <a:schemeClr val="tx1"/>
              </a:solidFill>
            </a:endParaRPr>
          </a:p>
        </p:txBody>
      </p:sp>
      <p:sp>
        <p:nvSpPr>
          <p:cNvPr id="9" name="Hexagon 8">
            <a:extLst>
              <a:ext uri="{FF2B5EF4-FFF2-40B4-BE49-F238E27FC236}">
                <a16:creationId xmlns:a16="http://schemas.microsoft.com/office/drawing/2014/main" id="{476CA45F-A66A-4AD8-A004-10DB55A5D7B2}"/>
              </a:ext>
            </a:extLst>
          </p:cNvPr>
          <p:cNvSpPr/>
          <p:nvPr userDrawn="1"/>
        </p:nvSpPr>
        <p:spPr>
          <a:xfrm>
            <a:off x="546669" y="3467555"/>
            <a:ext cx="458268" cy="395059"/>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Hexagon 9">
            <a:extLst>
              <a:ext uri="{FF2B5EF4-FFF2-40B4-BE49-F238E27FC236}">
                <a16:creationId xmlns:a16="http://schemas.microsoft.com/office/drawing/2014/main" id="{27A66A3D-2437-4015-9F5F-380C4D23D83C}"/>
              </a:ext>
            </a:extLst>
          </p:cNvPr>
          <p:cNvSpPr/>
          <p:nvPr userDrawn="1"/>
        </p:nvSpPr>
        <p:spPr>
          <a:xfrm>
            <a:off x="11113337" y="2394722"/>
            <a:ext cx="358391" cy="308958"/>
          </a:xfrm>
          <a:prstGeom prst="hexagon">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Hexagon 10">
            <a:extLst>
              <a:ext uri="{FF2B5EF4-FFF2-40B4-BE49-F238E27FC236}">
                <a16:creationId xmlns:a16="http://schemas.microsoft.com/office/drawing/2014/main" id="{FFB14F3B-E7EF-4546-8D74-71FFB45C77C0}"/>
              </a:ext>
            </a:extLst>
          </p:cNvPr>
          <p:cNvSpPr/>
          <p:nvPr userDrawn="1"/>
        </p:nvSpPr>
        <p:spPr>
          <a:xfrm>
            <a:off x="10882649" y="2202202"/>
            <a:ext cx="230688" cy="198869"/>
          </a:xfrm>
          <a:prstGeom prst="hexagon">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Text Placeholder 22">
            <a:extLst>
              <a:ext uri="{FF2B5EF4-FFF2-40B4-BE49-F238E27FC236}">
                <a16:creationId xmlns:a16="http://schemas.microsoft.com/office/drawing/2014/main" id="{591F943B-ED0D-49A1-844A-E23BA9A4871B}"/>
              </a:ext>
            </a:extLst>
          </p:cNvPr>
          <p:cNvSpPr>
            <a:spLocks noGrp="1"/>
          </p:cNvSpPr>
          <p:nvPr>
            <p:ph type="body" sz="quarter" idx="10"/>
          </p:nvPr>
        </p:nvSpPr>
        <p:spPr>
          <a:xfrm>
            <a:off x="546668"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4" name="Text Placeholder 22">
            <a:extLst>
              <a:ext uri="{FF2B5EF4-FFF2-40B4-BE49-F238E27FC236}">
                <a16:creationId xmlns:a16="http://schemas.microsoft.com/office/drawing/2014/main" id="{9AC6B9A8-053C-4828-B705-901C6018F30D}"/>
              </a:ext>
            </a:extLst>
          </p:cNvPr>
          <p:cNvSpPr>
            <a:spLocks noGrp="1"/>
          </p:cNvSpPr>
          <p:nvPr>
            <p:ph type="body" sz="quarter" idx="11"/>
          </p:nvPr>
        </p:nvSpPr>
        <p:spPr>
          <a:xfrm>
            <a:off x="556692"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7" name="Text Placeholder 22">
            <a:extLst>
              <a:ext uri="{FF2B5EF4-FFF2-40B4-BE49-F238E27FC236}">
                <a16:creationId xmlns:a16="http://schemas.microsoft.com/office/drawing/2014/main" id="{BBA6FD52-E179-41F8-AE78-9AF3D65F28B6}"/>
              </a:ext>
            </a:extLst>
          </p:cNvPr>
          <p:cNvSpPr>
            <a:spLocks noGrp="1"/>
          </p:cNvSpPr>
          <p:nvPr>
            <p:ph type="body" sz="quarter" idx="12"/>
          </p:nvPr>
        </p:nvSpPr>
        <p:spPr>
          <a:xfrm>
            <a:off x="2789482"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8" name="Text Placeholder 22">
            <a:extLst>
              <a:ext uri="{FF2B5EF4-FFF2-40B4-BE49-F238E27FC236}">
                <a16:creationId xmlns:a16="http://schemas.microsoft.com/office/drawing/2014/main" id="{C49A82AB-D328-4DB0-841B-186884119EBF}"/>
              </a:ext>
            </a:extLst>
          </p:cNvPr>
          <p:cNvSpPr>
            <a:spLocks noGrp="1"/>
          </p:cNvSpPr>
          <p:nvPr>
            <p:ph type="body" sz="quarter" idx="13"/>
          </p:nvPr>
        </p:nvSpPr>
        <p:spPr>
          <a:xfrm>
            <a:off x="278948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9" name="Text Placeholder 22">
            <a:extLst>
              <a:ext uri="{FF2B5EF4-FFF2-40B4-BE49-F238E27FC236}">
                <a16:creationId xmlns:a16="http://schemas.microsoft.com/office/drawing/2014/main" id="{84E23D5D-9866-48F9-8E08-DD2DBE4C4E32}"/>
              </a:ext>
            </a:extLst>
          </p:cNvPr>
          <p:cNvSpPr>
            <a:spLocks noGrp="1"/>
          </p:cNvSpPr>
          <p:nvPr>
            <p:ph type="body" sz="quarter" idx="14"/>
          </p:nvPr>
        </p:nvSpPr>
        <p:spPr>
          <a:xfrm>
            <a:off x="5032296"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0" name="Text Placeholder 22">
            <a:extLst>
              <a:ext uri="{FF2B5EF4-FFF2-40B4-BE49-F238E27FC236}">
                <a16:creationId xmlns:a16="http://schemas.microsoft.com/office/drawing/2014/main" id="{E671C9E6-A1A5-4EE5-8642-94AA7635DB05}"/>
              </a:ext>
            </a:extLst>
          </p:cNvPr>
          <p:cNvSpPr>
            <a:spLocks noGrp="1"/>
          </p:cNvSpPr>
          <p:nvPr>
            <p:ph type="body" sz="quarter" idx="15"/>
          </p:nvPr>
        </p:nvSpPr>
        <p:spPr>
          <a:xfrm>
            <a:off x="502920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1" name="Text Placeholder 22">
            <a:extLst>
              <a:ext uri="{FF2B5EF4-FFF2-40B4-BE49-F238E27FC236}">
                <a16:creationId xmlns:a16="http://schemas.microsoft.com/office/drawing/2014/main" id="{DF6BB5C9-B678-435A-830F-4C10EB1A957C}"/>
              </a:ext>
            </a:extLst>
          </p:cNvPr>
          <p:cNvSpPr>
            <a:spLocks noGrp="1"/>
          </p:cNvSpPr>
          <p:nvPr>
            <p:ph type="body" sz="quarter" idx="16"/>
          </p:nvPr>
        </p:nvSpPr>
        <p:spPr>
          <a:xfrm>
            <a:off x="7275110"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2" name="Text Placeholder 22">
            <a:extLst>
              <a:ext uri="{FF2B5EF4-FFF2-40B4-BE49-F238E27FC236}">
                <a16:creationId xmlns:a16="http://schemas.microsoft.com/office/drawing/2014/main" id="{1861EC87-A9E2-4FC3-B8BC-06C520B8A17F}"/>
              </a:ext>
            </a:extLst>
          </p:cNvPr>
          <p:cNvSpPr>
            <a:spLocks noGrp="1"/>
          </p:cNvSpPr>
          <p:nvPr>
            <p:ph type="body" sz="quarter" idx="17"/>
          </p:nvPr>
        </p:nvSpPr>
        <p:spPr>
          <a:xfrm>
            <a:off x="727511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3" name="Text Placeholder 22">
            <a:extLst>
              <a:ext uri="{FF2B5EF4-FFF2-40B4-BE49-F238E27FC236}">
                <a16:creationId xmlns:a16="http://schemas.microsoft.com/office/drawing/2014/main" id="{FC3EDE91-631F-4947-94DC-557685FD23E0}"/>
              </a:ext>
            </a:extLst>
          </p:cNvPr>
          <p:cNvSpPr>
            <a:spLocks noGrp="1"/>
          </p:cNvSpPr>
          <p:nvPr>
            <p:ph type="body" sz="quarter" idx="18"/>
          </p:nvPr>
        </p:nvSpPr>
        <p:spPr>
          <a:xfrm>
            <a:off x="9517923"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4" name="Text Placeholder 22">
            <a:extLst>
              <a:ext uri="{FF2B5EF4-FFF2-40B4-BE49-F238E27FC236}">
                <a16:creationId xmlns:a16="http://schemas.microsoft.com/office/drawing/2014/main" id="{8FDDBEF4-1329-49DF-B043-D51B34F5EE34}"/>
              </a:ext>
            </a:extLst>
          </p:cNvPr>
          <p:cNvSpPr>
            <a:spLocks noGrp="1"/>
          </p:cNvSpPr>
          <p:nvPr>
            <p:ph type="body" sz="quarter" idx="19"/>
          </p:nvPr>
        </p:nvSpPr>
        <p:spPr>
          <a:xfrm>
            <a:off x="951792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7" name="Picture Placeholder 36">
            <a:extLst>
              <a:ext uri="{FF2B5EF4-FFF2-40B4-BE49-F238E27FC236}">
                <a16:creationId xmlns:a16="http://schemas.microsoft.com/office/drawing/2014/main" id="{FBDB3FD3-4F52-4E28-B639-5F73070E47D9}"/>
              </a:ext>
            </a:extLst>
          </p:cNvPr>
          <p:cNvSpPr>
            <a:spLocks noGrp="1"/>
          </p:cNvSpPr>
          <p:nvPr>
            <p:ph type="pic" sz="quarter" idx="20"/>
          </p:nvPr>
        </p:nvSpPr>
        <p:spPr>
          <a:xfrm>
            <a:off x="878337"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Tree>
    <p:extLst>
      <p:ext uri="{BB962C8B-B14F-4D97-AF65-F5344CB8AC3E}">
        <p14:creationId xmlns:p14="http://schemas.microsoft.com/office/powerpoint/2010/main" val="1795884839"/>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preserve="1" userDrawn="1">
  <p:cSld name="1_Custom Layout">
    <p:bg>
      <p:bgPr>
        <a:solidFill>
          <a:schemeClr val="tx1"/>
        </a:solidFill>
        <a:effectLst/>
      </p:bgPr>
    </p:bg>
    <p:spTree>
      <p:nvGrpSpPr>
        <p:cNvPr id="1" name=""/>
        <p:cNvGrpSpPr/>
        <p:nvPr/>
      </p:nvGrpSpPr>
      <p:grpSpPr>
        <a:xfrm>
          <a:off x="0" y="0"/>
          <a:ext cx="0" cy="0"/>
          <a:chOff x="0" y="0"/>
          <a:chExt cx="0" cy="0"/>
        </a:xfrm>
      </p:grpSpPr>
      <p:sp>
        <p:nvSpPr>
          <p:cNvPr id="22" name="Picture Placeholder 21">
            <a:extLst>
              <a:ext uri="{FF2B5EF4-FFF2-40B4-BE49-F238E27FC236}">
                <a16:creationId xmlns:a16="http://schemas.microsoft.com/office/drawing/2014/main" id="{DFA57703-9E4A-48E0-A123-3A5EDC76475C}"/>
              </a:ext>
            </a:extLst>
          </p:cNvPr>
          <p:cNvSpPr>
            <a:spLocks noGrp="1"/>
          </p:cNvSpPr>
          <p:nvPr>
            <p:ph type="pic" sz="quarter" idx="10"/>
          </p:nvPr>
        </p:nvSpPr>
        <p:spPr>
          <a:xfrm>
            <a:off x="0" y="0"/>
            <a:ext cx="12192000" cy="6858000"/>
          </a:xfrm>
          <a:prstGeom prst="rect">
            <a:avLst/>
          </a:prstGeom>
        </p:spPr>
        <p:txBody>
          <a:bodyPr/>
          <a:lstStyle/>
          <a:p>
            <a:r>
              <a:rPr lang="en-US"/>
              <a:t>Click icon to add picture</a:t>
            </a:r>
            <a:endParaRPr lang="en-US" dirty="0"/>
          </a:p>
        </p:txBody>
      </p:sp>
      <p:sp>
        <p:nvSpPr>
          <p:cNvPr id="2" name="Rectangle 1" descr="Tall office building looking up">
            <a:extLst>
              <a:ext uri="{FF2B5EF4-FFF2-40B4-BE49-F238E27FC236}">
                <a16:creationId xmlns:a16="http://schemas.microsoft.com/office/drawing/2014/main" id="{AF7FA146-2A75-4EA7-A9AD-EBCE6F17FB42}"/>
              </a:ext>
            </a:extLst>
          </p:cNvPr>
          <p:cNvSpPr/>
          <p:nvPr userDrawn="1"/>
        </p:nvSpPr>
        <p:spPr>
          <a:xfrm>
            <a:off x="3718560" y="1181123"/>
            <a:ext cx="4754880" cy="4495754"/>
          </a:xfrm>
          <a:prstGeom prst="rect">
            <a:avLst/>
          </a:prstGeom>
          <a:solidFill>
            <a:schemeClr val="accent5">
              <a:alpha val="40000"/>
            </a:schemeClr>
          </a:solidFill>
          <a:ln w="603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Text Placeholder 23">
            <a:extLst>
              <a:ext uri="{FF2B5EF4-FFF2-40B4-BE49-F238E27FC236}">
                <a16:creationId xmlns:a16="http://schemas.microsoft.com/office/drawing/2014/main" id="{340C15AA-E296-48AE-857F-0589EEA69DC6}"/>
              </a:ext>
            </a:extLst>
          </p:cNvPr>
          <p:cNvSpPr>
            <a:spLocks noGrp="1"/>
          </p:cNvSpPr>
          <p:nvPr>
            <p:ph type="body" sz="quarter" idx="11" hasCustomPrompt="1"/>
          </p:nvPr>
        </p:nvSpPr>
        <p:spPr>
          <a:xfrm>
            <a:off x="4149139" y="4859469"/>
            <a:ext cx="3924934" cy="490538"/>
          </a:xfrm>
          <a:prstGeom prst="rect">
            <a:avLst/>
          </a:prstGeom>
        </p:spPr>
        <p:txBody>
          <a:bodyPr/>
          <a:lstStyle>
            <a:lvl1pPr algn="r">
              <a:buNone/>
              <a:defRPr lang="en-US" sz="2400" b="1" kern="1200" dirty="0" smtClean="0">
                <a:solidFill>
                  <a:schemeClr val="accent4"/>
                </a:solidFill>
                <a:latin typeface="Calibri" panose="020F0502020204030204" pitchFamily="34" charset="0"/>
                <a:ea typeface="+mn-ea"/>
                <a:cs typeface="Calibri" panose="020F0502020204030204" pitchFamily="34" charset="0"/>
              </a:defRPr>
            </a:lvl1pPr>
            <a:lvl2pPr>
              <a:buNone/>
              <a:defRPr/>
            </a:lvl2pPr>
          </a:lstStyle>
          <a:p>
            <a:pPr lvl="0"/>
            <a:r>
              <a:rPr lang="en-US" dirty="0"/>
              <a:t>Click to edit text</a:t>
            </a:r>
          </a:p>
        </p:txBody>
      </p:sp>
      <p:sp>
        <p:nvSpPr>
          <p:cNvPr id="6" name="Title 1">
            <a:extLst>
              <a:ext uri="{FF2B5EF4-FFF2-40B4-BE49-F238E27FC236}">
                <a16:creationId xmlns:a16="http://schemas.microsoft.com/office/drawing/2014/main" id="{162BE5D7-9E35-49F8-A8E4-2093183A6404}"/>
              </a:ext>
            </a:extLst>
          </p:cNvPr>
          <p:cNvSpPr>
            <a:spLocks noGrp="1"/>
          </p:cNvSpPr>
          <p:nvPr>
            <p:ph type="title"/>
          </p:nvPr>
        </p:nvSpPr>
        <p:spPr>
          <a:xfrm>
            <a:off x="4149139" y="1529685"/>
            <a:ext cx="3924934" cy="1695637"/>
          </a:xfrm>
          <a:prstGeom prst="rect">
            <a:avLst/>
          </a:prstGeom>
        </p:spPr>
        <p:txBody>
          <a:bodyPr/>
          <a:lstStyle>
            <a:lvl1pPr>
              <a:spcBef>
                <a:spcPts val="1000"/>
              </a:spcBef>
              <a:defRPr sz="4800" b="1">
                <a:solidFill>
                  <a:schemeClr val="bg1"/>
                </a:solidFill>
              </a:defRPr>
            </a:lvl1pPr>
          </a:lstStyle>
          <a:p>
            <a:r>
              <a:rPr lang="en-US"/>
              <a:t>Click to edit Master title style</a:t>
            </a:r>
            <a:endParaRPr lang="en-US" dirty="0"/>
          </a:p>
        </p:txBody>
      </p:sp>
    </p:spTree>
    <p:extLst>
      <p:ext uri="{BB962C8B-B14F-4D97-AF65-F5344CB8AC3E}">
        <p14:creationId xmlns:p14="http://schemas.microsoft.com/office/powerpoint/2010/main" val="31439956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theme" Target="../theme/theme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44" name="Group 43"/>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a:off x="0" y="4013200"/>
              <a:ext cx="448733" cy="2844800"/>
            </a:xfrm>
            <a:prstGeom prst="triangle">
              <a:avLst>
                <a:gd name="adj" fmla="val 0"/>
              </a:avLst>
            </a:pr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smtClean="0"/>
              <a:pPr/>
              <a:t>9/4/2026</a:t>
            </a:fld>
            <a:endParaRPr lang="en-US" dirty="0"/>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D57F1E4F-1CFF-5643-939E-217C01CDF565}" type="slidenum">
              <a:rPr lang="en-US" smtClean="0"/>
              <a:pPr/>
              <a:t>‹#›</a:t>
            </a:fld>
            <a:endParaRPr lang="en-US" dirty="0"/>
          </a:p>
        </p:txBody>
      </p:sp>
      <p:sp>
        <p:nvSpPr>
          <p:cNvPr id="18" name="Date Placeholder 3">
            <a:extLst>
              <a:ext uri="{FF2B5EF4-FFF2-40B4-BE49-F238E27FC236}">
                <a16:creationId xmlns:a16="http://schemas.microsoft.com/office/drawing/2014/main" id="{2CD6B789-4B66-4BD0-9623-80E9542A65FE}"/>
              </a:ext>
            </a:extLst>
          </p:cNvPr>
          <p:cNvSpPr txBox="1">
            <a:spLocks/>
          </p:cNvSpPr>
          <p:nvPr userDrawn="1"/>
        </p:nvSpPr>
        <p:spPr>
          <a:xfrm>
            <a:off x="660396"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57BD5F78-1C10-49D6-8616-C9F20406C112}" type="datetime1">
              <a:rPr lang="en-US" sz="1100" smtClean="0">
                <a:solidFill>
                  <a:schemeClr val="accent2"/>
                </a:solidFill>
              </a:rPr>
              <a:pPr/>
              <a:t>9/4/2026</a:t>
            </a:fld>
            <a:endParaRPr lang="en-US" sz="1100" dirty="0">
              <a:solidFill>
                <a:schemeClr val="accent2"/>
              </a:solidFill>
            </a:endParaRPr>
          </a:p>
        </p:txBody>
      </p:sp>
      <p:sp>
        <p:nvSpPr>
          <p:cNvPr id="29" name="Footer Placeholder 4">
            <a:extLst>
              <a:ext uri="{FF2B5EF4-FFF2-40B4-BE49-F238E27FC236}">
                <a16:creationId xmlns:a16="http://schemas.microsoft.com/office/drawing/2014/main" id="{A3BB5234-44A4-4506-BD19-5808475EBB7F}"/>
              </a:ext>
            </a:extLst>
          </p:cNvPr>
          <p:cNvSpPr txBox="1">
            <a:spLocks/>
          </p:cNvSpPr>
          <p:nvPr userDrawn="1"/>
        </p:nvSpPr>
        <p:spPr>
          <a:xfrm>
            <a:off x="1445526" y="6378906"/>
            <a:ext cx="41148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sz="1100" b="1" dirty="0">
                <a:solidFill>
                  <a:schemeClr val="accent2"/>
                </a:solidFill>
              </a:rPr>
              <a:t>Annual Review</a:t>
            </a:r>
          </a:p>
        </p:txBody>
      </p:sp>
      <p:sp>
        <p:nvSpPr>
          <p:cNvPr id="30" name="Slide Number Placeholder 5">
            <a:extLst>
              <a:ext uri="{FF2B5EF4-FFF2-40B4-BE49-F238E27FC236}">
                <a16:creationId xmlns:a16="http://schemas.microsoft.com/office/drawing/2014/main" id="{68D89618-7EE9-46BF-BEAC-45E6F98ACA1A}"/>
              </a:ext>
            </a:extLst>
          </p:cNvPr>
          <p:cNvSpPr txBox="1">
            <a:spLocks/>
          </p:cNvSpPr>
          <p:nvPr userDrawn="1"/>
        </p:nvSpPr>
        <p:spPr>
          <a:xfrm>
            <a:off x="8805338"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2C18C1E5-FB55-42F5-BD6D-9CC153FCDBE6}" type="slidenum">
              <a:rPr lang="en-US" sz="1100" smtClean="0">
                <a:solidFill>
                  <a:schemeClr val="accent4"/>
                </a:solidFill>
              </a:rPr>
              <a:pPr algn="r"/>
              <a:t>‹#›</a:t>
            </a:fld>
            <a:endParaRPr lang="en-US" sz="1100" dirty="0">
              <a:solidFill>
                <a:schemeClr val="accent4"/>
              </a:solidFill>
            </a:endParaRPr>
          </a:p>
        </p:txBody>
      </p:sp>
    </p:spTree>
    <p:extLst>
      <p:ext uri="{BB962C8B-B14F-4D97-AF65-F5344CB8AC3E}">
        <p14:creationId xmlns:p14="http://schemas.microsoft.com/office/powerpoint/2010/main" val="3064259027"/>
      </p:ext>
    </p:extLst>
  </p:cSld>
  <p:clrMap bg1="lt1" tx1="dk1" bg2="lt2" tx2="dk2" accent1="accent1" accent2="accent2" accent3="accent3" accent4="accent4" accent5="accent5" accent6="accent6" hlink="hlink" folHlink="folHlink"/>
  <p:sldLayoutIdLst>
    <p:sldLayoutId id="2147483748" r:id="rId1"/>
    <p:sldLayoutId id="2147483749" r:id="rId2"/>
    <p:sldLayoutId id="2147483750" r:id="rId3"/>
    <p:sldLayoutId id="2147483751" r:id="rId4"/>
    <p:sldLayoutId id="2147483752" r:id="rId5"/>
    <p:sldLayoutId id="2147483753" r:id="rId6"/>
    <p:sldLayoutId id="2147483754" r:id="rId7"/>
    <p:sldLayoutId id="2147483755" r:id="rId8"/>
    <p:sldLayoutId id="2147483756" r:id="rId9"/>
    <p:sldLayoutId id="2147483757" r:id="rId10"/>
    <p:sldLayoutId id="2147483758" r:id="rId11"/>
    <p:sldLayoutId id="2147483759" r:id="rId12"/>
    <p:sldLayoutId id="2147483760" r:id="rId13"/>
    <p:sldLayoutId id="2147483761" r:id="rId14"/>
    <p:sldLayoutId id="2147483762" r:id="rId15"/>
    <p:sldLayoutId id="2147483763" r:id="rId16"/>
    <p:sldLayoutId id="2147483764" r:id="rId17"/>
    <p:sldLayoutId id="2147483766" r:id="rId18"/>
    <p:sldLayoutId id="2147483769" r:id="rId19"/>
    <p:sldLayoutId id="2147483690" r:id="rId20"/>
  </p:sldLayoutIdLst>
  <p:hf hdr="0" ftr="0" dt="0"/>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7.xml"/></Relationships>
</file>

<file path=ppt/slides/_rels/slide2.xml.rels><?xml version="1.0" encoding="UTF-8" standalone="yes"?>
<Relationships xmlns="http://schemas.openxmlformats.org/package/2006/relationships"><Relationship Id="rId3" Type="http://schemas.openxmlformats.org/officeDocument/2006/relationships/image" Target="../media/image1.jfif"/><Relationship Id="rId2" Type="http://schemas.openxmlformats.org/officeDocument/2006/relationships/image" Target="../media/image2.png"/><Relationship Id="rId1" Type="http://schemas.openxmlformats.org/officeDocument/2006/relationships/slideLayout" Target="../slideLayouts/slideLayout18.xml"/></Relationships>
</file>

<file path=ppt/slides/_rels/slide3.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8.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8.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18.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jfif"/><Relationship Id="rId1" Type="http://schemas.openxmlformats.org/officeDocument/2006/relationships/slideLayout" Target="../slideLayouts/slideLayout18.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jfif"/><Relationship Id="rId1" Type="http://schemas.openxmlformats.org/officeDocument/2006/relationships/slideLayout" Target="../slideLayouts/slideLayout18.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jfif"/><Relationship Id="rId1" Type="http://schemas.openxmlformats.org/officeDocument/2006/relationships/slideLayout" Target="../slideLayouts/slideLayout18.xml"/></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jfif"/><Relationship Id="rId1" Type="http://schemas.openxmlformats.org/officeDocument/2006/relationships/slideLayout" Target="../slideLayouts/slideLayout18.xml"/><Relationship Id="rId4" Type="http://schemas.openxmlformats.org/officeDocument/2006/relationships/image" Target="../media/image9.png"/></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jfif"/><Relationship Id="rId1" Type="http://schemas.openxmlformats.org/officeDocument/2006/relationships/slideLayout" Target="../slideLayouts/slideLayout18.xml"/></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jfif"/><Relationship Id="rId1" Type="http://schemas.openxmlformats.org/officeDocument/2006/relationships/slideLayout" Target="../slideLayouts/slideLayout18.xml"/></Relationships>
</file>

<file path=ppt/slides/_rels/slide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jfif"/><Relationship Id="rId1" Type="http://schemas.openxmlformats.org/officeDocument/2006/relationships/slideLayout" Target="../slideLayouts/slideLayout18.xml"/></Relationships>
</file>

<file path=ppt/slides/_rels/slide1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jfif"/><Relationship Id="rId1" Type="http://schemas.openxmlformats.org/officeDocument/2006/relationships/slideLayout" Target="../slideLayouts/slideLayout18.xml"/></Relationships>
</file>

<file path=ppt/slides/_rels/slide1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jfif"/><Relationship Id="rId1" Type="http://schemas.openxmlformats.org/officeDocument/2006/relationships/slideLayout" Target="../slideLayouts/slideLayout18.xml"/><Relationship Id="rId4" Type="http://schemas.openxmlformats.org/officeDocument/2006/relationships/image" Target="../media/image15.png"/></Relationships>
</file>

<file path=ppt/slides/_rels/slide1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jfif"/><Relationship Id="rId1" Type="http://schemas.openxmlformats.org/officeDocument/2006/relationships/slideLayout" Target="../slideLayouts/slideLayout18.xml"/></Relationships>
</file>

<file path=ppt/slides/_rels/slide16.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jfif"/><Relationship Id="rId1" Type="http://schemas.openxmlformats.org/officeDocument/2006/relationships/slideLayout" Target="../slideLayouts/slideLayout18.xml"/></Relationships>
</file>

<file path=ppt/slides/_rels/slide17.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8.xml"/></Relationships>
</file>

<file path=ppt/slides/_rels/slide18.xml.rels><?xml version="1.0" encoding="UTF-8" standalone="yes"?>
<Relationships xmlns="http://schemas.openxmlformats.org/package/2006/relationships"><Relationship Id="rId3" Type="http://schemas.openxmlformats.org/officeDocument/2006/relationships/hyperlink" Target="https://github.com/LambatePrathamesh/Seasonal-Agriculture-Performance-Analysis.git" TargetMode="External"/><Relationship Id="rId2" Type="http://schemas.openxmlformats.org/officeDocument/2006/relationships/image" Target="../media/image1.jfif"/><Relationship Id="rId1" Type="http://schemas.openxmlformats.org/officeDocument/2006/relationships/slideLayout" Target="../slideLayouts/slideLayout18.xml"/></Relationships>
</file>

<file path=ppt/slides/_rels/slide19.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jfif"/><Relationship Id="rId1" Type="http://schemas.openxmlformats.org/officeDocument/2006/relationships/slideLayout" Target="../slideLayouts/slideLayout18.xml"/></Relationships>
</file>

<file path=ppt/slides/_rels/slide20.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7201737A-B873-4D1D-8A41-5ABF5184BC8F}"/>
              </a:ext>
            </a:extLst>
          </p:cNvPr>
          <p:cNvSpPr>
            <a:spLocks noGrp="1"/>
          </p:cNvSpPr>
          <p:nvPr>
            <p:ph type="body" sz="quarter" idx="11"/>
          </p:nvPr>
        </p:nvSpPr>
        <p:spPr>
          <a:xfrm>
            <a:off x="1093515" y="3368755"/>
            <a:ext cx="10004967" cy="1083336"/>
          </a:xfrm>
        </p:spPr>
        <p:txBody>
          <a:bodyPr vert="horz" lIns="91440" tIns="45720" rIns="91440" bIns="45720" rtlCol="0" anchor="t">
            <a:noAutofit/>
          </a:bodyPr>
          <a:lstStyle/>
          <a:p>
            <a:r>
              <a:rPr lang="en-US" sz="2800" u="sng" dirty="0">
                <a:solidFill>
                  <a:schemeClr val="tx1"/>
                </a:solidFill>
                <a:latin typeface="Times New Roman" panose="02020603050405020304" pitchFamily="18" charset="0"/>
                <a:cs typeface="Times New Roman" panose="02020603050405020304" pitchFamily="18" charset="0"/>
              </a:rPr>
              <a:t>Student Name</a:t>
            </a:r>
            <a:r>
              <a:rPr lang="en-US" sz="2800" dirty="0">
                <a:solidFill>
                  <a:schemeClr val="tx1"/>
                </a:solidFill>
                <a:latin typeface="Times New Roman" panose="02020603050405020304" pitchFamily="18" charset="0"/>
                <a:cs typeface="Times New Roman" panose="02020603050405020304" pitchFamily="18" charset="0"/>
              </a:rPr>
              <a:t> – PRATHAMESH SANJAY LAMBATE</a:t>
            </a:r>
            <a:endParaRPr lang="en-IN" sz="2800" dirty="0">
              <a:solidFill>
                <a:schemeClr val="tx1"/>
              </a:solidFill>
              <a:latin typeface="Times New Roman" panose="02020603050405020304" pitchFamily="18" charset="0"/>
              <a:cs typeface="Times New Roman" panose="02020603050405020304" pitchFamily="18" charset="0"/>
            </a:endParaRPr>
          </a:p>
          <a:p>
            <a:r>
              <a:rPr lang="en-US" sz="2800" u="sng" dirty="0">
                <a:solidFill>
                  <a:schemeClr val="tx1"/>
                </a:solidFill>
                <a:latin typeface="Times New Roman" panose="02020603050405020304" pitchFamily="18" charset="0"/>
                <a:cs typeface="Times New Roman" panose="02020603050405020304" pitchFamily="18" charset="0"/>
              </a:rPr>
              <a:t>College Name</a:t>
            </a:r>
            <a:r>
              <a:rPr lang="en-US" sz="2800" dirty="0">
                <a:solidFill>
                  <a:schemeClr val="tx1"/>
                </a:solidFill>
                <a:latin typeface="Times New Roman" panose="02020603050405020304" pitchFamily="18" charset="0"/>
                <a:cs typeface="Times New Roman" panose="02020603050405020304" pitchFamily="18" charset="0"/>
              </a:rPr>
              <a:t> – A. P. SHAH </a:t>
            </a:r>
            <a:r>
              <a:rPr lang="en-IN" sz="2800" dirty="0">
                <a:solidFill>
                  <a:schemeClr val="tx1"/>
                </a:solidFill>
                <a:latin typeface="Times New Roman" panose="02020603050405020304" pitchFamily="18" charset="0"/>
                <a:cs typeface="Times New Roman" panose="02020603050405020304" pitchFamily="18" charset="0"/>
              </a:rPr>
              <a:t>INSTITUTE OF TECHNOLOGY</a:t>
            </a:r>
          </a:p>
        </p:txBody>
      </p:sp>
      <p:sp>
        <p:nvSpPr>
          <p:cNvPr id="4" name="Title 3">
            <a:extLst>
              <a:ext uri="{FF2B5EF4-FFF2-40B4-BE49-F238E27FC236}">
                <a16:creationId xmlns:a16="http://schemas.microsoft.com/office/drawing/2014/main" id="{92056599-CDAA-4367-BEF8-31D6E32518C8}"/>
              </a:ext>
            </a:extLst>
          </p:cNvPr>
          <p:cNvSpPr>
            <a:spLocks noGrp="1"/>
          </p:cNvSpPr>
          <p:nvPr>
            <p:ph type="title"/>
          </p:nvPr>
        </p:nvSpPr>
        <p:spPr>
          <a:xfrm>
            <a:off x="574403" y="193040"/>
            <a:ext cx="11043193" cy="1155887"/>
          </a:xfrm>
        </p:spPr>
        <p:txBody>
          <a:bodyPr>
            <a:noAutofit/>
          </a:bodyPr>
          <a:lstStyle/>
          <a:p>
            <a:r>
              <a:rPr lang="en-GB" sz="3000" b="1" u="sng" dirty="0">
                <a:latin typeface="Times New Roman" panose="02020603050405020304" pitchFamily="18" charset="0"/>
                <a:cs typeface="Times New Roman" panose="02020603050405020304" pitchFamily="18" charset="0"/>
              </a:rPr>
              <a:t>Project Title</a:t>
            </a:r>
            <a:r>
              <a:rPr lang="en-GB" sz="3000" b="1" dirty="0">
                <a:latin typeface="Times New Roman" panose="02020603050405020304" pitchFamily="18" charset="0"/>
                <a:cs typeface="Times New Roman" panose="02020603050405020304" pitchFamily="18" charset="0"/>
              </a:rPr>
              <a:t> - </a:t>
            </a:r>
            <a:r>
              <a:rPr lang="en-IN" sz="3000" b="1" dirty="0">
                <a:latin typeface="Times New Roman" panose="02020603050405020304" pitchFamily="18" charset="0"/>
                <a:cs typeface="Times New Roman" panose="02020603050405020304" pitchFamily="18" charset="0"/>
              </a:rPr>
              <a:t>SEASONAL AGRICULTURE PERFORMANCE 						 ANALYSIS</a:t>
            </a:r>
            <a:br>
              <a:rPr lang="en-IN" sz="3000" dirty="0">
                <a:latin typeface="Times New Roman" panose="02020603050405020304" pitchFamily="18" charset="0"/>
                <a:cs typeface="Times New Roman" panose="02020603050405020304" pitchFamily="18" charset="0"/>
              </a:rPr>
            </a:br>
            <a:endParaRPr lang="en-IN" sz="3000" b="1" dirty="0">
              <a:latin typeface="Times New Roman" panose="02020603050405020304" pitchFamily="18" charset="0"/>
              <a:cs typeface="Times New Roman" panose="02020603050405020304" pitchFamily="18" charset="0"/>
            </a:endParaRPr>
          </a:p>
        </p:txBody>
      </p:sp>
      <p:pic>
        <p:nvPicPr>
          <p:cNvPr id="6" name="Picture 5">
            <a:extLst>
              <a:ext uri="{FF2B5EF4-FFF2-40B4-BE49-F238E27FC236}">
                <a16:creationId xmlns:a16="http://schemas.microsoft.com/office/drawing/2014/main" id="{E30DEFF0-8DEE-4B0B-9B30-675FE9E288A2}"/>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3" name="TextBox 2">
            <a:extLst>
              <a:ext uri="{FF2B5EF4-FFF2-40B4-BE49-F238E27FC236}">
                <a16:creationId xmlns:a16="http://schemas.microsoft.com/office/drawing/2014/main" id="{17F04107-8754-E47D-3375-529E689711FA}"/>
              </a:ext>
            </a:extLst>
          </p:cNvPr>
          <p:cNvSpPr txBox="1"/>
          <p:nvPr/>
        </p:nvSpPr>
        <p:spPr>
          <a:xfrm>
            <a:off x="5201161" y="5824257"/>
            <a:ext cx="6990839" cy="461665"/>
          </a:xfrm>
          <a:prstGeom prst="rect">
            <a:avLst/>
          </a:prstGeom>
          <a:noFill/>
        </p:spPr>
        <p:txBody>
          <a:bodyPr wrap="square" rtlCol="0">
            <a:spAutoFit/>
          </a:bodyPr>
          <a:lstStyle/>
          <a:p>
            <a:r>
              <a:rPr lang="en-US" sz="2400" b="1" u="sng" dirty="0">
                <a:latin typeface="Times New Roman" panose="02020603050405020304" pitchFamily="18" charset="0"/>
                <a:cs typeface="Times New Roman" panose="02020603050405020304" pitchFamily="18" charset="0"/>
              </a:rPr>
              <a:t>AICTE STU ID</a:t>
            </a:r>
            <a:r>
              <a:rPr lang="en-US" sz="2400" b="1" dirty="0">
                <a:latin typeface="Times New Roman" panose="02020603050405020304" pitchFamily="18" charset="0"/>
                <a:cs typeface="Times New Roman" panose="02020603050405020304" pitchFamily="18" charset="0"/>
              </a:rPr>
              <a:t> : STU6130856d7f3251630569837</a:t>
            </a:r>
          </a:p>
        </p:txBody>
      </p:sp>
    </p:spTree>
    <p:extLst>
      <p:ext uri="{BB962C8B-B14F-4D97-AF65-F5344CB8AC3E}">
        <p14:creationId xmlns:p14="http://schemas.microsoft.com/office/powerpoint/2010/main" val="16040134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580">
                                          <p:stCondLst>
                                            <p:cond delay="0"/>
                                          </p:stCondLst>
                                        </p:cTn>
                                        <p:tgtEl>
                                          <p:spTgt spid="4"/>
                                        </p:tgtEl>
                                      </p:cBhvr>
                                    </p:animEffect>
                                    <p:anim calcmode="lin" valueType="num">
                                      <p:cBhvr>
                                        <p:cTn id="8" dur="1822" tmFilter="0,0; 0.14,0.36; 0.43,0.73; 0.71,0.91; 1.0,1.0">
                                          <p:stCondLst>
                                            <p:cond delay="0"/>
                                          </p:stCondLst>
                                        </p:cTn>
                                        <p:tgtEl>
                                          <p:spTgt spid="4"/>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4"/>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4"/>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4"/>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4"/>
                                        </p:tgtEl>
                                        <p:attrNameLst>
                                          <p:attrName>ppt_y</p:attrName>
                                        </p:attrNameLst>
                                      </p:cBhvr>
                                      <p:tavLst>
                                        <p:tav tm="0" fmla="#ppt_y-sin(pi*$)/81">
                                          <p:val>
                                            <p:fltVal val="0"/>
                                          </p:val>
                                        </p:tav>
                                        <p:tav tm="100000">
                                          <p:val>
                                            <p:fltVal val="1"/>
                                          </p:val>
                                        </p:tav>
                                      </p:tavLst>
                                    </p:anim>
                                    <p:animScale>
                                      <p:cBhvr>
                                        <p:cTn id="13" dur="26">
                                          <p:stCondLst>
                                            <p:cond delay="650"/>
                                          </p:stCondLst>
                                        </p:cTn>
                                        <p:tgtEl>
                                          <p:spTgt spid="4"/>
                                        </p:tgtEl>
                                      </p:cBhvr>
                                      <p:to x="100000" y="60000"/>
                                    </p:animScale>
                                    <p:animScale>
                                      <p:cBhvr>
                                        <p:cTn id="14" dur="166" decel="50000">
                                          <p:stCondLst>
                                            <p:cond delay="676"/>
                                          </p:stCondLst>
                                        </p:cTn>
                                        <p:tgtEl>
                                          <p:spTgt spid="4"/>
                                        </p:tgtEl>
                                      </p:cBhvr>
                                      <p:to x="100000" y="100000"/>
                                    </p:animScale>
                                    <p:animScale>
                                      <p:cBhvr>
                                        <p:cTn id="15" dur="26">
                                          <p:stCondLst>
                                            <p:cond delay="1312"/>
                                          </p:stCondLst>
                                        </p:cTn>
                                        <p:tgtEl>
                                          <p:spTgt spid="4"/>
                                        </p:tgtEl>
                                      </p:cBhvr>
                                      <p:to x="100000" y="80000"/>
                                    </p:animScale>
                                    <p:animScale>
                                      <p:cBhvr>
                                        <p:cTn id="16" dur="166" decel="50000">
                                          <p:stCondLst>
                                            <p:cond delay="1338"/>
                                          </p:stCondLst>
                                        </p:cTn>
                                        <p:tgtEl>
                                          <p:spTgt spid="4"/>
                                        </p:tgtEl>
                                      </p:cBhvr>
                                      <p:to x="100000" y="100000"/>
                                    </p:animScale>
                                    <p:animScale>
                                      <p:cBhvr>
                                        <p:cTn id="17" dur="26">
                                          <p:stCondLst>
                                            <p:cond delay="1642"/>
                                          </p:stCondLst>
                                        </p:cTn>
                                        <p:tgtEl>
                                          <p:spTgt spid="4"/>
                                        </p:tgtEl>
                                      </p:cBhvr>
                                      <p:to x="100000" y="90000"/>
                                    </p:animScale>
                                    <p:animScale>
                                      <p:cBhvr>
                                        <p:cTn id="18" dur="166" decel="50000">
                                          <p:stCondLst>
                                            <p:cond delay="1668"/>
                                          </p:stCondLst>
                                        </p:cTn>
                                        <p:tgtEl>
                                          <p:spTgt spid="4"/>
                                        </p:tgtEl>
                                      </p:cBhvr>
                                      <p:to x="100000" y="100000"/>
                                    </p:animScale>
                                    <p:animScale>
                                      <p:cBhvr>
                                        <p:cTn id="19" dur="26">
                                          <p:stCondLst>
                                            <p:cond delay="1808"/>
                                          </p:stCondLst>
                                        </p:cTn>
                                        <p:tgtEl>
                                          <p:spTgt spid="4"/>
                                        </p:tgtEl>
                                      </p:cBhvr>
                                      <p:to x="100000" y="95000"/>
                                    </p:animScale>
                                    <p:animScale>
                                      <p:cBhvr>
                                        <p:cTn id="20" dur="166" decel="50000">
                                          <p:stCondLst>
                                            <p:cond delay="1834"/>
                                          </p:stCondLst>
                                        </p:cTn>
                                        <p:tgtEl>
                                          <p:spTgt spid="4"/>
                                        </p:tgtEl>
                                      </p:cBhvr>
                                      <p:to x="100000" y="100000"/>
                                    </p:animScale>
                                  </p:childTnLst>
                                </p:cTn>
                              </p:par>
                            </p:childTnLst>
                          </p:cTn>
                        </p:par>
                      </p:childTnLst>
                    </p:cTn>
                  </p:par>
                  <p:par>
                    <p:cTn id="21" fill="hold">
                      <p:stCondLst>
                        <p:cond delay="indefinite"/>
                      </p:stCondLst>
                      <p:childTnLst>
                        <p:par>
                          <p:cTn id="22" fill="hold">
                            <p:stCondLst>
                              <p:cond delay="0"/>
                            </p:stCondLst>
                            <p:childTnLst>
                              <p:par>
                                <p:cTn id="23" presetID="14" presetClass="entr" presetSubtype="10" fill="hold" grpId="0" nodeType="clickEffect">
                                  <p:stCondLst>
                                    <p:cond delay="0"/>
                                  </p:stCondLst>
                                  <p:childTnLst>
                                    <p:set>
                                      <p:cBhvr>
                                        <p:cTn id="24" dur="1" fill="hold">
                                          <p:stCondLst>
                                            <p:cond delay="0"/>
                                          </p:stCondLst>
                                        </p:cTn>
                                        <p:tgtEl>
                                          <p:spTgt spid="2">
                                            <p:txEl>
                                              <p:pRg st="0" end="0"/>
                                            </p:txEl>
                                          </p:spTgt>
                                        </p:tgtEl>
                                        <p:attrNameLst>
                                          <p:attrName>style.visibility</p:attrName>
                                        </p:attrNameLst>
                                      </p:cBhvr>
                                      <p:to>
                                        <p:strVal val="visible"/>
                                      </p:to>
                                    </p:set>
                                    <p:animEffect transition="in" filter="randombar(horizontal)">
                                      <p:cBhvr>
                                        <p:cTn id="25" dur="500"/>
                                        <p:tgtEl>
                                          <p:spTgt spid="2">
                                            <p:txEl>
                                              <p:pRg st="0" end="0"/>
                                            </p:txEl>
                                          </p:spTgt>
                                        </p:tgtEl>
                                      </p:cBhvr>
                                    </p:animEffect>
                                  </p:childTnLst>
                                </p:cTn>
                              </p:par>
                            </p:childTnLst>
                          </p:cTn>
                        </p:par>
                      </p:childTnLst>
                    </p:cTn>
                  </p:par>
                  <p:par>
                    <p:cTn id="26" fill="hold">
                      <p:stCondLst>
                        <p:cond delay="indefinite"/>
                      </p:stCondLst>
                      <p:childTnLst>
                        <p:par>
                          <p:cTn id="27" fill="hold">
                            <p:stCondLst>
                              <p:cond delay="0"/>
                            </p:stCondLst>
                            <p:childTnLst>
                              <p:par>
                                <p:cTn id="28" presetID="14" presetClass="entr" presetSubtype="10" fill="hold" grpId="0" nodeType="clickEffect">
                                  <p:stCondLst>
                                    <p:cond delay="0"/>
                                  </p:stCondLst>
                                  <p:childTnLst>
                                    <p:set>
                                      <p:cBhvr>
                                        <p:cTn id="29" dur="1" fill="hold">
                                          <p:stCondLst>
                                            <p:cond delay="0"/>
                                          </p:stCondLst>
                                        </p:cTn>
                                        <p:tgtEl>
                                          <p:spTgt spid="2">
                                            <p:txEl>
                                              <p:pRg st="1" end="1"/>
                                            </p:txEl>
                                          </p:spTgt>
                                        </p:tgtEl>
                                        <p:attrNameLst>
                                          <p:attrName>style.visibility</p:attrName>
                                        </p:attrNameLst>
                                      </p:cBhvr>
                                      <p:to>
                                        <p:strVal val="visible"/>
                                      </p:to>
                                    </p:set>
                                    <p:animEffect transition="in" filter="randombar(horizontal)">
                                      <p:cBhvr>
                                        <p:cTn id="30" dur="500"/>
                                        <p:tgtEl>
                                          <p:spTgt spid="2">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E46E4DD1-270B-4C80-AFF0-EB26F132AF36}"/>
              </a:ext>
            </a:extLst>
          </p:cNvPr>
          <p:cNvSpPr>
            <a:spLocks noGrp="1"/>
          </p:cNvSpPr>
          <p:nvPr>
            <p:ph type="body" sz="quarter" idx="12"/>
          </p:nvPr>
        </p:nvSpPr>
        <p:spPr>
          <a:xfrm>
            <a:off x="398779" y="1339481"/>
            <a:ext cx="9726296" cy="5132439"/>
          </a:xfrm>
        </p:spPr>
        <p:txBody>
          <a:bodyPr vert="horz" lIns="91440" tIns="45720" rIns="91440" bIns="45720" rtlCol="0" anchor="t">
            <a:noAutofit/>
          </a:bodyPr>
          <a:lstStyle/>
          <a:p>
            <a:pPr algn="just">
              <a:buFont typeface="Courier New" panose="02070309020205020404" pitchFamily="49" charset="0"/>
              <a:buChar char="o"/>
            </a:pPr>
            <a:r>
              <a:rPr lang="en-US" sz="1900" dirty="0">
                <a:solidFill>
                  <a:schemeClr val="tx1"/>
                </a:solidFill>
                <a:latin typeface="Times New Roman" panose="02020603050405020304" pitchFamily="18" charset="0"/>
                <a:cs typeface="Times New Roman" panose="02020603050405020304" pitchFamily="18" charset="0"/>
              </a:rPr>
              <a:t>Agriculture is highly dependent on seasonal and environmental conditions. Factors such as rainfall, temperature, humidity, soil moisture, sunlight, irrigation, fertilizer usage, pesticide application, crop selection and resource availability can vary significantly from one season to another. These variations can directly influence crop yield, production, water efficiency, revenue, cost and overall profitability.</a:t>
            </a:r>
          </a:p>
          <a:p>
            <a:pPr algn="just">
              <a:buFont typeface="Courier New" panose="02070309020205020404" pitchFamily="49" charset="0"/>
              <a:buChar char="o"/>
            </a:pPr>
            <a:r>
              <a:rPr lang="en-US" sz="1900" dirty="0">
                <a:solidFill>
                  <a:schemeClr val="tx1"/>
                </a:solidFill>
                <a:latin typeface="Times New Roman" panose="02020603050405020304" pitchFamily="18" charset="0"/>
                <a:cs typeface="Times New Roman" panose="02020603050405020304" pitchFamily="18" charset="0"/>
              </a:rPr>
              <a:t>The available agricultural dataset contains information about farming activities across different seasons, states, districts, crops, environmental conditions, resource usage, irrigation methods and economic outcomes. However, raw agricultural data does not directly explain how these factors interact or how agricultural performance changes between Kharif, Rabi and Zaid seasons.</a:t>
            </a:r>
          </a:p>
          <a:p>
            <a:pPr algn="just">
              <a:buFont typeface="Courier New" panose="02070309020205020404" pitchFamily="49" charset="0"/>
              <a:buChar char="o"/>
            </a:pPr>
            <a:r>
              <a:rPr lang="en-US" sz="1900" dirty="0">
                <a:solidFill>
                  <a:schemeClr val="tx1"/>
                </a:solidFill>
                <a:latin typeface="Times New Roman" panose="02020603050405020304" pitchFamily="18" charset="0"/>
                <a:cs typeface="Times New Roman" panose="02020603050405020304" pitchFamily="18" charset="0"/>
              </a:rPr>
              <a:t>The core problem is to transform raw seasonal agricultural data into meaningful, evidence-based insights that explain variations in agricultural performance and can support better seasonal agricultural planning and decision-making.</a:t>
            </a:r>
          </a:p>
          <a:p>
            <a:pPr algn="just">
              <a:buFont typeface="Courier New" panose="02070309020205020404" pitchFamily="49" charset="0"/>
              <a:buChar char="o"/>
            </a:pPr>
            <a:r>
              <a:rPr lang="en-US" sz="1900" dirty="0">
                <a:solidFill>
                  <a:schemeClr val="tx1"/>
                </a:solidFill>
                <a:latin typeface="Times New Roman" panose="02020603050405020304" pitchFamily="18" charset="0"/>
                <a:cs typeface="Times New Roman" panose="02020603050405020304" pitchFamily="18" charset="0"/>
              </a:rPr>
              <a:t>Therefore, the problem addressed by this project is to perform a systematic analysis of the agricultural dataset and identify meaningful seasonal patterns, trends, relationships, differences and unusual observations.</a:t>
            </a:r>
          </a:p>
        </p:txBody>
      </p:sp>
      <p:sp>
        <p:nvSpPr>
          <p:cNvPr id="4" name="Title 3">
            <a:extLst>
              <a:ext uri="{FF2B5EF4-FFF2-40B4-BE49-F238E27FC236}">
                <a16:creationId xmlns:a16="http://schemas.microsoft.com/office/drawing/2014/main" id="{777CC02B-F7C6-47A8-8C3E-C57C417D9EA3}"/>
              </a:ext>
            </a:extLst>
          </p:cNvPr>
          <p:cNvSpPr>
            <a:spLocks noGrp="1"/>
          </p:cNvSpPr>
          <p:nvPr>
            <p:ph type="title"/>
          </p:nvPr>
        </p:nvSpPr>
        <p:spPr>
          <a:xfrm>
            <a:off x="482156" y="283717"/>
            <a:ext cx="6995604" cy="790111"/>
          </a:xfrm>
        </p:spPr>
        <p:txBody>
          <a:bodyPr>
            <a:normAutofit/>
          </a:bodyPr>
          <a:lstStyle/>
          <a:p>
            <a:r>
              <a:rPr lang="en-US" sz="4000" u="sng" dirty="0">
                <a:latin typeface="Times New Roman" panose="02020603050405020304" pitchFamily="18" charset="0"/>
                <a:cs typeface="Times New Roman" panose="02020603050405020304" pitchFamily="18" charset="0"/>
              </a:rPr>
              <a:t>PROBLEM  STATEMENT</a:t>
            </a:r>
            <a:endParaRPr lang="en-IN" sz="4000" u="sng" dirty="0">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C8FE02DE-D7B2-433D-BFE4-2F564022AD89}"/>
              </a:ext>
            </a:extLst>
          </p:cNvPr>
          <p:cNvPicPr>
            <a:picLocks noChangeAspect="1"/>
          </p:cNvPicPr>
          <p:nvPr/>
        </p:nvPicPr>
        <p:blipFill>
          <a:blip r:embed="rId2"/>
          <a:stretch>
            <a:fillRect/>
          </a:stretch>
        </p:blipFill>
        <p:spPr>
          <a:xfrm>
            <a:off x="9757809" y="3667125"/>
            <a:ext cx="2453684" cy="2901315"/>
          </a:xfrm>
          <a:prstGeom prst="rect">
            <a:avLst/>
          </a:prstGeom>
        </p:spPr>
      </p:pic>
      <p:pic>
        <p:nvPicPr>
          <p:cNvPr id="6" name="Picture 5">
            <a:extLst>
              <a:ext uri="{FF2B5EF4-FFF2-40B4-BE49-F238E27FC236}">
                <a16:creationId xmlns:a16="http://schemas.microsoft.com/office/drawing/2014/main" id="{736DEFE3-051A-494A-949C-BB2FF86F9ED7}"/>
              </a:ext>
            </a:extLst>
          </p:cNvPr>
          <p:cNvPicPr>
            <a:picLocks noChangeAspect="1"/>
          </p:cNvPicPr>
          <p:nvPr/>
        </p:nvPicPr>
        <p:blipFill rotWithShape="1">
          <a:blip r:embed="rId3"/>
          <a:srcRect t="96181"/>
          <a:stretch/>
        </p:blipFill>
        <p:spPr>
          <a:xfrm>
            <a:off x="675957" y="6471920"/>
            <a:ext cx="2143125" cy="193040"/>
          </a:xfrm>
          <a:prstGeom prst="rect">
            <a:avLst/>
          </a:prstGeom>
        </p:spPr>
      </p:pic>
    </p:spTree>
    <p:extLst>
      <p:ext uri="{BB962C8B-B14F-4D97-AF65-F5344CB8AC3E}">
        <p14:creationId xmlns:p14="http://schemas.microsoft.com/office/powerpoint/2010/main" val="30985484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2">
                                            <p:txEl>
                                              <p:pRg st="1" end="1"/>
                                            </p:txEl>
                                          </p:spTgt>
                                        </p:tgtEl>
                                        <p:attrNameLst>
                                          <p:attrName>style.visibility</p:attrName>
                                        </p:attrNameLst>
                                      </p:cBhvr>
                                      <p:to>
                                        <p:strVal val="visible"/>
                                      </p:to>
                                    </p:set>
                                    <p:animEffect transition="in" filter="fade">
                                      <p:cBhvr>
                                        <p:cTn id="21" dur="1000"/>
                                        <p:tgtEl>
                                          <p:spTgt spid="2">
                                            <p:txEl>
                                              <p:pRg st="1" end="1"/>
                                            </p:txEl>
                                          </p:spTgt>
                                        </p:tgtEl>
                                      </p:cBhvr>
                                    </p:animEffect>
                                    <p:anim calcmode="lin" valueType="num">
                                      <p:cBhvr>
                                        <p:cTn id="22" dur="1000" fill="hold"/>
                                        <p:tgtEl>
                                          <p:spTgt spid="2">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2">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2">
                                            <p:txEl>
                                              <p:pRg st="2" end="2"/>
                                            </p:txEl>
                                          </p:spTgt>
                                        </p:tgtEl>
                                        <p:attrNameLst>
                                          <p:attrName>style.visibility</p:attrName>
                                        </p:attrNameLst>
                                      </p:cBhvr>
                                      <p:to>
                                        <p:strVal val="visible"/>
                                      </p:to>
                                    </p:set>
                                    <p:animEffect transition="in" filter="fade">
                                      <p:cBhvr>
                                        <p:cTn id="28" dur="1000"/>
                                        <p:tgtEl>
                                          <p:spTgt spid="2">
                                            <p:txEl>
                                              <p:pRg st="2" end="2"/>
                                            </p:txEl>
                                          </p:spTgt>
                                        </p:tgtEl>
                                      </p:cBhvr>
                                    </p:animEffect>
                                    <p:anim calcmode="lin" valueType="num">
                                      <p:cBhvr>
                                        <p:cTn id="29" dur="1000" fill="hold"/>
                                        <p:tgtEl>
                                          <p:spTgt spid="2">
                                            <p:txEl>
                                              <p:pRg st="2" end="2"/>
                                            </p:txEl>
                                          </p:spTgt>
                                        </p:tgtEl>
                                        <p:attrNameLst>
                                          <p:attrName>ppt_x</p:attrName>
                                        </p:attrNameLst>
                                      </p:cBhvr>
                                      <p:tavLst>
                                        <p:tav tm="0">
                                          <p:val>
                                            <p:strVal val="#ppt_x"/>
                                          </p:val>
                                        </p:tav>
                                        <p:tav tm="100000">
                                          <p:val>
                                            <p:strVal val="#ppt_x"/>
                                          </p:val>
                                        </p:tav>
                                      </p:tavLst>
                                    </p:anim>
                                    <p:anim calcmode="lin" valueType="num">
                                      <p:cBhvr>
                                        <p:cTn id="30" dur="1000" fill="hold"/>
                                        <p:tgtEl>
                                          <p:spTgt spid="2">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2">
                                            <p:txEl>
                                              <p:pRg st="3" end="3"/>
                                            </p:txEl>
                                          </p:spTgt>
                                        </p:tgtEl>
                                        <p:attrNameLst>
                                          <p:attrName>style.visibility</p:attrName>
                                        </p:attrNameLst>
                                      </p:cBhvr>
                                      <p:to>
                                        <p:strVal val="visible"/>
                                      </p:to>
                                    </p:set>
                                    <p:animEffect transition="in" filter="fade">
                                      <p:cBhvr>
                                        <p:cTn id="35" dur="1000"/>
                                        <p:tgtEl>
                                          <p:spTgt spid="2">
                                            <p:txEl>
                                              <p:pRg st="3" end="3"/>
                                            </p:txEl>
                                          </p:spTgt>
                                        </p:tgtEl>
                                      </p:cBhvr>
                                    </p:animEffect>
                                    <p:anim calcmode="lin" valueType="num">
                                      <p:cBhvr>
                                        <p:cTn id="36" dur="1000" fill="hold"/>
                                        <p:tgtEl>
                                          <p:spTgt spid="2">
                                            <p:txEl>
                                              <p:pRg st="3" end="3"/>
                                            </p:txEl>
                                          </p:spTgt>
                                        </p:tgtEl>
                                        <p:attrNameLst>
                                          <p:attrName>ppt_x</p:attrName>
                                        </p:attrNameLst>
                                      </p:cBhvr>
                                      <p:tavLst>
                                        <p:tav tm="0">
                                          <p:val>
                                            <p:strVal val="#ppt_x"/>
                                          </p:val>
                                        </p:tav>
                                        <p:tav tm="100000">
                                          <p:val>
                                            <p:strVal val="#ppt_x"/>
                                          </p:val>
                                        </p:tav>
                                      </p:tavLst>
                                    </p:anim>
                                    <p:anim calcmode="lin" valueType="num">
                                      <p:cBhvr>
                                        <p:cTn id="37" dur="1000" fill="hold"/>
                                        <p:tgtEl>
                                          <p:spTgt spid="2">
                                            <p:txEl>
                                              <p:pRg st="3" end="3"/>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DB6AF7-4AF9-EFCE-B688-D132EC7059CD}"/>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5EE9BADB-A30E-BF13-E55A-4CE430860A95}"/>
              </a:ext>
            </a:extLst>
          </p:cNvPr>
          <p:cNvSpPr>
            <a:spLocks noGrp="1"/>
          </p:cNvSpPr>
          <p:nvPr>
            <p:ph type="body" sz="quarter" idx="12"/>
          </p:nvPr>
        </p:nvSpPr>
        <p:spPr>
          <a:xfrm>
            <a:off x="398779" y="1339481"/>
            <a:ext cx="9726296" cy="5132439"/>
          </a:xfrm>
        </p:spPr>
        <p:txBody>
          <a:bodyPr vert="horz" lIns="91440" tIns="45720" rIns="91440" bIns="45720" rtlCol="0" anchor="t">
            <a:noAutofit/>
          </a:bodyPr>
          <a:lstStyle/>
          <a:p>
            <a:pPr algn="just">
              <a:buFont typeface="Courier New" panose="02070309020205020404" pitchFamily="49" charset="0"/>
              <a:buChar char="o"/>
            </a:pPr>
            <a:r>
              <a:rPr lang="en-US" sz="1900" b="1" dirty="0">
                <a:solidFill>
                  <a:schemeClr val="tx1"/>
                </a:solidFill>
                <a:latin typeface="Times New Roman" panose="02020603050405020304" pitchFamily="18" charset="0"/>
                <a:cs typeface="Times New Roman" panose="02020603050405020304" pitchFamily="18" charset="0"/>
              </a:rPr>
              <a:t>Data Analysis: </a:t>
            </a:r>
            <a:r>
              <a:rPr lang="en-US" sz="1900" dirty="0">
                <a:solidFill>
                  <a:schemeClr val="tx1"/>
                </a:solidFill>
                <a:latin typeface="Times New Roman" panose="02020603050405020304" pitchFamily="18" charset="0"/>
                <a:cs typeface="Times New Roman" panose="02020603050405020304" pitchFamily="18" charset="0"/>
              </a:rPr>
              <a:t>Analyzes 4,000 agricultural records across Kharif, Rabi, and Zaid seasons to understand crop performance and seasonal variations.</a:t>
            </a:r>
          </a:p>
          <a:p>
            <a:pPr algn="just">
              <a:buFont typeface="Courier New" panose="02070309020205020404" pitchFamily="49" charset="0"/>
              <a:buChar char="o"/>
            </a:pPr>
            <a:r>
              <a:rPr lang="en-US" sz="1900" b="1" dirty="0">
                <a:solidFill>
                  <a:schemeClr val="tx1"/>
                </a:solidFill>
                <a:latin typeface="Times New Roman" panose="02020603050405020304" pitchFamily="18" charset="0"/>
                <a:cs typeface="Times New Roman" panose="02020603050405020304" pitchFamily="18" charset="0"/>
              </a:rPr>
              <a:t>Environmental &amp; Resource Analysis: </a:t>
            </a:r>
            <a:r>
              <a:rPr lang="en-US" sz="1900" dirty="0">
                <a:solidFill>
                  <a:schemeClr val="tx1"/>
                </a:solidFill>
                <a:latin typeface="Times New Roman" panose="02020603050405020304" pitchFamily="18" charset="0"/>
                <a:cs typeface="Times New Roman" panose="02020603050405020304" pitchFamily="18" charset="0"/>
              </a:rPr>
              <a:t>Examines factors such as rainfall, temperature, humidity, soil moisture, irrigation, fertilizers, pesticides, and water usage and their relationship with agricultural performance.</a:t>
            </a:r>
          </a:p>
          <a:p>
            <a:pPr algn="just">
              <a:buFont typeface="Courier New" panose="02070309020205020404" pitchFamily="49" charset="0"/>
              <a:buChar char="o"/>
            </a:pPr>
            <a:r>
              <a:rPr lang="en-US" sz="1900" b="1" dirty="0">
                <a:solidFill>
                  <a:schemeClr val="tx1"/>
                </a:solidFill>
                <a:latin typeface="Times New Roman" panose="02020603050405020304" pitchFamily="18" charset="0"/>
                <a:cs typeface="Times New Roman" panose="02020603050405020304" pitchFamily="18" charset="0"/>
              </a:rPr>
              <a:t>Performance &amp; Economic Analysis: </a:t>
            </a:r>
            <a:r>
              <a:rPr lang="en-US" sz="1900" dirty="0">
                <a:solidFill>
                  <a:schemeClr val="tx1"/>
                </a:solidFill>
                <a:latin typeface="Times New Roman" panose="02020603050405020304" pitchFamily="18" charset="0"/>
                <a:cs typeface="Times New Roman" panose="02020603050405020304" pitchFamily="18" charset="0"/>
              </a:rPr>
              <a:t>Compares yield, production, market price, revenue, cost, and profit across different seasons, crops, regions, and farming methods.</a:t>
            </a:r>
          </a:p>
          <a:p>
            <a:pPr algn="just">
              <a:buFont typeface="Courier New" panose="02070309020205020404" pitchFamily="49" charset="0"/>
              <a:buChar char="o"/>
            </a:pPr>
            <a:r>
              <a:rPr lang="en-US" sz="1900" b="1" dirty="0">
                <a:solidFill>
                  <a:schemeClr val="tx1"/>
                </a:solidFill>
                <a:latin typeface="Times New Roman" panose="02020603050405020304" pitchFamily="18" charset="0"/>
                <a:cs typeface="Times New Roman" panose="02020603050405020304" pitchFamily="18" charset="0"/>
              </a:rPr>
              <a:t>Insights &amp; Recommendations: </a:t>
            </a:r>
            <a:r>
              <a:rPr lang="en-US" sz="1900" dirty="0">
                <a:solidFill>
                  <a:schemeClr val="tx1"/>
                </a:solidFill>
                <a:latin typeface="Times New Roman" panose="02020603050405020304" pitchFamily="18" charset="0"/>
                <a:cs typeface="Times New Roman" panose="02020603050405020304" pitchFamily="18" charset="0"/>
              </a:rPr>
              <a:t>Uses data cleaning, statistical analysis, correlation analysis, and visualizations to identify important patterns, trends, relationships, and unusual variations, helping support better seasonal agricultural planning.</a:t>
            </a:r>
            <a:endParaRPr lang="en-IN" sz="1900" dirty="0">
              <a:solidFill>
                <a:schemeClr val="tx1"/>
              </a:solidFill>
              <a:latin typeface="Times New Roman" panose="02020603050405020304" pitchFamily="18" charset="0"/>
              <a:cs typeface="Times New Roman" panose="02020603050405020304" pitchFamily="18" charset="0"/>
            </a:endParaRPr>
          </a:p>
        </p:txBody>
      </p:sp>
      <p:pic>
        <p:nvPicPr>
          <p:cNvPr id="6" name="Picture 5">
            <a:extLst>
              <a:ext uri="{FF2B5EF4-FFF2-40B4-BE49-F238E27FC236}">
                <a16:creationId xmlns:a16="http://schemas.microsoft.com/office/drawing/2014/main" id="{CE8A6312-C1D8-8F1C-B76F-CA069480BDD0}"/>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3" name="Title 2">
            <a:extLst>
              <a:ext uri="{FF2B5EF4-FFF2-40B4-BE49-F238E27FC236}">
                <a16:creationId xmlns:a16="http://schemas.microsoft.com/office/drawing/2014/main" id="{AA3B5235-7AA3-9D67-DE79-D4C8BE57C5A5}"/>
              </a:ext>
            </a:extLst>
          </p:cNvPr>
          <p:cNvSpPr txBox="1">
            <a:spLocks/>
          </p:cNvSpPr>
          <p:nvPr/>
        </p:nvSpPr>
        <p:spPr>
          <a:xfrm>
            <a:off x="484504" y="269240"/>
            <a:ext cx="7454901" cy="766412"/>
          </a:xfrm>
          <a:prstGeom prst="rect">
            <a:avLst/>
          </a:prstGeom>
        </p:spPr>
        <p:txBody>
          <a:bodyPr vert="horz" lIns="91440" tIns="45720" rIns="91440" bIns="45720" rtlCol="0" anchor="t">
            <a:normAutofit/>
          </a:bodyPr>
          <a:lstStyle>
            <a:lvl1pPr algn="l" defTabSz="457200" rtl="0" eaLnBrk="1" latinLnBrk="0" hangingPunct="1">
              <a:spcBef>
                <a:spcPct val="0"/>
              </a:spcBef>
              <a:buNone/>
              <a:defRPr sz="4800" b="1" kern="1200">
                <a:solidFill>
                  <a:schemeClr val="tx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GB" sz="4000" u="sng" dirty="0">
                <a:latin typeface="Times New Roman" panose="02020603050405020304" pitchFamily="18" charset="0"/>
                <a:cs typeface="Times New Roman" panose="02020603050405020304" pitchFamily="18" charset="0"/>
              </a:rPr>
              <a:t>PROJECT  </a:t>
            </a:r>
            <a:r>
              <a:rPr lang="en-IN" sz="4000" u="sng" dirty="0">
                <a:latin typeface="Times New Roman" panose="02020603050405020304" pitchFamily="18" charset="0"/>
                <a:cs typeface="Times New Roman" panose="02020603050405020304" pitchFamily="18" charset="0"/>
              </a:rPr>
              <a:t>DESCRIPTION</a:t>
            </a:r>
          </a:p>
        </p:txBody>
      </p:sp>
    </p:spTree>
    <p:extLst>
      <p:ext uri="{BB962C8B-B14F-4D97-AF65-F5344CB8AC3E}">
        <p14:creationId xmlns:p14="http://schemas.microsoft.com/office/powerpoint/2010/main" val="39809186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fade">
                                      <p:cBhvr>
                                        <p:cTn id="7" dur="1000"/>
                                        <p:tgtEl>
                                          <p:spTgt spid="2">
                                            <p:txEl>
                                              <p:pRg st="0" end="0"/>
                                            </p:txEl>
                                          </p:spTgt>
                                        </p:tgtEl>
                                      </p:cBhvr>
                                    </p:animEffect>
                                    <p:anim calcmode="lin" valueType="num">
                                      <p:cBhvr>
                                        <p:cTn id="8"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xEl>
                                              <p:pRg st="1" end="1"/>
                                            </p:txEl>
                                          </p:spTgt>
                                        </p:tgtEl>
                                        <p:attrNameLst>
                                          <p:attrName>style.visibility</p:attrName>
                                        </p:attrNameLst>
                                      </p:cBhvr>
                                      <p:to>
                                        <p:strVal val="visible"/>
                                      </p:to>
                                    </p:set>
                                    <p:animEffect transition="in" filter="fade">
                                      <p:cBhvr>
                                        <p:cTn id="14" dur="1000"/>
                                        <p:tgtEl>
                                          <p:spTgt spid="2">
                                            <p:txEl>
                                              <p:pRg st="1" end="1"/>
                                            </p:txEl>
                                          </p:spTgt>
                                        </p:tgtEl>
                                      </p:cBhvr>
                                    </p:animEffect>
                                    <p:anim calcmode="lin" valueType="num">
                                      <p:cBhvr>
                                        <p:cTn id="15" dur="1000" fill="hold"/>
                                        <p:tgtEl>
                                          <p:spTgt spid="2">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2">
                                            <p:txEl>
                                              <p:pRg st="2" end="2"/>
                                            </p:txEl>
                                          </p:spTgt>
                                        </p:tgtEl>
                                        <p:attrNameLst>
                                          <p:attrName>style.visibility</p:attrName>
                                        </p:attrNameLst>
                                      </p:cBhvr>
                                      <p:to>
                                        <p:strVal val="visible"/>
                                      </p:to>
                                    </p:set>
                                    <p:animEffect transition="in" filter="fade">
                                      <p:cBhvr>
                                        <p:cTn id="21" dur="1000"/>
                                        <p:tgtEl>
                                          <p:spTgt spid="2">
                                            <p:txEl>
                                              <p:pRg st="2" end="2"/>
                                            </p:txEl>
                                          </p:spTgt>
                                        </p:tgtEl>
                                      </p:cBhvr>
                                    </p:animEffect>
                                    <p:anim calcmode="lin" valueType="num">
                                      <p:cBhvr>
                                        <p:cTn id="22" dur="1000" fill="hold"/>
                                        <p:tgtEl>
                                          <p:spTgt spid="2">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2">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2">
                                            <p:txEl>
                                              <p:pRg st="3" end="3"/>
                                            </p:txEl>
                                          </p:spTgt>
                                        </p:tgtEl>
                                        <p:attrNameLst>
                                          <p:attrName>style.visibility</p:attrName>
                                        </p:attrNameLst>
                                      </p:cBhvr>
                                      <p:to>
                                        <p:strVal val="visible"/>
                                      </p:to>
                                    </p:set>
                                    <p:animEffect transition="in" filter="fade">
                                      <p:cBhvr>
                                        <p:cTn id="28" dur="1000"/>
                                        <p:tgtEl>
                                          <p:spTgt spid="2">
                                            <p:txEl>
                                              <p:pRg st="3" end="3"/>
                                            </p:txEl>
                                          </p:spTgt>
                                        </p:tgtEl>
                                      </p:cBhvr>
                                    </p:animEffect>
                                    <p:anim calcmode="lin" valueType="num">
                                      <p:cBhvr>
                                        <p:cTn id="29" dur="1000" fill="hold"/>
                                        <p:tgtEl>
                                          <p:spTgt spid="2">
                                            <p:txEl>
                                              <p:pRg st="3" end="3"/>
                                            </p:txEl>
                                          </p:spTgt>
                                        </p:tgtEl>
                                        <p:attrNameLst>
                                          <p:attrName>ppt_x</p:attrName>
                                        </p:attrNameLst>
                                      </p:cBhvr>
                                      <p:tavLst>
                                        <p:tav tm="0">
                                          <p:val>
                                            <p:strVal val="#ppt_x"/>
                                          </p:val>
                                        </p:tav>
                                        <p:tav tm="100000">
                                          <p:val>
                                            <p:strVal val="#ppt_x"/>
                                          </p:val>
                                        </p:tav>
                                      </p:tavLst>
                                    </p:anim>
                                    <p:anim calcmode="lin" valueType="num">
                                      <p:cBhvr>
                                        <p:cTn id="30" dur="1000" fill="hold"/>
                                        <p:tgtEl>
                                          <p:spTgt spid="2">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53" presetClass="entr" presetSubtype="16" fill="hold" grpId="0" nodeType="clickEffect">
                                  <p:stCondLst>
                                    <p:cond delay="0"/>
                                  </p:stCondLst>
                                  <p:childTnLst>
                                    <p:set>
                                      <p:cBhvr>
                                        <p:cTn id="34" dur="1" fill="hold">
                                          <p:stCondLst>
                                            <p:cond delay="0"/>
                                          </p:stCondLst>
                                        </p:cTn>
                                        <p:tgtEl>
                                          <p:spTgt spid="3"/>
                                        </p:tgtEl>
                                        <p:attrNameLst>
                                          <p:attrName>style.visibility</p:attrName>
                                        </p:attrNameLst>
                                      </p:cBhvr>
                                      <p:to>
                                        <p:strVal val="visible"/>
                                      </p:to>
                                    </p:set>
                                    <p:anim calcmode="lin" valueType="num">
                                      <p:cBhvr>
                                        <p:cTn id="35" dur="500" fill="hold"/>
                                        <p:tgtEl>
                                          <p:spTgt spid="3"/>
                                        </p:tgtEl>
                                        <p:attrNameLst>
                                          <p:attrName>ppt_w</p:attrName>
                                        </p:attrNameLst>
                                      </p:cBhvr>
                                      <p:tavLst>
                                        <p:tav tm="0">
                                          <p:val>
                                            <p:fltVal val="0"/>
                                          </p:val>
                                        </p:tav>
                                        <p:tav tm="100000">
                                          <p:val>
                                            <p:strVal val="#ppt_w"/>
                                          </p:val>
                                        </p:tav>
                                      </p:tavLst>
                                    </p:anim>
                                    <p:anim calcmode="lin" valueType="num">
                                      <p:cBhvr>
                                        <p:cTn id="36" dur="500" fill="hold"/>
                                        <p:tgtEl>
                                          <p:spTgt spid="3"/>
                                        </p:tgtEl>
                                        <p:attrNameLst>
                                          <p:attrName>ppt_h</p:attrName>
                                        </p:attrNameLst>
                                      </p:cBhvr>
                                      <p:tavLst>
                                        <p:tav tm="0">
                                          <p:val>
                                            <p:fltVal val="0"/>
                                          </p:val>
                                        </p:tav>
                                        <p:tav tm="100000">
                                          <p:val>
                                            <p:strVal val="#ppt_h"/>
                                          </p:val>
                                        </p:tav>
                                      </p:tavLst>
                                    </p:anim>
                                    <p:animEffect transition="in" filter="fade">
                                      <p:cBhvr>
                                        <p:cTn id="3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3"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1A4A072B-83C6-4607-AE6A-5AD61CC72C44}"/>
              </a:ext>
            </a:extLst>
          </p:cNvPr>
          <p:cNvSpPr>
            <a:spLocks noGrp="1"/>
          </p:cNvSpPr>
          <p:nvPr>
            <p:ph type="title"/>
          </p:nvPr>
        </p:nvSpPr>
        <p:spPr>
          <a:xfrm>
            <a:off x="419983" y="286067"/>
            <a:ext cx="10046070" cy="733107"/>
          </a:xfrm>
        </p:spPr>
        <p:txBody>
          <a:bodyPr>
            <a:noAutofit/>
          </a:bodyPr>
          <a:lstStyle/>
          <a:p>
            <a:r>
              <a:rPr lang="en-US" sz="4000" u="sng" dirty="0">
                <a:latin typeface="Times New Roman" panose="02020603050405020304" pitchFamily="18" charset="0"/>
                <a:cs typeface="Times New Roman" panose="02020603050405020304" pitchFamily="18" charset="0"/>
              </a:rPr>
              <a:t>WHO  ARE  THE  END  USERS?</a:t>
            </a:r>
            <a:endParaRPr lang="en-IN" sz="2800" u="sng" dirty="0">
              <a:latin typeface="Times New Roman" panose="02020603050405020304" pitchFamily="18" charset="0"/>
              <a:cs typeface="Times New Roman" panose="02020603050405020304" pitchFamily="18" charset="0"/>
            </a:endParaRPr>
          </a:p>
        </p:txBody>
      </p:sp>
      <p:pic>
        <p:nvPicPr>
          <p:cNvPr id="6" name="Picture 5">
            <a:extLst>
              <a:ext uri="{FF2B5EF4-FFF2-40B4-BE49-F238E27FC236}">
                <a16:creationId xmlns:a16="http://schemas.microsoft.com/office/drawing/2014/main" id="{E8B153BB-61B9-403F-8AE5-F75400450AC0}"/>
              </a:ext>
            </a:extLst>
          </p:cNvPr>
          <p:cNvPicPr>
            <a:picLocks noChangeAspect="1"/>
          </p:cNvPicPr>
          <p:nvPr/>
        </p:nvPicPr>
        <p:blipFill>
          <a:blip r:embed="rId2"/>
          <a:stretch>
            <a:fillRect/>
          </a:stretch>
        </p:blipFill>
        <p:spPr>
          <a:xfrm>
            <a:off x="721359" y="6176804"/>
            <a:ext cx="2181225" cy="485775"/>
          </a:xfrm>
          <a:prstGeom prst="rect">
            <a:avLst/>
          </a:prstGeom>
        </p:spPr>
      </p:pic>
      <p:sp>
        <p:nvSpPr>
          <p:cNvPr id="5" name="TextBox 4">
            <a:extLst>
              <a:ext uri="{FF2B5EF4-FFF2-40B4-BE49-F238E27FC236}">
                <a16:creationId xmlns:a16="http://schemas.microsoft.com/office/drawing/2014/main" id="{55CF9E97-A343-4243-04F8-EF4EBAF6FDFC}"/>
              </a:ext>
            </a:extLst>
          </p:cNvPr>
          <p:cNvSpPr txBox="1"/>
          <p:nvPr/>
        </p:nvSpPr>
        <p:spPr>
          <a:xfrm>
            <a:off x="417442" y="1366153"/>
            <a:ext cx="6105524" cy="3109890"/>
          </a:xfrm>
          <a:prstGeom prst="rect">
            <a:avLst/>
          </a:prstGeom>
          <a:noFill/>
        </p:spPr>
        <p:txBody>
          <a:bodyPr wrap="square">
            <a:spAutoFit/>
          </a:bodyPr>
          <a:lstStyle/>
          <a:p>
            <a:pPr marL="285750" indent="-285750">
              <a:lnSpc>
                <a:spcPct val="150000"/>
              </a:lnSpc>
              <a:buClr>
                <a:schemeClr val="accent4">
                  <a:lumMod val="75000"/>
                </a:schemeClr>
              </a:buClr>
              <a:buSzPct val="80000"/>
              <a:buFont typeface="Courier New" panose="02070309020205020404" pitchFamily="49" charset="0"/>
              <a:buChar char="o"/>
            </a:pPr>
            <a:r>
              <a:rPr lang="en-IN" sz="1900" dirty="0">
                <a:latin typeface="Times New Roman" panose="02020603050405020304" pitchFamily="18" charset="0"/>
                <a:cs typeface="Times New Roman" panose="02020603050405020304" pitchFamily="18" charset="0"/>
              </a:rPr>
              <a:t>Farmers</a:t>
            </a:r>
          </a:p>
          <a:p>
            <a:pPr marL="285750" indent="-285750">
              <a:lnSpc>
                <a:spcPct val="150000"/>
              </a:lnSpc>
              <a:buClr>
                <a:schemeClr val="accent4">
                  <a:lumMod val="75000"/>
                </a:schemeClr>
              </a:buClr>
              <a:buSzPct val="80000"/>
              <a:buFont typeface="Courier New" panose="02070309020205020404" pitchFamily="49" charset="0"/>
              <a:buChar char="o"/>
            </a:pPr>
            <a:r>
              <a:rPr lang="en-IN" sz="1900" dirty="0">
                <a:latin typeface="Times New Roman" panose="02020603050405020304" pitchFamily="18" charset="0"/>
                <a:cs typeface="Times New Roman" panose="02020603050405020304" pitchFamily="18" charset="0"/>
              </a:rPr>
              <a:t>Agricultural Planners</a:t>
            </a:r>
          </a:p>
          <a:p>
            <a:pPr marL="285750" indent="-285750">
              <a:lnSpc>
                <a:spcPct val="150000"/>
              </a:lnSpc>
              <a:buClr>
                <a:schemeClr val="accent4">
                  <a:lumMod val="75000"/>
                </a:schemeClr>
              </a:buClr>
              <a:buSzPct val="80000"/>
              <a:buFont typeface="Courier New" panose="02070309020205020404" pitchFamily="49" charset="0"/>
              <a:buChar char="o"/>
            </a:pPr>
            <a:r>
              <a:rPr lang="en-IN" sz="1900" dirty="0">
                <a:latin typeface="Times New Roman" panose="02020603050405020304" pitchFamily="18" charset="0"/>
                <a:cs typeface="Times New Roman" panose="02020603050405020304" pitchFamily="18" charset="0"/>
              </a:rPr>
              <a:t>Government Departments</a:t>
            </a:r>
          </a:p>
          <a:p>
            <a:pPr marL="285750" indent="-285750">
              <a:lnSpc>
                <a:spcPct val="150000"/>
              </a:lnSpc>
              <a:buClr>
                <a:schemeClr val="accent4">
                  <a:lumMod val="75000"/>
                </a:schemeClr>
              </a:buClr>
              <a:buSzPct val="80000"/>
              <a:buFont typeface="Courier New" panose="02070309020205020404" pitchFamily="49" charset="0"/>
              <a:buChar char="o"/>
            </a:pPr>
            <a:r>
              <a:rPr lang="en-IN" sz="1900" dirty="0">
                <a:latin typeface="Times New Roman" panose="02020603050405020304" pitchFamily="18" charset="0"/>
                <a:cs typeface="Times New Roman" panose="02020603050405020304" pitchFamily="18" charset="0"/>
              </a:rPr>
              <a:t>Irrigation &amp; Resource Managers</a:t>
            </a:r>
          </a:p>
          <a:p>
            <a:pPr marL="285750" indent="-285750">
              <a:lnSpc>
                <a:spcPct val="150000"/>
              </a:lnSpc>
              <a:buClr>
                <a:schemeClr val="accent4">
                  <a:lumMod val="75000"/>
                </a:schemeClr>
              </a:buClr>
              <a:buSzPct val="80000"/>
              <a:buFont typeface="Courier New" panose="02070309020205020404" pitchFamily="49" charset="0"/>
              <a:buChar char="o"/>
            </a:pPr>
            <a:r>
              <a:rPr lang="en-IN" sz="1900" dirty="0">
                <a:latin typeface="Times New Roman" panose="02020603050405020304" pitchFamily="18" charset="0"/>
                <a:cs typeface="Times New Roman" panose="02020603050405020304" pitchFamily="18" charset="0"/>
              </a:rPr>
              <a:t>Researchers</a:t>
            </a:r>
          </a:p>
          <a:p>
            <a:pPr marL="285750" indent="-285750">
              <a:lnSpc>
                <a:spcPct val="150000"/>
              </a:lnSpc>
              <a:buClr>
                <a:schemeClr val="accent4">
                  <a:lumMod val="75000"/>
                </a:schemeClr>
              </a:buClr>
              <a:buSzPct val="80000"/>
              <a:buFont typeface="Courier New" panose="02070309020205020404" pitchFamily="49" charset="0"/>
              <a:buChar char="o"/>
            </a:pPr>
            <a:r>
              <a:rPr lang="en-IN" sz="1900" dirty="0">
                <a:latin typeface="Times New Roman" panose="02020603050405020304" pitchFamily="18" charset="0"/>
                <a:cs typeface="Times New Roman" panose="02020603050405020304" pitchFamily="18" charset="0"/>
              </a:rPr>
              <a:t>Data Analysts</a:t>
            </a:r>
          </a:p>
          <a:p>
            <a:pPr marL="285750" indent="-285750">
              <a:lnSpc>
                <a:spcPct val="150000"/>
              </a:lnSpc>
              <a:buClr>
                <a:schemeClr val="accent4">
                  <a:lumMod val="75000"/>
                </a:schemeClr>
              </a:buClr>
              <a:buSzPct val="80000"/>
              <a:buFont typeface="Courier New" panose="02070309020205020404" pitchFamily="49" charset="0"/>
              <a:buChar char="o"/>
            </a:pPr>
            <a:r>
              <a:rPr lang="en-IN" sz="1900" dirty="0">
                <a:latin typeface="Times New Roman" panose="02020603050405020304" pitchFamily="18" charset="0"/>
                <a:cs typeface="Times New Roman" panose="02020603050405020304" pitchFamily="18" charset="0"/>
              </a:rPr>
              <a:t>Agribusinesses</a:t>
            </a:r>
          </a:p>
        </p:txBody>
      </p:sp>
    </p:spTree>
    <p:extLst>
      <p:ext uri="{BB962C8B-B14F-4D97-AF65-F5344CB8AC3E}">
        <p14:creationId xmlns:p14="http://schemas.microsoft.com/office/powerpoint/2010/main" val="480750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E32684-DA63-09E7-49E8-F0BA995EA1E9}"/>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C3FA0FFE-B131-7F15-E262-166469B3F260}"/>
              </a:ext>
            </a:extLst>
          </p:cNvPr>
          <p:cNvSpPr>
            <a:spLocks noGrp="1"/>
          </p:cNvSpPr>
          <p:nvPr>
            <p:ph type="title"/>
          </p:nvPr>
        </p:nvSpPr>
        <p:spPr>
          <a:xfrm>
            <a:off x="419983" y="286067"/>
            <a:ext cx="10046070" cy="733107"/>
          </a:xfrm>
        </p:spPr>
        <p:txBody>
          <a:bodyPr>
            <a:noAutofit/>
          </a:bodyPr>
          <a:lstStyle/>
          <a:p>
            <a:r>
              <a:rPr lang="en-IN" sz="4000" u="sng" dirty="0">
                <a:latin typeface="Times New Roman" panose="02020603050405020304" pitchFamily="18" charset="0"/>
                <a:cs typeface="Times New Roman" panose="02020603050405020304" pitchFamily="18" charset="0"/>
              </a:rPr>
              <a:t>TECHNOLOGY  USED</a:t>
            </a:r>
            <a:endParaRPr lang="en-IN" sz="2800" u="sng" dirty="0">
              <a:latin typeface="Times New Roman" panose="02020603050405020304" pitchFamily="18" charset="0"/>
              <a:cs typeface="Times New Roman" panose="02020603050405020304" pitchFamily="18" charset="0"/>
            </a:endParaRPr>
          </a:p>
        </p:txBody>
      </p:sp>
      <p:pic>
        <p:nvPicPr>
          <p:cNvPr id="6" name="Picture 5">
            <a:extLst>
              <a:ext uri="{FF2B5EF4-FFF2-40B4-BE49-F238E27FC236}">
                <a16:creationId xmlns:a16="http://schemas.microsoft.com/office/drawing/2014/main" id="{1203E602-939C-2214-E374-D2CCA70EA628}"/>
              </a:ext>
            </a:extLst>
          </p:cNvPr>
          <p:cNvPicPr>
            <a:picLocks noChangeAspect="1"/>
          </p:cNvPicPr>
          <p:nvPr/>
        </p:nvPicPr>
        <p:blipFill>
          <a:blip r:embed="rId2"/>
          <a:stretch>
            <a:fillRect/>
          </a:stretch>
        </p:blipFill>
        <p:spPr>
          <a:xfrm>
            <a:off x="721359" y="6176804"/>
            <a:ext cx="2181225" cy="485775"/>
          </a:xfrm>
          <a:prstGeom prst="rect">
            <a:avLst/>
          </a:prstGeom>
        </p:spPr>
      </p:pic>
      <p:sp>
        <p:nvSpPr>
          <p:cNvPr id="5" name="TextBox 4">
            <a:extLst>
              <a:ext uri="{FF2B5EF4-FFF2-40B4-BE49-F238E27FC236}">
                <a16:creationId xmlns:a16="http://schemas.microsoft.com/office/drawing/2014/main" id="{D5D15008-829D-9E74-1C4F-05EE40A526A1}"/>
              </a:ext>
            </a:extLst>
          </p:cNvPr>
          <p:cNvSpPr txBox="1"/>
          <p:nvPr/>
        </p:nvSpPr>
        <p:spPr>
          <a:xfrm>
            <a:off x="417442" y="1366153"/>
            <a:ext cx="6105524" cy="3548472"/>
          </a:xfrm>
          <a:prstGeom prst="rect">
            <a:avLst/>
          </a:prstGeom>
          <a:noFill/>
        </p:spPr>
        <p:txBody>
          <a:bodyPr wrap="square">
            <a:spAutoFit/>
          </a:bodyPr>
          <a:lstStyle/>
          <a:p>
            <a:pPr marL="285750" indent="-285750">
              <a:lnSpc>
                <a:spcPct val="150000"/>
              </a:lnSpc>
              <a:buClr>
                <a:schemeClr val="accent4">
                  <a:lumMod val="75000"/>
                </a:schemeClr>
              </a:buClr>
              <a:buSzPct val="80000"/>
              <a:buFont typeface="Courier New" panose="02070309020205020404" pitchFamily="49" charset="0"/>
              <a:buChar char="o"/>
            </a:pPr>
            <a:r>
              <a:rPr lang="en-IN" sz="1900" dirty="0">
                <a:latin typeface="Times New Roman" panose="02020603050405020304" pitchFamily="18" charset="0"/>
                <a:cs typeface="Times New Roman" panose="02020603050405020304" pitchFamily="18" charset="0"/>
              </a:rPr>
              <a:t>Python</a:t>
            </a:r>
          </a:p>
          <a:p>
            <a:pPr marL="285750" indent="-285750">
              <a:lnSpc>
                <a:spcPct val="150000"/>
              </a:lnSpc>
              <a:buClr>
                <a:schemeClr val="accent4">
                  <a:lumMod val="75000"/>
                </a:schemeClr>
              </a:buClr>
              <a:buSzPct val="80000"/>
              <a:buFont typeface="Courier New" panose="02070309020205020404" pitchFamily="49" charset="0"/>
              <a:buChar char="o"/>
            </a:pPr>
            <a:r>
              <a:rPr lang="en-IN" sz="1900" dirty="0">
                <a:latin typeface="Times New Roman" panose="02020603050405020304" pitchFamily="18" charset="0"/>
                <a:cs typeface="Times New Roman" panose="02020603050405020304" pitchFamily="18" charset="0"/>
              </a:rPr>
              <a:t>Pandas</a:t>
            </a:r>
          </a:p>
          <a:p>
            <a:pPr marL="285750" indent="-285750">
              <a:lnSpc>
                <a:spcPct val="150000"/>
              </a:lnSpc>
              <a:buClr>
                <a:schemeClr val="accent4">
                  <a:lumMod val="75000"/>
                </a:schemeClr>
              </a:buClr>
              <a:buSzPct val="80000"/>
              <a:buFont typeface="Courier New" panose="02070309020205020404" pitchFamily="49" charset="0"/>
              <a:buChar char="o"/>
            </a:pPr>
            <a:r>
              <a:rPr lang="en-IN" sz="1900" dirty="0">
                <a:latin typeface="Times New Roman" panose="02020603050405020304" pitchFamily="18" charset="0"/>
                <a:cs typeface="Times New Roman" panose="02020603050405020304" pitchFamily="18" charset="0"/>
              </a:rPr>
              <a:t>NumPy</a:t>
            </a:r>
          </a:p>
          <a:p>
            <a:pPr marL="285750" indent="-285750">
              <a:lnSpc>
                <a:spcPct val="150000"/>
              </a:lnSpc>
              <a:buClr>
                <a:schemeClr val="accent4">
                  <a:lumMod val="75000"/>
                </a:schemeClr>
              </a:buClr>
              <a:buSzPct val="80000"/>
              <a:buFont typeface="Courier New" panose="02070309020205020404" pitchFamily="49" charset="0"/>
              <a:buChar char="o"/>
            </a:pPr>
            <a:r>
              <a:rPr lang="en-IN" sz="1900" dirty="0">
                <a:latin typeface="Times New Roman" panose="02020603050405020304" pitchFamily="18" charset="0"/>
                <a:cs typeface="Times New Roman" panose="02020603050405020304" pitchFamily="18" charset="0"/>
              </a:rPr>
              <a:t>Matplotlib</a:t>
            </a:r>
          </a:p>
          <a:p>
            <a:pPr marL="285750" indent="-285750">
              <a:lnSpc>
                <a:spcPct val="150000"/>
              </a:lnSpc>
              <a:buClr>
                <a:schemeClr val="accent4">
                  <a:lumMod val="75000"/>
                </a:schemeClr>
              </a:buClr>
              <a:buSzPct val="80000"/>
              <a:buFont typeface="Courier New" panose="02070309020205020404" pitchFamily="49" charset="0"/>
              <a:buChar char="o"/>
            </a:pPr>
            <a:r>
              <a:rPr lang="en-IN" sz="1900" dirty="0">
                <a:latin typeface="Times New Roman" panose="02020603050405020304" pitchFamily="18" charset="0"/>
                <a:cs typeface="Times New Roman" panose="02020603050405020304" pitchFamily="18" charset="0"/>
              </a:rPr>
              <a:t>Seaborn</a:t>
            </a:r>
          </a:p>
          <a:p>
            <a:pPr marL="285750" indent="-285750">
              <a:lnSpc>
                <a:spcPct val="150000"/>
              </a:lnSpc>
              <a:buClr>
                <a:schemeClr val="accent4">
                  <a:lumMod val="75000"/>
                </a:schemeClr>
              </a:buClr>
              <a:buSzPct val="80000"/>
              <a:buFont typeface="Courier New" panose="02070309020205020404" pitchFamily="49" charset="0"/>
              <a:buChar char="o"/>
            </a:pPr>
            <a:r>
              <a:rPr lang="en-IN" sz="1900" dirty="0">
                <a:latin typeface="Times New Roman" panose="02020603050405020304" pitchFamily="18" charset="0"/>
                <a:cs typeface="Times New Roman" panose="02020603050405020304" pitchFamily="18" charset="0"/>
              </a:rPr>
              <a:t>SciPy</a:t>
            </a:r>
          </a:p>
          <a:p>
            <a:pPr marL="285750" indent="-285750">
              <a:lnSpc>
                <a:spcPct val="150000"/>
              </a:lnSpc>
              <a:buClr>
                <a:schemeClr val="accent4">
                  <a:lumMod val="75000"/>
                </a:schemeClr>
              </a:buClr>
              <a:buSzPct val="80000"/>
              <a:buFont typeface="Courier New" panose="02070309020205020404" pitchFamily="49" charset="0"/>
              <a:buChar char="o"/>
            </a:pPr>
            <a:r>
              <a:rPr lang="en-IN" sz="1900" dirty="0">
                <a:latin typeface="Times New Roman" panose="02020603050405020304" pitchFamily="18" charset="0"/>
                <a:cs typeface="Times New Roman" panose="02020603050405020304" pitchFamily="18" charset="0"/>
              </a:rPr>
              <a:t>Scikit-learn</a:t>
            </a:r>
          </a:p>
          <a:p>
            <a:pPr marL="285750" indent="-285750">
              <a:lnSpc>
                <a:spcPct val="150000"/>
              </a:lnSpc>
              <a:buClr>
                <a:schemeClr val="accent4">
                  <a:lumMod val="75000"/>
                </a:schemeClr>
              </a:buClr>
              <a:buSzPct val="80000"/>
              <a:buFont typeface="Courier New" panose="02070309020205020404" pitchFamily="49" charset="0"/>
              <a:buChar char="o"/>
            </a:pPr>
            <a:r>
              <a:rPr lang="en-IN" sz="1900" dirty="0">
                <a:latin typeface="Times New Roman" panose="02020603050405020304" pitchFamily="18" charset="0"/>
                <a:cs typeface="Times New Roman" panose="02020603050405020304" pitchFamily="18" charset="0"/>
              </a:rPr>
              <a:t>Google </a:t>
            </a:r>
            <a:r>
              <a:rPr lang="en-IN" sz="1900" dirty="0" err="1">
                <a:latin typeface="Times New Roman" panose="02020603050405020304" pitchFamily="18" charset="0"/>
                <a:cs typeface="Times New Roman" panose="02020603050405020304" pitchFamily="18" charset="0"/>
              </a:rPr>
              <a:t>Colab</a:t>
            </a:r>
            <a:endParaRPr lang="en-IN" sz="1900" dirty="0">
              <a:latin typeface="Times New Roman" panose="02020603050405020304" pitchFamily="18" charset="0"/>
              <a:cs typeface="Times New Roman" panose="02020603050405020304" pitchFamily="18" charset="0"/>
            </a:endParaRPr>
          </a:p>
        </p:txBody>
      </p:sp>
      <p:pic>
        <p:nvPicPr>
          <p:cNvPr id="2" name="Picture 1">
            <a:extLst>
              <a:ext uri="{FF2B5EF4-FFF2-40B4-BE49-F238E27FC236}">
                <a16:creationId xmlns:a16="http://schemas.microsoft.com/office/drawing/2014/main" id="{FFF1AF9C-4948-44C8-E767-A7698A1EDEA6}"/>
              </a:ext>
            </a:extLst>
          </p:cNvPr>
          <p:cNvPicPr>
            <a:picLocks noChangeAspect="1"/>
          </p:cNvPicPr>
          <p:nvPr/>
        </p:nvPicPr>
        <p:blipFill>
          <a:blip r:embed="rId3"/>
          <a:stretch>
            <a:fillRect/>
          </a:stretch>
        </p:blipFill>
        <p:spPr>
          <a:xfrm flipH="1">
            <a:off x="8387396" y="3652555"/>
            <a:ext cx="1727200" cy="3010024"/>
          </a:xfrm>
          <a:prstGeom prst="rect">
            <a:avLst/>
          </a:prstGeom>
        </p:spPr>
      </p:pic>
    </p:spTree>
    <p:extLst>
      <p:ext uri="{BB962C8B-B14F-4D97-AF65-F5344CB8AC3E}">
        <p14:creationId xmlns:p14="http://schemas.microsoft.com/office/powerpoint/2010/main" val="16876743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BB0C869-7C5C-4070-BD4D-F3FC2DA8F3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AFE3A2AF-177E-45E6-A191-0F8523DB7FFA}"/>
              </a:ext>
            </a:extLst>
          </p:cNvPr>
          <p:cNvSpPr>
            <a:spLocks noGrp="1"/>
          </p:cNvSpPr>
          <p:nvPr>
            <p:ph type="title"/>
          </p:nvPr>
        </p:nvSpPr>
        <p:spPr>
          <a:xfrm>
            <a:off x="501940" y="269240"/>
            <a:ext cx="2981643" cy="830997"/>
          </a:xfrm>
        </p:spPr>
        <p:txBody>
          <a:bodyPr>
            <a:normAutofit/>
          </a:bodyPr>
          <a:lstStyle/>
          <a:p>
            <a:r>
              <a:rPr lang="en-GB" sz="4000" u="sng" dirty="0">
                <a:latin typeface="Times New Roman" panose="02020603050405020304" pitchFamily="18" charset="0"/>
                <a:cs typeface="Times New Roman" panose="02020603050405020304" pitchFamily="18" charset="0"/>
              </a:rPr>
              <a:t>RESULTS </a:t>
            </a:r>
            <a:endParaRPr lang="en-IN" sz="4000" u="sng" dirty="0">
              <a:latin typeface="Times New Roman" panose="02020603050405020304" pitchFamily="18" charset="0"/>
              <a:cs typeface="Times New Roman" panose="02020603050405020304" pitchFamily="18" charset="0"/>
            </a:endParaRPr>
          </a:p>
        </p:txBody>
      </p:sp>
      <p:pic>
        <p:nvPicPr>
          <p:cNvPr id="3" name="Picture 2">
            <a:extLst>
              <a:ext uri="{FF2B5EF4-FFF2-40B4-BE49-F238E27FC236}">
                <a16:creationId xmlns:a16="http://schemas.microsoft.com/office/drawing/2014/main" id="{DA0193AE-01ED-A917-69AF-164EE5A92C09}"/>
              </a:ext>
            </a:extLst>
          </p:cNvPr>
          <p:cNvPicPr>
            <a:picLocks noChangeAspect="1"/>
          </p:cNvPicPr>
          <p:nvPr/>
        </p:nvPicPr>
        <p:blipFill>
          <a:blip r:embed="rId3"/>
          <a:stretch>
            <a:fillRect/>
          </a:stretch>
        </p:blipFill>
        <p:spPr>
          <a:xfrm>
            <a:off x="257175" y="1080221"/>
            <a:ext cx="11706225" cy="2723823"/>
          </a:xfrm>
          <a:prstGeom prst="rect">
            <a:avLst/>
          </a:prstGeom>
        </p:spPr>
      </p:pic>
      <p:sp>
        <p:nvSpPr>
          <p:cNvPr id="9" name="TextBox 8">
            <a:extLst>
              <a:ext uri="{FF2B5EF4-FFF2-40B4-BE49-F238E27FC236}">
                <a16:creationId xmlns:a16="http://schemas.microsoft.com/office/drawing/2014/main" id="{628C5B7C-4D7B-8732-C019-FE1D3C4307B7}"/>
              </a:ext>
            </a:extLst>
          </p:cNvPr>
          <p:cNvSpPr txBox="1"/>
          <p:nvPr/>
        </p:nvSpPr>
        <p:spPr>
          <a:xfrm>
            <a:off x="257175" y="3941137"/>
            <a:ext cx="11706225" cy="2723823"/>
          </a:xfrm>
          <a:prstGeom prst="rect">
            <a:avLst/>
          </a:prstGeom>
          <a:noFill/>
        </p:spPr>
        <p:txBody>
          <a:bodyPr wrap="square">
            <a:spAutoFit/>
          </a:bodyPr>
          <a:lstStyle/>
          <a:p>
            <a:pPr algn="just">
              <a:buNone/>
            </a:pPr>
            <a:r>
              <a:rPr lang="en-US" sz="1900" b="1" u="sng" dirty="0">
                <a:latin typeface="Times New Roman" panose="02020603050405020304" pitchFamily="18" charset="0"/>
                <a:cs typeface="Times New Roman" panose="02020603050405020304" pitchFamily="18" charset="0"/>
              </a:rPr>
              <a:t>Top 5 Rows – Dataset Overview</a:t>
            </a:r>
          </a:p>
          <a:p>
            <a:pPr marL="342900" indent="-342900" algn="just">
              <a:buClr>
                <a:schemeClr val="accent4">
                  <a:lumMod val="75000"/>
                </a:schemeClr>
              </a:buClr>
              <a:buSzPct val="80000"/>
              <a:buFont typeface="Courier New" panose="02070309020205020404" pitchFamily="49" charset="0"/>
              <a:buChar char="o"/>
            </a:pPr>
            <a:r>
              <a:rPr lang="en-US" sz="1900" dirty="0">
                <a:latin typeface="Times New Roman" panose="02020603050405020304" pitchFamily="18" charset="0"/>
                <a:cs typeface="Times New Roman" panose="02020603050405020304" pitchFamily="18" charset="0"/>
              </a:rPr>
              <a:t>The </a:t>
            </a:r>
            <a:r>
              <a:rPr lang="en-US" sz="1900" dirty="0" err="1">
                <a:latin typeface="Times New Roman" panose="02020603050405020304" pitchFamily="18" charset="0"/>
                <a:cs typeface="Times New Roman" panose="02020603050405020304" pitchFamily="18" charset="0"/>
              </a:rPr>
              <a:t>df.head</a:t>
            </a:r>
            <a:r>
              <a:rPr lang="en-US" sz="1900" dirty="0">
                <a:latin typeface="Times New Roman" panose="02020603050405020304" pitchFamily="18" charset="0"/>
                <a:cs typeface="Times New Roman" panose="02020603050405020304" pitchFamily="18" charset="0"/>
              </a:rPr>
              <a:t>(5) command displays the </a:t>
            </a:r>
            <a:r>
              <a:rPr lang="en-US" sz="1900" b="1" dirty="0">
                <a:latin typeface="Times New Roman" panose="02020603050405020304" pitchFamily="18" charset="0"/>
                <a:cs typeface="Times New Roman" panose="02020603050405020304" pitchFamily="18" charset="0"/>
              </a:rPr>
              <a:t>first five records</a:t>
            </a:r>
            <a:r>
              <a:rPr lang="en-US" sz="1900" dirty="0">
                <a:latin typeface="Times New Roman" panose="02020603050405020304" pitchFamily="18" charset="0"/>
                <a:cs typeface="Times New Roman" panose="02020603050405020304" pitchFamily="18" charset="0"/>
              </a:rPr>
              <a:t> of the agricultural dataset to understand its structure and the type of information available. </a:t>
            </a:r>
          </a:p>
          <a:p>
            <a:pPr marL="342900" indent="-342900" algn="just">
              <a:buClr>
                <a:schemeClr val="accent4">
                  <a:lumMod val="75000"/>
                </a:schemeClr>
              </a:buClr>
              <a:buSzPct val="80000"/>
              <a:buFont typeface="Courier New" panose="02070309020205020404" pitchFamily="49" charset="0"/>
              <a:buChar char="o"/>
            </a:pPr>
            <a:r>
              <a:rPr lang="en-US" sz="1900" dirty="0">
                <a:latin typeface="Times New Roman" panose="02020603050405020304" pitchFamily="18" charset="0"/>
                <a:cs typeface="Times New Roman" panose="02020603050405020304" pitchFamily="18" charset="0"/>
              </a:rPr>
              <a:t>Each record represents a </a:t>
            </a:r>
            <a:r>
              <a:rPr lang="en-US" sz="1900" b="1" dirty="0">
                <a:latin typeface="Times New Roman" panose="02020603050405020304" pitchFamily="18" charset="0"/>
                <a:cs typeface="Times New Roman" panose="02020603050405020304" pitchFamily="18" charset="0"/>
              </a:rPr>
              <a:t>farm-level observation</a:t>
            </a:r>
            <a:r>
              <a:rPr lang="en-US" sz="1900" dirty="0">
                <a:latin typeface="Times New Roman" panose="02020603050405020304" pitchFamily="18" charset="0"/>
                <a:cs typeface="Times New Roman" panose="02020603050405020304" pitchFamily="18" charset="0"/>
              </a:rPr>
              <a:t>, containing details such as </a:t>
            </a:r>
            <a:r>
              <a:rPr lang="en-US" sz="1900" b="1" dirty="0">
                <a:latin typeface="Times New Roman" panose="02020603050405020304" pitchFamily="18" charset="0"/>
                <a:cs typeface="Times New Roman" panose="02020603050405020304" pitchFamily="18" charset="0"/>
              </a:rPr>
              <a:t>Farm ID, State, District, Crop, Season, and Farm Area</a:t>
            </a:r>
            <a:r>
              <a:rPr lang="en-US" sz="1900" dirty="0">
                <a:latin typeface="Times New Roman" panose="02020603050405020304" pitchFamily="18" charset="0"/>
                <a:cs typeface="Times New Roman" panose="02020603050405020304" pitchFamily="18" charset="0"/>
              </a:rPr>
              <a:t>. </a:t>
            </a:r>
          </a:p>
          <a:p>
            <a:pPr marL="342900" indent="-342900" algn="just">
              <a:buClr>
                <a:schemeClr val="accent4">
                  <a:lumMod val="75000"/>
                </a:schemeClr>
              </a:buClr>
              <a:buSzPct val="80000"/>
              <a:buFont typeface="Courier New" panose="02070309020205020404" pitchFamily="49" charset="0"/>
              <a:buChar char="o"/>
            </a:pPr>
            <a:r>
              <a:rPr lang="en-US" sz="1900" dirty="0">
                <a:latin typeface="Times New Roman" panose="02020603050405020304" pitchFamily="18" charset="0"/>
                <a:cs typeface="Times New Roman" panose="02020603050405020304" pitchFamily="18" charset="0"/>
              </a:rPr>
              <a:t>The dataset includes important </a:t>
            </a:r>
            <a:r>
              <a:rPr lang="en-US" sz="1900" b="1" dirty="0">
                <a:latin typeface="Times New Roman" panose="02020603050405020304" pitchFamily="18" charset="0"/>
                <a:cs typeface="Times New Roman" panose="02020603050405020304" pitchFamily="18" charset="0"/>
              </a:rPr>
              <a:t>environmental parameters</a:t>
            </a:r>
            <a:r>
              <a:rPr lang="en-US" sz="1900" dirty="0">
                <a:latin typeface="Times New Roman" panose="02020603050405020304" pitchFamily="18" charset="0"/>
                <a:cs typeface="Times New Roman" panose="02020603050405020304" pitchFamily="18" charset="0"/>
              </a:rPr>
              <a:t> such as </a:t>
            </a:r>
            <a:r>
              <a:rPr lang="en-US" sz="1900" b="1" dirty="0">
                <a:latin typeface="Times New Roman" panose="02020603050405020304" pitchFamily="18" charset="0"/>
                <a:cs typeface="Times New Roman" panose="02020603050405020304" pitchFamily="18" charset="0"/>
              </a:rPr>
              <a:t>Rainfall, Average Temperature, Humidity, Sunlight Hours, and Soil pH</a:t>
            </a:r>
            <a:r>
              <a:rPr lang="en-US" sz="1900" dirty="0">
                <a:latin typeface="Times New Roman" panose="02020603050405020304" pitchFamily="18" charset="0"/>
                <a:cs typeface="Times New Roman" panose="02020603050405020304" pitchFamily="18" charset="0"/>
              </a:rPr>
              <a:t>, which help analyze seasonal agricultural conditions. </a:t>
            </a:r>
          </a:p>
          <a:p>
            <a:pPr marL="342900" indent="-342900" algn="just">
              <a:buClr>
                <a:schemeClr val="accent4">
                  <a:lumMod val="75000"/>
                </a:schemeClr>
              </a:buClr>
              <a:buSzPct val="80000"/>
              <a:buFont typeface="Courier New" panose="02070309020205020404" pitchFamily="49" charset="0"/>
              <a:buChar char="o"/>
            </a:pPr>
            <a:r>
              <a:rPr lang="en-US" sz="1900" dirty="0">
                <a:latin typeface="Times New Roman" panose="02020603050405020304" pitchFamily="18" charset="0"/>
                <a:cs typeface="Times New Roman" panose="02020603050405020304" pitchFamily="18" charset="0"/>
              </a:rPr>
              <a:t>From these sample records, we can see different </a:t>
            </a:r>
            <a:r>
              <a:rPr lang="en-US" sz="1900" b="1" dirty="0">
                <a:latin typeface="Times New Roman" panose="02020603050405020304" pitchFamily="18" charset="0"/>
                <a:cs typeface="Times New Roman" panose="02020603050405020304" pitchFamily="18" charset="0"/>
              </a:rPr>
              <a:t>crops and seasons</a:t>
            </a:r>
            <a:r>
              <a:rPr lang="en-US" sz="1900" dirty="0">
                <a:latin typeface="Times New Roman" panose="02020603050405020304" pitchFamily="18" charset="0"/>
                <a:cs typeface="Times New Roman" panose="02020603050405020304" pitchFamily="18" charset="0"/>
              </a:rPr>
              <a:t> such as Wheat–Kharif, Maize–Kharif, Pulses–Rabi, Rice–Kharif, and Maize–Zaid across different regions.</a:t>
            </a:r>
          </a:p>
        </p:txBody>
      </p:sp>
    </p:spTree>
    <p:extLst>
      <p:ext uri="{BB962C8B-B14F-4D97-AF65-F5344CB8AC3E}">
        <p14:creationId xmlns:p14="http://schemas.microsoft.com/office/powerpoint/2010/main" val="10862254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584CF8-10DC-9666-674B-B1BB525B94DA}"/>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F3F3A6A2-85DA-08AF-CD38-2674B244DD52}"/>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85FDC750-8708-4016-220B-7905A6BE5F3A}"/>
              </a:ext>
            </a:extLst>
          </p:cNvPr>
          <p:cNvSpPr>
            <a:spLocks noGrp="1"/>
          </p:cNvSpPr>
          <p:nvPr>
            <p:ph type="title"/>
          </p:nvPr>
        </p:nvSpPr>
        <p:spPr>
          <a:xfrm>
            <a:off x="501940" y="269240"/>
            <a:ext cx="2981643" cy="830997"/>
          </a:xfrm>
        </p:spPr>
        <p:txBody>
          <a:bodyPr>
            <a:normAutofit/>
          </a:bodyPr>
          <a:lstStyle/>
          <a:p>
            <a:r>
              <a:rPr lang="en-GB" sz="4000" u="sng" dirty="0">
                <a:latin typeface="Times New Roman" panose="02020603050405020304" pitchFamily="18" charset="0"/>
                <a:cs typeface="Times New Roman" panose="02020603050405020304" pitchFamily="18" charset="0"/>
              </a:rPr>
              <a:t>RESULTS </a:t>
            </a:r>
            <a:endParaRPr lang="en-IN" sz="4000" u="sng" dirty="0">
              <a:latin typeface="Times New Roman" panose="02020603050405020304" pitchFamily="18" charset="0"/>
              <a:cs typeface="Times New Roman" panose="02020603050405020304" pitchFamily="18" charset="0"/>
            </a:endParaRPr>
          </a:p>
        </p:txBody>
      </p:sp>
      <p:sp>
        <p:nvSpPr>
          <p:cNvPr id="9" name="TextBox 8">
            <a:extLst>
              <a:ext uri="{FF2B5EF4-FFF2-40B4-BE49-F238E27FC236}">
                <a16:creationId xmlns:a16="http://schemas.microsoft.com/office/drawing/2014/main" id="{046AFBF6-0B3C-7AB2-9B70-DBECCA736D3D}"/>
              </a:ext>
            </a:extLst>
          </p:cNvPr>
          <p:cNvSpPr txBox="1"/>
          <p:nvPr/>
        </p:nvSpPr>
        <p:spPr>
          <a:xfrm>
            <a:off x="257175" y="3941137"/>
            <a:ext cx="11706225" cy="2431435"/>
          </a:xfrm>
          <a:prstGeom prst="rect">
            <a:avLst/>
          </a:prstGeom>
          <a:noFill/>
        </p:spPr>
        <p:txBody>
          <a:bodyPr wrap="square">
            <a:spAutoFit/>
          </a:bodyPr>
          <a:lstStyle/>
          <a:p>
            <a:pPr algn="just"/>
            <a:r>
              <a:rPr lang="en-US" sz="1900" b="1" u="sng" dirty="0">
                <a:latin typeface="Times New Roman" panose="02020603050405020304" pitchFamily="18" charset="0"/>
                <a:cs typeface="Times New Roman" panose="02020603050405020304" pitchFamily="18" charset="0"/>
              </a:rPr>
              <a:t>Bottom 5 Rows – Dataset Overview</a:t>
            </a:r>
          </a:p>
          <a:p>
            <a:pPr marL="342900" indent="-342900" algn="just">
              <a:buClr>
                <a:schemeClr val="accent4">
                  <a:lumMod val="75000"/>
                </a:schemeClr>
              </a:buClr>
              <a:buSzPct val="80000"/>
              <a:buFont typeface="Courier New" panose="02070309020205020404" pitchFamily="49" charset="0"/>
              <a:buChar char="o"/>
            </a:pPr>
            <a:r>
              <a:rPr lang="en-US" sz="1900" dirty="0">
                <a:latin typeface="Times New Roman" panose="02020603050405020304" pitchFamily="18" charset="0"/>
                <a:cs typeface="Times New Roman" panose="02020603050405020304" pitchFamily="18" charset="0"/>
              </a:rPr>
              <a:t>The </a:t>
            </a:r>
            <a:r>
              <a:rPr lang="en-US" sz="1900" dirty="0" err="1">
                <a:latin typeface="Times New Roman" panose="02020603050405020304" pitchFamily="18" charset="0"/>
                <a:cs typeface="Times New Roman" panose="02020603050405020304" pitchFamily="18" charset="0"/>
              </a:rPr>
              <a:t>df.tail</a:t>
            </a:r>
            <a:r>
              <a:rPr lang="en-US" sz="1900" dirty="0">
                <a:latin typeface="Times New Roman" panose="02020603050405020304" pitchFamily="18" charset="0"/>
                <a:cs typeface="Times New Roman" panose="02020603050405020304" pitchFamily="18" charset="0"/>
              </a:rPr>
              <a:t>(5) command displays the </a:t>
            </a:r>
            <a:r>
              <a:rPr lang="en-US" sz="1900" b="1" dirty="0">
                <a:latin typeface="Times New Roman" panose="02020603050405020304" pitchFamily="18" charset="0"/>
                <a:cs typeface="Times New Roman" panose="02020603050405020304" pitchFamily="18" charset="0"/>
              </a:rPr>
              <a:t>last five records</a:t>
            </a:r>
            <a:r>
              <a:rPr lang="en-US" sz="1900" dirty="0">
                <a:latin typeface="Times New Roman" panose="02020603050405020304" pitchFamily="18" charset="0"/>
                <a:cs typeface="Times New Roman" panose="02020603050405020304" pitchFamily="18" charset="0"/>
              </a:rPr>
              <a:t> of the dataset to verify the ending portion of the data. </a:t>
            </a:r>
          </a:p>
          <a:p>
            <a:pPr marL="342900" indent="-342900" algn="just">
              <a:buClr>
                <a:schemeClr val="accent4">
                  <a:lumMod val="75000"/>
                </a:schemeClr>
              </a:buClr>
              <a:buSzPct val="80000"/>
              <a:buFont typeface="Courier New" panose="02070309020205020404" pitchFamily="49" charset="0"/>
              <a:buChar char="o"/>
            </a:pPr>
            <a:r>
              <a:rPr lang="en-US" sz="1900" dirty="0">
                <a:latin typeface="Times New Roman" panose="02020603050405020304" pitchFamily="18" charset="0"/>
                <a:cs typeface="Times New Roman" panose="02020603050405020304" pitchFamily="18" charset="0"/>
              </a:rPr>
              <a:t>These records show farms from different </a:t>
            </a:r>
            <a:r>
              <a:rPr lang="en-US" sz="1900" b="1" dirty="0">
                <a:latin typeface="Times New Roman" panose="02020603050405020304" pitchFamily="18" charset="0"/>
                <a:cs typeface="Times New Roman" panose="02020603050405020304" pitchFamily="18" charset="0"/>
              </a:rPr>
              <a:t>states and districts</a:t>
            </a:r>
            <a:r>
              <a:rPr lang="en-US" sz="1900" dirty="0">
                <a:latin typeface="Times New Roman" panose="02020603050405020304" pitchFamily="18" charset="0"/>
                <a:cs typeface="Times New Roman" panose="02020603050405020304" pitchFamily="18" charset="0"/>
              </a:rPr>
              <a:t>, with crops such as </a:t>
            </a:r>
            <a:r>
              <a:rPr lang="en-US" sz="1900" b="1" dirty="0">
                <a:latin typeface="Times New Roman" panose="02020603050405020304" pitchFamily="18" charset="0"/>
                <a:cs typeface="Times New Roman" panose="02020603050405020304" pitchFamily="18" charset="0"/>
              </a:rPr>
              <a:t>Wheat, Chilli, Pulses, and Cotton</a:t>
            </a:r>
            <a:r>
              <a:rPr lang="en-US" sz="1900" dirty="0">
                <a:latin typeface="Times New Roman" panose="02020603050405020304" pitchFamily="18" charset="0"/>
                <a:cs typeface="Times New Roman" panose="02020603050405020304" pitchFamily="18" charset="0"/>
              </a:rPr>
              <a:t> across </a:t>
            </a:r>
            <a:r>
              <a:rPr lang="en-US" sz="1900" b="1" dirty="0">
                <a:latin typeface="Times New Roman" panose="02020603050405020304" pitchFamily="18" charset="0"/>
                <a:cs typeface="Times New Roman" panose="02020603050405020304" pitchFamily="18" charset="0"/>
              </a:rPr>
              <a:t>Kharif and Zaid</a:t>
            </a:r>
            <a:r>
              <a:rPr lang="en-US" sz="1900" dirty="0">
                <a:latin typeface="Times New Roman" panose="02020603050405020304" pitchFamily="18" charset="0"/>
                <a:cs typeface="Times New Roman" panose="02020603050405020304" pitchFamily="18" charset="0"/>
              </a:rPr>
              <a:t> seasons. </a:t>
            </a:r>
          </a:p>
          <a:p>
            <a:pPr marL="342900" indent="-342900" algn="just">
              <a:buClr>
                <a:schemeClr val="accent4">
                  <a:lumMod val="75000"/>
                </a:schemeClr>
              </a:buClr>
              <a:buSzPct val="80000"/>
              <a:buFont typeface="Courier New" panose="02070309020205020404" pitchFamily="49" charset="0"/>
              <a:buChar char="o"/>
            </a:pPr>
            <a:r>
              <a:rPr lang="en-US" sz="1900" dirty="0">
                <a:latin typeface="Times New Roman" panose="02020603050405020304" pitchFamily="18" charset="0"/>
                <a:cs typeface="Times New Roman" panose="02020603050405020304" pitchFamily="18" charset="0"/>
              </a:rPr>
              <a:t>The rows contain important agricultural and environmental information, including </a:t>
            </a:r>
            <a:r>
              <a:rPr lang="en-US" sz="1900" b="1" dirty="0">
                <a:latin typeface="Times New Roman" panose="02020603050405020304" pitchFamily="18" charset="0"/>
                <a:cs typeface="Times New Roman" panose="02020603050405020304" pitchFamily="18" charset="0"/>
              </a:rPr>
              <a:t>farm area, rainfall, temperature, humidity, sunlight hours, and soil </a:t>
            </a:r>
            <a:r>
              <a:rPr lang="en-US" sz="1900" b="1" dirty="0" err="1">
                <a:latin typeface="Times New Roman" panose="02020603050405020304" pitchFamily="18" charset="0"/>
                <a:cs typeface="Times New Roman" panose="02020603050405020304" pitchFamily="18" charset="0"/>
              </a:rPr>
              <a:t>pH</a:t>
            </a:r>
            <a:r>
              <a:rPr lang="en-US" sz="1900" dirty="0" err="1">
                <a:latin typeface="Times New Roman" panose="02020603050405020304" pitchFamily="18" charset="0"/>
                <a:cs typeface="Times New Roman" panose="02020603050405020304" pitchFamily="18" charset="0"/>
              </a:rPr>
              <a:t>.</a:t>
            </a:r>
            <a:r>
              <a:rPr lang="en-US" sz="1900" dirty="0">
                <a:latin typeface="Times New Roman" panose="02020603050405020304" pitchFamily="18" charset="0"/>
                <a:cs typeface="Times New Roman" panose="02020603050405020304" pitchFamily="18" charset="0"/>
              </a:rPr>
              <a:t> </a:t>
            </a:r>
          </a:p>
          <a:p>
            <a:pPr marL="342900" indent="-342900" algn="just">
              <a:buClr>
                <a:schemeClr val="accent4">
                  <a:lumMod val="75000"/>
                </a:schemeClr>
              </a:buClr>
              <a:buSzPct val="80000"/>
              <a:buFont typeface="Courier New" panose="02070309020205020404" pitchFamily="49" charset="0"/>
              <a:buChar char="o"/>
            </a:pPr>
            <a:r>
              <a:rPr lang="en-US" sz="1900" dirty="0">
                <a:latin typeface="Times New Roman" panose="02020603050405020304" pitchFamily="18" charset="0"/>
                <a:cs typeface="Times New Roman" panose="02020603050405020304" pitchFamily="18" charset="0"/>
              </a:rPr>
              <a:t>The final record has </a:t>
            </a:r>
            <a:r>
              <a:rPr lang="en-US" sz="1900" b="1" dirty="0">
                <a:latin typeface="Times New Roman" panose="02020603050405020304" pitchFamily="18" charset="0"/>
                <a:cs typeface="Times New Roman" panose="02020603050405020304" pitchFamily="18" charset="0"/>
              </a:rPr>
              <a:t>Farm ID SF14000</a:t>
            </a:r>
            <a:r>
              <a:rPr lang="en-US" sz="1900" dirty="0">
                <a:latin typeface="Times New Roman" panose="02020603050405020304" pitchFamily="18" charset="0"/>
                <a:cs typeface="Times New Roman" panose="02020603050405020304" pitchFamily="18" charset="0"/>
              </a:rPr>
              <a:t>, confirming that the dataset contains </a:t>
            </a:r>
            <a:r>
              <a:rPr lang="en-US" sz="1900" b="1" dirty="0">
                <a:latin typeface="Times New Roman" panose="02020603050405020304" pitchFamily="18" charset="0"/>
                <a:cs typeface="Times New Roman" panose="02020603050405020304" pitchFamily="18" charset="0"/>
              </a:rPr>
              <a:t>4,000 records</a:t>
            </a:r>
            <a:r>
              <a:rPr lang="en-US" sz="1900" dirty="0">
                <a:latin typeface="Times New Roman" panose="02020603050405020304" pitchFamily="18" charset="0"/>
                <a:cs typeface="Times New Roman" panose="02020603050405020304" pitchFamily="18" charset="0"/>
              </a:rPr>
              <a:t>, indexed from </a:t>
            </a:r>
            <a:r>
              <a:rPr lang="en-US" sz="1900" b="1" dirty="0">
                <a:latin typeface="Times New Roman" panose="02020603050405020304" pitchFamily="18" charset="0"/>
                <a:cs typeface="Times New Roman" panose="02020603050405020304" pitchFamily="18" charset="0"/>
              </a:rPr>
              <a:t>0 to 3999</a:t>
            </a:r>
            <a:r>
              <a:rPr lang="en-US" sz="1900" dirty="0">
                <a:latin typeface="Times New Roman" panose="02020603050405020304" pitchFamily="18" charset="0"/>
                <a:cs typeface="Times New Roman" panose="02020603050405020304" pitchFamily="18" charset="0"/>
              </a:rPr>
              <a:t>.</a:t>
            </a:r>
          </a:p>
        </p:txBody>
      </p:sp>
      <p:pic>
        <p:nvPicPr>
          <p:cNvPr id="2" name="Picture 1">
            <a:extLst>
              <a:ext uri="{FF2B5EF4-FFF2-40B4-BE49-F238E27FC236}">
                <a16:creationId xmlns:a16="http://schemas.microsoft.com/office/drawing/2014/main" id="{86B700D9-2E44-21F3-F3BB-77165358B6BD}"/>
              </a:ext>
            </a:extLst>
          </p:cNvPr>
          <p:cNvPicPr>
            <a:picLocks noChangeAspect="1"/>
          </p:cNvPicPr>
          <p:nvPr/>
        </p:nvPicPr>
        <p:blipFill>
          <a:blip r:embed="rId3"/>
          <a:stretch>
            <a:fillRect/>
          </a:stretch>
        </p:blipFill>
        <p:spPr>
          <a:xfrm>
            <a:off x="257175" y="1100237"/>
            <a:ext cx="11706225" cy="2723823"/>
          </a:xfrm>
          <a:prstGeom prst="rect">
            <a:avLst/>
          </a:prstGeom>
        </p:spPr>
      </p:pic>
    </p:spTree>
    <p:extLst>
      <p:ext uri="{BB962C8B-B14F-4D97-AF65-F5344CB8AC3E}">
        <p14:creationId xmlns:p14="http://schemas.microsoft.com/office/powerpoint/2010/main" val="5626638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A69EB6-6CCB-9696-0D70-E1F93929B8A1}"/>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6B64C3AA-D29E-43DB-3012-C7223F2D043E}"/>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2A068868-B91C-D2CD-C65A-DF6C32400B71}"/>
              </a:ext>
            </a:extLst>
          </p:cNvPr>
          <p:cNvSpPr>
            <a:spLocks noGrp="1"/>
          </p:cNvSpPr>
          <p:nvPr>
            <p:ph type="title"/>
          </p:nvPr>
        </p:nvSpPr>
        <p:spPr>
          <a:xfrm>
            <a:off x="501940" y="269240"/>
            <a:ext cx="2981643" cy="830997"/>
          </a:xfrm>
        </p:spPr>
        <p:txBody>
          <a:bodyPr>
            <a:normAutofit/>
          </a:bodyPr>
          <a:lstStyle/>
          <a:p>
            <a:r>
              <a:rPr lang="en-GB" sz="4000" u="sng" dirty="0">
                <a:latin typeface="Times New Roman" panose="02020603050405020304" pitchFamily="18" charset="0"/>
                <a:cs typeface="Times New Roman" panose="02020603050405020304" pitchFamily="18" charset="0"/>
              </a:rPr>
              <a:t>RESULTS </a:t>
            </a:r>
            <a:endParaRPr lang="en-IN" sz="4000" u="sng" dirty="0">
              <a:latin typeface="Times New Roman" panose="02020603050405020304" pitchFamily="18" charset="0"/>
              <a:cs typeface="Times New Roman" panose="02020603050405020304" pitchFamily="18" charset="0"/>
            </a:endParaRPr>
          </a:p>
        </p:txBody>
      </p:sp>
      <p:sp>
        <p:nvSpPr>
          <p:cNvPr id="7" name="Text Placeholder 30">
            <a:extLst>
              <a:ext uri="{FF2B5EF4-FFF2-40B4-BE49-F238E27FC236}">
                <a16:creationId xmlns:a16="http://schemas.microsoft.com/office/drawing/2014/main" id="{EFA9525E-BAC8-950D-0C0F-3F296E4B7DA3}"/>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DA366F9A-3AD9-DCD4-F55A-C0405D73DC6D}"/>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9" name="Picture 8">
            <a:extLst>
              <a:ext uri="{FF2B5EF4-FFF2-40B4-BE49-F238E27FC236}">
                <a16:creationId xmlns:a16="http://schemas.microsoft.com/office/drawing/2014/main" id="{C4566679-11C1-8F49-68BD-8347A1B5B0B3}"/>
              </a:ext>
            </a:extLst>
          </p:cNvPr>
          <p:cNvPicPr>
            <a:picLocks noChangeAspect="1"/>
          </p:cNvPicPr>
          <p:nvPr/>
        </p:nvPicPr>
        <p:blipFill>
          <a:blip r:embed="rId3"/>
          <a:stretch>
            <a:fillRect/>
          </a:stretch>
        </p:blipFill>
        <p:spPr>
          <a:xfrm>
            <a:off x="5793533" y="1086902"/>
            <a:ext cx="6172735" cy="5578058"/>
          </a:xfrm>
          <a:prstGeom prst="rect">
            <a:avLst/>
          </a:prstGeom>
        </p:spPr>
      </p:pic>
      <p:sp>
        <p:nvSpPr>
          <p:cNvPr id="11" name="TextBox 10">
            <a:extLst>
              <a:ext uri="{FF2B5EF4-FFF2-40B4-BE49-F238E27FC236}">
                <a16:creationId xmlns:a16="http://schemas.microsoft.com/office/drawing/2014/main" id="{ED3AFCF7-C2F2-5E0C-C54E-EC0D23A8E9BD}"/>
              </a:ext>
            </a:extLst>
          </p:cNvPr>
          <p:cNvSpPr txBox="1"/>
          <p:nvPr/>
        </p:nvSpPr>
        <p:spPr>
          <a:xfrm>
            <a:off x="320982" y="1086902"/>
            <a:ext cx="5377301" cy="5647700"/>
          </a:xfrm>
          <a:prstGeom prst="rect">
            <a:avLst/>
          </a:prstGeom>
          <a:noFill/>
        </p:spPr>
        <p:txBody>
          <a:bodyPr wrap="square">
            <a:spAutoFit/>
          </a:bodyPr>
          <a:lstStyle/>
          <a:p>
            <a:pPr>
              <a:buNone/>
            </a:pPr>
            <a:r>
              <a:rPr lang="en-US" sz="1900" b="1" u="sng" dirty="0">
                <a:latin typeface="Times New Roman" panose="02020603050405020304" pitchFamily="18" charset="0"/>
                <a:cs typeface="Times New Roman" panose="02020603050405020304" pitchFamily="18" charset="0"/>
              </a:rPr>
              <a:t>Data Quality Assessment</a:t>
            </a:r>
          </a:p>
          <a:p>
            <a:pPr marL="342900" indent="-342900" algn="just">
              <a:buClr>
                <a:schemeClr val="accent4">
                  <a:lumMod val="75000"/>
                </a:schemeClr>
              </a:buClr>
              <a:buSzPct val="80000"/>
              <a:buFont typeface="Courier New" panose="02070309020205020404" pitchFamily="49" charset="0"/>
              <a:buChar char="o"/>
            </a:pPr>
            <a:r>
              <a:rPr lang="en-US" sz="1900" b="1" dirty="0">
                <a:latin typeface="Times New Roman" panose="02020603050405020304" pitchFamily="18" charset="0"/>
                <a:cs typeface="Times New Roman" panose="02020603050405020304" pitchFamily="18" charset="0"/>
              </a:rPr>
              <a:t>Missing Values:</a:t>
            </a:r>
            <a:r>
              <a:rPr lang="en-US" sz="1900" dirty="0">
                <a:latin typeface="Times New Roman" panose="02020603050405020304" pitchFamily="18" charset="0"/>
                <a:cs typeface="Times New Roman" panose="02020603050405020304" pitchFamily="18" charset="0"/>
              </a:rPr>
              <a:t> The dataset contains missing values in only three columns — </a:t>
            </a:r>
            <a:r>
              <a:rPr lang="en-US" sz="1900" dirty="0" err="1">
                <a:latin typeface="Times New Roman" panose="02020603050405020304" pitchFamily="18" charset="0"/>
                <a:cs typeface="Times New Roman" panose="02020603050405020304" pitchFamily="18" charset="0"/>
              </a:rPr>
              <a:t>Rainfall_mm</a:t>
            </a:r>
            <a:r>
              <a:rPr lang="en-US" sz="1900" dirty="0">
                <a:latin typeface="Times New Roman" panose="02020603050405020304" pitchFamily="18" charset="0"/>
                <a:cs typeface="Times New Roman" panose="02020603050405020304" pitchFamily="18" charset="0"/>
              </a:rPr>
              <a:t> (</a:t>
            </a:r>
            <a:r>
              <a:rPr lang="en-US" sz="1900" b="1" dirty="0">
                <a:latin typeface="Times New Roman" panose="02020603050405020304" pitchFamily="18" charset="0"/>
                <a:cs typeface="Times New Roman" panose="02020603050405020304" pitchFamily="18" charset="0"/>
              </a:rPr>
              <a:t>48 / 1.20%</a:t>
            </a:r>
            <a:r>
              <a:rPr lang="en-US" sz="1900" dirty="0">
                <a:latin typeface="Times New Roman" panose="02020603050405020304" pitchFamily="18" charset="0"/>
                <a:cs typeface="Times New Roman" panose="02020603050405020304" pitchFamily="18" charset="0"/>
              </a:rPr>
              <a:t>), </a:t>
            </a:r>
            <a:r>
              <a:rPr lang="en-US" sz="1900" dirty="0" err="1">
                <a:latin typeface="Times New Roman" panose="02020603050405020304" pitchFamily="18" charset="0"/>
                <a:cs typeface="Times New Roman" panose="02020603050405020304" pitchFamily="18" charset="0"/>
              </a:rPr>
              <a:t>Soil_Moisture_pct</a:t>
            </a:r>
            <a:r>
              <a:rPr lang="en-US" sz="1900" dirty="0">
                <a:latin typeface="Times New Roman" panose="02020603050405020304" pitchFamily="18" charset="0"/>
                <a:cs typeface="Times New Roman" panose="02020603050405020304" pitchFamily="18" charset="0"/>
              </a:rPr>
              <a:t> (</a:t>
            </a:r>
            <a:r>
              <a:rPr lang="en-US" sz="1900" b="1" dirty="0">
                <a:latin typeface="Times New Roman" panose="02020603050405020304" pitchFamily="18" charset="0"/>
                <a:cs typeface="Times New Roman" panose="02020603050405020304" pitchFamily="18" charset="0"/>
              </a:rPr>
              <a:t>40 / 1.00%</a:t>
            </a:r>
            <a:r>
              <a:rPr lang="en-US" sz="1900" dirty="0">
                <a:latin typeface="Times New Roman" panose="02020603050405020304" pitchFamily="18" charset="0"/>
                <a:cs typeface="Times New Roman" panose="02020603050405020304" pitchFamily="18" charset="0"/>
              </a:rPr>
              <a:t>), and </a:t>
            </a:r>
            <a:r>
              <a:rPr lang="en-US" sz="1900" dirty="0" err="1">
                <a:latin typeface="Times New Roman" panose="02020603050405020304" pitchFamily="18" charset="0"/>
                <a:cs typeface="Times New Roman" panose="02020603050405020304" pitchFamily="18" charset="0"/>
              </a:rPr>
              <a:t>Yield_Tonnes_Ha</a:t>
            </a:r>
            <a:r>
              <a:rPr lang="en-US" sz="1900" dirty="0">
                <a:latin typeface="Times New Roman" panose="02020603050405020304" pitchFamily="18" charset="0"/>
                <a:cs typeface="Times New Roman" panose="02020603050405020304" pitchFamily="18" charset="0"/>
              </a:rPr>
              <a:t> (</a:t>
            </a:r>
            <a:r>
              <a:rPr lang="en-US" sz="1900" b="1" dirty="0">
                <a:latin typeface="Times New Roman" panose="02020603050405020304" pitchFamily="18" charset="0"/>
                <a:cs typeface="Times New Roman" panose="02020603050405020304" pitchFamily="18" charset="0"/>
              </a:rPr>
              <a:t>32 / 0.80%</a:t>
            </a:r>
            <a:r>
              <a:rPr lang="en-US" sz="1900" dirty="0">
                <a:latin typeface="Times New Roman" panose="02020603050405020304" pitchFamily="18" charset="0"/>
                <a:cs typeface="Times New Roman" panose="02020603050405020304" pitchFamily="18" charset="0"/>
              </a:rPr>
              <a:t>). Other displayed columns have no missing values. </a:t>
            </a:r>
          </a:p>
          <a:p>
            <a:pPr marL="342900" indent="-342900" algn="just">
              <a:buClr>
                <a:schemeClr val="accent4">
                  <a:lumMod val="75000"/>
                </a:schemeClr>
              </a:buClr>
              <a:buSzPct val="80000"/>
              <a:buFont typeface="Courier New" panose="02070309020205020404" pitchFamily="49" charset="0"/>
              <a:buChar char="o"/>
            </a:pPr>
            <a:r>
              <a:rPr lang="en-US" sz="1900" b="1" dirty="0">
                <a:latin typeface="Times New Roman" panose="02020603050405020304" pitchFamily="18" charset="0"/>
                <a:cs typeface="Times New Roman" panose="02020603050405020304" pitchFamily="18" charset="0"/>
              </a:rPr>
              <a:t>Unique Values:</a:t>
            </a:r>
            <a:r>
              <a:rPr lang="en-US" sz="1900" dirty="0">
                <a:latin typeface="Times New Roman" panose="02020603050405020304" pitchFamily="18" charset="0"/>
                <a:cs typeface="Times New Roman" panose="02020603050405020304" pitchFamily="18" charset="0"/>
              </a:rPr>
              <a:t> </a:t>
            </a:r>
            <a:r>
              <a:rPr lang="en-US" sz="1900" dirty="0" err="1">
                <a:latin typeface="Times New Roman" panose="02020603050405020304" pitchFamily="18" charset="0"/>
                <a:cs typeface="Times New Roman" panose="02020603050405020304" pitchFamily="18" charset="0"/>
              </a:rPr>
              <a:t>Farm_ID</a:t>
            </a:r>
            <a:r>
              <a:rPr lang="en-US" sz="1900" dirty="0">
                <a:latin typeface="Times New Roman" panose="02020603050405020304" pitchFamily="18" charset="0"/>
                <a:cs typeface="Times New Roman" panose="02020603050405020304" pitchFamily="18" charset="0"/>
              </a:rPr>
              <a:t> contains </a:t>
            </a:r>
            <a:r>
              <a:rPr lang="en-US" sz="1900" b="1" dirty="0">
                <a:latin typeface="Times New Roman" panose="02020603050405020304" pitchFamily="18" charset="0"/>
                <a:cs typeface="Times New Roman" panose="02020603050405020304" pitchFamily="18" charset="0"/>
              </a:rPr>
              <a:t>4,000 unique values</a:t>
            </a:r>
            <a:r>
              <a:rPr lang="en-US" sz="1900" dirty="0">
                <a:latin typeface="Times New Roman" panose="02020603050405020304" pitchFamily="18" charset="0"/>
                <a:cs typeface="Times New Roman" panose="02020603050405020304" pitchFamily="18" charset="0"/>
              </a:rPr>
              <a:t>, while categorical fields such as Crop, Season, State, and District contain a limited number of unique categories. </a:t>
            </a:r>
          </a:p>
          <a:p>
            <a:pPr marL="342900" indent="-342900" algn="just">
              <a:buClr>
                <a:schemeClr val="accent4">
                  <a:lumMod val="75000"/>
                </a:schemeClr>
              </a:buClr>
              <a:buSzPct val="80000"/>
              <a:buFont typeface="Courier New" panose="02070309020205020404" pitchFamily="49" charset="0"/>
              <a:buChar char="o"/>
            </a:pPr>
            <a:r>
              <a:rPr lang="en-US" sz="1900" b="1" dirty="0">
                <a:latin typeface="Times New Roman" panose="02020603050405020304" pitchFamily="18" charset="0"/>
                <a:cs typeface="Times New Roman" panose="02020603050405020304" pitchFamily="18" charset="0"/>
              </a:rPr>
              <a:t>Data Types:</a:t>
            </a:r>
            <a:r>
              <a:rPr lang="en-US" sz="1900" dirty="0">
                <a:latin typeface="Times New Roman" panose="02020603050405020304" pitchFamily="18" charset="0"/>
                <a:cs typeface="Times New Roman" panose="02020603050405020304" pitchFamily="18" charset="0"/>
              </a:rPr>
              <a:t> The dataset contains both </a:t>
            </a:r>
            <a:r>
              <a:rPr lang="en-US" sz="1900" b="1" dirty="0">
                <a:latin typeface="Times New Roman" panose="02020603050405020304" pitchFamily="18" charset="0"/>
                <a:cs typeface="Times New Roman" panose="02020603050405020304" pitchFamily="18" charset="0"/>
              </a:rPr>
              <a:t>numerical variables</a:t>
            </a:r>
            <a:r>
              <a:rPr lang="en-US" sz="1900" dirty="0">
                <a:latin typeface="Times New Roman" panose="02020603050405020304" pitchFamily="18" charset="0"/>
                <a:cs typeface="Times New Roman" panose="02020603050405020304" pitchFamily="18" charset="0"/>
              </a:rPr>
              <a:t> such as rainfall, soil moisture, farm area and yield, and </a:t>
            </a:r>
            <a:r>
              <a:rPr lang="en-US" sz="1900" b="1" dirty="0">
                <a:latin typeface="Times New Roman" panose="02020603050405020304" pitchFamily="18" charset="0"/>
                <a:cs typeface="Times New Roman" panose="02020603050405020304" pitchFamily="18" charset="0"/>
              </a:rPr>
              <a:t>categorical variables</a:t>
            </a:r>
            <a:r>
              <a:rPr lang="en-US" sz="1900" dirty="0">
                <a:latin typeface="Times New Roman" panose="02020603050405020304" pitchFamily="18" charset="0"/>
                <a:cs typeface="Times New Roman" panose="02020603050405020304" pitchFamily="18" charset="0"/>
              </a:rPr>
              <a:t> such as state, district, crop and season. </a:t>
            </a:r>
          </a:p>
          <a:p>
            <a:pPr marL="342900" indent="-342900" algn="just">
              <a:buClr>
                <a:schemeClr val="accent4">
                  <a:lumMod val="75000"/>
                </a:schemeClr>
              </a:buClr>
              <a:buSzPct val="80000"/>
              <a:buFont typeface="Courier New" panose="02070309020205020404" pitchFamily="49" charset="0"/>
              <a:buChar char="o"/>
            </a:pPr>
            <a:r>
              <a:rPr lang="en-US" sz="1900" b="1" dirty="0">
                <a:latin typeface="Times New Roman" panose="02020603050405020304" pitchFamily="18" charset="0"/>
                <a:cs typeface="Times New Roman" panose="02020603050405020304" pitchFamily="18" charset="0"/>
              </a:rPr>
              <a:t>Duplicate Check:</a:t>
            </a:r>
            <a:r>
              <a:rPr lang="en-US" sz="1900" dirty="0">
                <a:latin typeface="Times New Roman" panose="02020603050405020304" pitchFamily="18" charset="0"/>
                <a:cs typeface="Times New Roman" panose="02020603050405020304" pitchFamily="18" charset="0"/>
              </a:rPr>
              <a:t> The code also checks for </a:t>
            </a:r>
            <a:r>
              <a:rPr lang="en-US" sz="1900" b="1" dirty="0">
                <a:latin typeface="Times New Roman" panose="02020603050405020304" pitchFamily="18" charset="0"/>
                <a:cs typeface="Times New Roman" panose="02020603050405020304" pitchFamily="18" charset="0"/>
              </a:rPr>
              <a:t>exact duplicate rows</a:t>
            </a:r>
            <a:r>
              <a:rPr lang="en-US" sz="1900" dirty="0">
                <a:latin typeface="Times New Roman" panose="02020603050405020304" pitchFamily="18" charset="0"/>
                <a:cs typeface="Times New Roman" panose="02020603050405020304" pitchFamily="18" charset="0"/>
              </a:rPr>
              <a:t> and </a:t>
            </a:r>
            <a:r>
              <a:rPr lang="en-US" sz="1900" b="1" dirty="0">
                <a:latin typeface="Times New Roman" panose="02020603050405020304" pitchFamily="18" charset="0"/>
                <a:cs typeface="Times New Roman" panose="02020603050405020304" pitchFamily="18" charset="0"/>
              </a:rPr>
              <a:t>duplicate </a:t>
            </a:r>
            <a:r>
              <a:rPr lang="en-US" sz="1900" b="1" dirty="0" err="1">
                <a:latin typeface="Times New Roman" panose="02020603050405020304" pitchFamily="18" charset="0"/>
                <a:cs typeface="Times New Roman" panose="02020603050405020304" pitchFamily="18" charset="0"/>
              </a:rPr>
              <a:t>Farm_ID</a:t>
            </a:r>
            <a:r>
              <a:rPr lang="en-US" sz="1900" b="1" dirty="0">
                <a:latin typeface="Times New Roman" panose="02020603050405020304" pitchFamily="18" charset="0"/>
                <a:cs typeface="Times New Roman" panose="02020603050405020304" pitchFamily="18" charset="0"/>
              </a:rPr>
              <a:t> values</a:t>
            </a:r>
            <a:r>
              <a:rPr lang="en-US" sz="1900" dirty="0">
                <a:latin typeface="Times New Roman" panose="02020603050405020304" pitchFamily="18" charset="0"/>
                <a:cs typeface="Times New Roman" panose="02020603050405020304" pitchFamily="18" charset="0"/>
              </a:rPr>
              <a:t> to ensure that each farm record is properly represented and avoid duplicate data affecting the analysis.</a:t>
            </a:r>
          </a:p>
        </p:txBody>
      </p:sp>
    </p:spTree>
    <p:extLst>
      <p:ext uri="{BB962C8B-B14F-4D97-AF65-F5344CB8AC3E}">
        <p14:creationId xmlns:p14="http://schemas.microsoft.com/office/powerpoint/2010/main" val="2145690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8C928B-EB9D-65DA-CB40-312F63D16010}"/>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195220A3-7F98-E0E3-2F64-A02FA0A5D6CB}"/>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BC74CC49-D3EE-E1C7-7C30-8619A117D733}"/>
              </a:ext>
            </a:extLst>
          </p:cNvPr>
          <p:cNvSpPr>
            <a:spLocks noGrp="1"/>
          </p:cNvSpPr>
          <p:nvPr>
            <p:ph type="title"/>
          </p:nvPr>
        </p:nvSpPr>
        <p:spPr>
          <a:xfrm>
            <a:off x="501940" y="269240"/>
            <a:ext cx="2981643" cy="830997"/>
          </a:xfrm>
        </p:spPr>
        <p:txBody>
          <a:bodyPr>
            <a:normAutofit/>
          </a:bodyPr>
          <a:lstStyle/>
          <a:p>
            <a:r>
              <a:rPr lang="en-GB" sz="4000" u="sng" dirty="0">
                <a:latin typeface="Times New Roman" panose="02020603050405020304" pitchFamily="18" charset="0"/>
                <a:cs typeface="Times New Roman" panose="02020603050405020304" pitchFamily="18" charset="0"/>
              </a:rPr>
              <a:t>RESULTS </a:t>
            </a:r>
            <a:endParaRPr lang="en-IN" sz="4000" u="sng" dirty="0">
              <a:latin typeface="Times New Roman" panose="02020603050405020304" pitchFamily="18" charset="0"/>
              <a:cs typeface="Times New Roman" panose="02020603050405020304" pitchFamily="18" charset="0"/>
            </a:endParaRPr>
          </a:p>
        </p:txBody>
      </p:sp>
      <p:sp>
        <p:nvSpPr>
          <p:cNvPr id="7" name="Text Placeholder 30">
            <a:extLst>
              <a:ext uri="{FF2B5EF4-FFF2-40B4-BE49-F238E27FC236}">
                <a16:creationId xmlns:a16="http://schemas.microsoft.com/office/drawing/2014/main" id="{25B1F9B7-5A08-F6AC-C584-08A2AE205B67}"/>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C676DE7E-4BA8-93F9-C83E-D29078BD2F7A}"/>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3" name="Picture 2">
            <a:extLst>
              <a:ext uri="{FF2B5EF4-FFF2-40B4-BE49-F238E27FC236}">
                <a16:creationId xmlns:a16="http://schemas.microsoft.com/office/drawing/2014/main" id="{3905C588-55AC-B7EA-B1E9-A3B418C374AA}"/>
              </a:ext>
            </a:extLst>
          </p:cNvPr>
          <p:cNvPicPr>
            <a:picLocks noChangeAspect="1"/>
          </p:cNvPicPr>
          <p:nvPr/>
        </p:nvPicPr>
        <p:blipFill>
          <a:blip r:embed="rId3"/>
          <a:stretch>
            <a:fillRect/>
          </a:stretch>
        </p:blipFill>
        <p:spPr>
          <a:xfrm>
            <a:off x="5743905" y="269240"/>
            <a:ext cx="4876469" cy="4382993"/>
          </a:xfrm>
          <a:prstGeom prst="rect">
            <a:avLst/>
          </a:prstGeom>
        </p:spPr>
      </p:pic>
      <p:sp>
        <p:nvSpPr>
          <p:cNvPr id="9" name="TextBox 8">
            <a:extLst>
              <a:ext uri="{FF2B5EF4-FFF2-40B4-BE49-F238E27FC236}">
                <a16:creationId xmlns:a16="http://schemas.microsoft.com/office/drawing/2014/main" id="{F8BDB5B9-3371-003F-2819-C9030A0FB373}"/>
              </a:ext>
            </a:extLst>
          </p:cNvPr>
          <p:cNvSpPr txBox="1"/>
          <p:nvPr/>
        </p:nvSpPr>
        <p:spPr>
          <a:xfrm>
            <a:off x="320982" y="1114624"/>
            <a:ext cx="5346393" cy="5355312"/>
          </a:xfrm>
          <a:prstGeom prst="rect">
            <a:avLst/>
          </a:prstGeom>
          <a:noFill/>
        </p:spPr>
        <p:txBody>
          <a:bodyPr wrap="square">
            <a:spAutoFit/>
          </a:bodyPr>
          <a:lstStyle/>
          <a:p>
            <a:pPr algn="just">
              <a:buNone/>
            </a:pPr>
            <a:r>
              <a:rPr lang="en-US" sz="1900" b="1" u="sng" dirty="0">
                <a:latin typeface="Times New Roman" panose="02020603050405020304" pitchFamily="18" charset="0"/>
                <a:cs typeface="Times New Roman" panose="02020603050405020304" pitchFamily="18" charset="0"/>
              </a:rPr>
              <a:t>Categorical Data Distribution Analysis</a:t>
            </a:r>
          </a:p>
          <a:p>
            <a:pPr marL="285750" indent="-285750" algn="just">
              <a:buClr>
                <a:schemeClr val="accent4">
                  <a:lumMod val="75000"/>
                </a:schemeClr>
              </a:buClr>
              <a:buSzPct val="80000"/>
              <a:buFont typeface="Courier New" panose="02070309020205020404" pitchFamily="49" charset="0"/>
              <a:buChar char="o"/>
            </a:pPr>
            <a:r>
              <a:rPr lang="en-US" sz="1900" b="1" dirty="0">
                <a:latin typeface="Times New Roman" panose="02020603050405020304" pitchFamily="18" charset="0"/>
                <a:cs typeface="Times New Roman" panose="02020603050405020304" pitchFamily="18" charset="0"/>
              </a:rPr>
              <a:t>State Distribution:</a:t>
            </a:r>
            <a:r>
              <a:rPr lang="en-US" sz="1900" dirty="0">
                <a:latin typeface="Times New Roman" panose="02020603050405020304" pitchFamily="18" charset="0"/>
                <a:cs typeface="Times New Roman" panose="02020603050405020304" pitchFamily="18" charset="0"/>
              </a:rPr>
              <a:t> The dataset covers </a:t>
            </a:r>
            <a:r>
              <a:rPr lang="en-US" sz="1900" b="1" dirty="0">
                <a:latin typeface="Times New Roman" panose="02020603050405020304" pitchFamily="18" charset="0"/>
                <a:cs typeface="Times New Roman" panose="02020603050405020304" pitchFamily="18" charset="0"/>
              </a:rPr>
              <a:t>8 states</a:t>
            </a:r>
            <a:r>
              <a:rPr lang="en-US" sz="1900" dirty="0">
                <a:latin typeface="Times New Roman" panose="02020603050405020304" pitchFamily="18" charset="0"/>
                <a:cs typeface="Times New Roman" panose="02020603050405020304" pitchFamily="18" charset="0"/>
              </a:rPr>
              <a:t>, with records distributed relatively evenly. Andhra Pradesh has the highest number of records (</a:t>
            </a:r>
            <a:r>
              <a:rPr lang="en-US" sz="1900" b="1" dirty="0">
                <a:latin typeface="Times New Roman" panose="02020603050405020304" pitchFamily="18" charset="0"/>
                <a:cs typeface="Times New Roman" panose="02020603050405020304" pitchFamily="18" charset="0"/>
              </a:rPr>
              <a:t>529</a:t>
            </a:r>
            <a:r>
              <a:rPr lang="en-US" sz="1900" dirty="0">
                <a:latin typeface="Times New Roman" panose="02020603050405020304" pitchFamily="18" charset="0"/>
                <a:cs typeface="Times New Roman" panose="02020603050405020304" pitchFamily="18" charset="0"/>
              </a:rPr>
              <a:t>), while Punjab has the lowest (</a:t>
            </a:r>
            <a:r>
              <a:rPr lang="en-US" sz="1900" b="1" dirty="0">
                <a:latin typeface="Times New Roman" panose="02020603050405020304" pitchFamily="18" charset="0"/>
                <a:cs typeface="Times New Roman" panose="02020603050405020304" pitchFamily="18" charset="0"/>
              </a:rPr>
              <a:t>484</a:t>
            </a:r>
            <a:r>
              <a:rPr lang="en-US" sz="1900" dirty="0">
                <a:latin typeface="Times New Roman" panose="02020603050405020304" pitchFamily="18" charset="0"/>
                <a:cs typeface="Times New Roman" panose="02020603050405020304" pitchFamily="18" charset="0"/>
              </a:rPr>
              <a:t>). </a:t>
            </a:r>
          </a:p>
          <a:p>
            <a:pPr marL="285750" indent="-285750" algn="just">
              <a:buClr>
                <a:schemeClr val="accent4">
                  <a:lumMod val="75000"/>
                </a:schemeClr>
              </a:buClr>
              <a:buSzPct val="80000"/>
              <a:buFont typeface="Courier New" panose="02070309020205020404" pitchFamily="49" charset="0"/>
              <a:buChar char="o"/>
            </a:pPr>
            <a:r>
              <a:rPr lang="en-US" sz="1900" b="1" dirty="0">
                <a:latin typeface="Times New Roman" panose="02020603050405020304" pitchFamily="18" charset="0"/>
                <a:cs typeface="Times New Roman" panose="02020603050405020304" pitchFamily="18" charset="0"/>
              </a:rPr>
              <a:t>District Distribution:</a:t>
            </a:r>
            <a:r>
              <a:rPr lang="en-US" sz="1900" dirty="0">
                <a:latin typeface="Times New Roman" panose="02020603050405020304" pitchFamily="18" charset="0"/>
                <a:cs typeface="Times New Roman" panose="02020603050405020304" pitchFamily="18" charset="0"/>
              </a:rPr>
              <a:t> The dataset includes </a:t>
            </a:r>
            <a:r>
              <a:rPr lang="en-US" sz="1900" b="1" dirty="0">
                <a:latin typeface="Times New Roman" panose="02020603050405020304" pitchFamily="18" charset="0"/>
                <a:cs typeface="Times New Roman" panose="02020603050405020304" pitchFamily="18" charset="0"/>
              </a:rPr>
              <a:t>10 districts</a:t>
            </a:r>
            <a:r>
              <a:rPr lang="en-US" sz="1900" dirty="0">
                <a:latin typeface="Times New Roman" panose="02020603050405020304" pitchFamily="18" charset="0"/>
                <a:cs typeface="Times New Roman" panose="02020603050405020304" pitchFamily="18" charset="0"/>
              </a:rPr>
              <a:t>. Ludhiana has the highest representation (</a:t>
            </a:r>
            <a:r>
              <a:rPr lang="en-US" sz="1900" b="1" dirty="0">
                <a:latin typeface="Times New Roman" panose="02020603050405020304" pitchFamily="18" charset="0"/>
                <a:cs typeface="Times New Roman" panose="02020603050405020304" pitchFamily="18" charset="0"/>
              </a:rPr>
              <a:t>427 records</a:t>
            </a:r>
            <a:r>
              <a:rPr lang="en-US" sz="1900" dirty="0">
                <a:latin typeface="Times New Roman" panose="02020603050405020304" pitchFamily="18" charset="0"/>
                <a:cs typeface="Times New Roman" panose="02020603050405020304" pitchFamily="18" charset="0"/>
              </a:rPr>
              <a:t>), while Nashik has the lowest (</a:t>
            </a:r>
            <a:r>
              <a:rPr lang="en-US" sz="1900" b="1" dirty="0">
                <a:latin typeface="Times New Roman" panose="02020603050405020304" pitchFamily="18" charset="0"/>
                <a:cs typeface="Times New Roman" panose="02020603050405020304" pitchFamily="18" charset="0"/>
              </a:rPr>
              <a:t>371 records</a:t>
            </a:r>
            <a:r>
              <a:rPr lang="en-US" sz="1900" dirty="0">
                <a:latin typeface="Times New Roman" panose="02020603050405020304" pitchFamily="18" charset="0"/>
                <a:cs typeface="Times New Roman" panose="02020603050405020304" pitchFamily="18" charset="0"/>
              </a:rPr>
              <a:t>). </a:t>
            </a:r>
          </a:p>
          <a:p>
            <a:pPr marL="285750" indent="-285750" algn="just">
              <a:buClr>
                <a:schemeClr val="accent4">
                  <a:lumMod val="75000"/>
                </a:schemeClr>
              </a:buClr>
              <a:buSzPct val="80000"/>
              <a:buFont typeface="Courier New" panose="02070309020205020404" pitchFamily="49" charset="0"/>
              <a:buChar char="o"/>
            </a:pPr>
            <a:r>
              <a:rPr lang="en-US" sz="1900" b="1" dirty="0">
                <a:latin typeface="Times New Roman" panose="02020603050405020304" pitchFamily="18" charset="0"/>
                <a:cs typeface="Times New Roman" panose="02020603050405020304" pitchFamily="18" charset="0"/>
              </a:rPr>
              <a:t>Consistency Check:</a:t>
            </a:r>
            <a:r>
              <a:rPr lang="en-US" sz="1900" dirty="0">
                <a:latin typeface="Times New Roman" panose="02020603050405020304" pitchFamily="18" charset="0"/>
                <a:cs typeface="Times New Roman" panose="02020603050405020304" pitchFamily="18" charset="0"/>
              </a:rPr>
              <a:t> The code checks categorical columns such as </a:t>
            </a:r>
            <a:r>
              <a:rPr lang="en-US" sz="1900" b="1" dirty="0">
                <a:latin typeface="Times New Roman" panose="02020603050405020304" pitchFamily="18" charset="0"/>
                <a:cs typeface="Times New Roman" panose="02020603050405020304" pitchFamily="18" charset="0"/>
              </a:rPr>
              <a:t>State, District, Crop, Season, and Irrigation Method</a:t>
            </a:r>
            <a:r>
              <a:rPr lang="en-US" sz="1900" dirty="0">
                <a:latin typeface="Times New Roman" panose="02020603050405020304" pitchFamily="18" charset="0"/>
                <a:cs typeface="Times New Roman" panose="02020603050405020304" pitchFamily="18" charset="0"/>
              </a:rPr>
              <a:t> for spelling or capitalization inconsistencies that could create duplicate categories during analysis. </a:t>
            </a:r>
          </a:p>
          <a:p>
            <a:pPr marL="285750" indent="-285750" algn="just">
              <a:buClr>
                <a:schemeClr val="accent4">
                  <a:lumMod val="75000"/>
                </a:schemeClr>
              </a:buClr>
              <a:buSzPct val="80000"/>
              <a:buFont typeface="Courier New" panose="02070309020205020404" pitchFamily="49" charset="0"/>
              <a:buChar char="o"/>
            </a:pPr>
            <a:r>
              <a:rPr lang="en-US" sz="1900" b="1" dirty="0">
                <a:latin typeface="Times New Roman" panose="02020603050405020304" pitchFamily="18" charset="0"/>
                <a:cs typeface="Times New Roman" panose="02020603050405020304" pitchFamily="18" charset="0"/>
              </a:rPr>
              <a:t>Purpose:</a:t>
            </a:r>
            <a:r>
              <a:rPr lang="en-US" sz="1900" dirty="0">
                <a:latin typeface="Times New Roman" panose="02020603050405020304" pitchFamily="18" charset="0"/>
                <a:cs typeface="Times New Roman" panose="02020603050405020304" pitchFamily="18" charset="0"/>
              </a:rPr>
              <a:t> This step ensures that categorical data is </a:t>
            </a:r>
            <a:r>
              <a:rPr lang="en-US" sz="1900" b="1" dirty="0">
                <a:latin typeface="Times New Roman" panose="02020603050405020304" pitchFamily="18" charset="0"/>
                <a:cs typeface="Times New Roman" panose="02020603050405020304" pitchFamily="18" charset="0"/>
              </a:rPr>
              <a:t>standardized and reliable</a:t>
            </a:r>
            <a:r>
              <a:rPr lang="en-US" sz="1900" dirty="0">
                <a:latin typeface="Times New Roman" panose="02020603050405020304" pitchFamily="18" charset="0"/>
                <a:cs typeface="Times New Roman" panose="02020603050405020304" pitchFamily="18" charset="0"/>
              </a:rPr>
              <a:t>, helping produce accurate comparisons, visualizations, and seasonal analysis.</a:t>
            </a:r>
          </a:p>
        </p:txBody>
      </p:sp>
      <p:pic>
        <p:nvPicPr>
          <p:cNvPr id="11" name="Picture 10">
            <a:extLst>
              <a:ext uri="{FF2B5EF4-FFF2-40B4-BE49-F238E27FC236}">
                <a16:creationId xmlns:a16="http://schemas.microsoft.com/office/drawing/2014/main" id="{1DB73FAD-2C16-28A2-6A8F-52CEC08CC893}"/>
              </a:ext>
            </a:extLst>
          </p:cNvPr>
          <p:cNvPicPr>
            <a:picLocks noChangeAspect="1"/>
          </p:cNvPicPr>
          <p:nvPr/>
        </p:nvPicPr>
        <p:blipFill>
          <a:blip r:embed="rId4"/>
          <a:stretch>
            <a:fillRect/>
          </a:stretch>
        </p:blipFill>
        <p:spPr>
          <a:xfrm>
            <a:off x="7689255" y="2772108"/>
            <a:ext cx="4331144" cy="3892852"/>
          </a:xfrm>
          <a:prstGeom prst="rect">
            <a:avLst/>
          </a:prstGeom>
        </p:spPr>
      </p:pic>
    </p:spTree>
    <p:extLst>
      <p:ext uri="{BB962C8B-B14F-4D97-AF65-F5344CB8AC3E}">
        <p14:creationId xmlns:p14="http://schemas.microsoft.com/office/powerpoint/2010/main" val="34692995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BDF4C4-C76A-716C-1E27-4095153D25E1}"/>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DCDCAA7F-1B99-7095-7A75-566B379D3F30}"/>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0DDEDC2-0C4A-F9DF-3C6E-8C15C3F540A1}"/>
              </a:ext>
            </a:extLst>
          </p:cNvPr>
          <p:cNvSpPr>
            <a:spLocks noGrp="1"/>
          </p:cNvSpPr>
          <p:nvPr>
            <p:ph type="title"/>
          </p:nvPr>
        </p:nvSpPr>
        <p:spPr>
          <a:xfrm>
            <a:off x="501940" y="269240"/>
            <a:ext cx="2981643" cy="830997"/>
          </a:xfrm>
        </p:spPr>
        <p:txBody>
          <a:bodyPr>
            <a:normAutofit/>
          </a:bodyPr>
          <a:lstStyle/>
          <a:p>
            <a:r>
              <a:rPr lang="en-GB" sz="4000" u="sng" dirty="0">
                <a:latin typeface="Times New Roman" panose="02020603050405020304" pitchFamily="18" charset="0"/>
                <a:cs typeface="Times New Roman" panose="02020603050405020304" pitchFamily="18" charset="0"/>
              </a:rPr>
              <a:t>RESULTS </a:t>
            </a:r>
            <a:endParaRPr lang="en-IN" sz="4000" u="sng" dirty="0">
              <a:latin typeface="Times New Roman" panose="02020603050405020304" pitchFamily="18" charset="0"/>
              <a:cs typeface="Times New Roman" panose="02020603050405020304" pitchFamily="18" charset="0"/>
            </a:endParaRPr>
          </a:p>
        </p:txBody>
      </p:sp>
      <p:sp>
        <p:nvSpPr>
          <p:cNvPr id="7" name="Text Placeholder 30">
            <a:extLst>
              <a:ext uri="{FF2B5EF4-FFF2-40B4-BE49-F238E27FC236}">
                <a16:creationId xmlns:a16="http://schemas.microsoft.com/office/drawing/2014/main" id="{ECD1835E-24EF-9D65-3208-971D1430F67E}"/>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27C11FB0-41F0-F61B-5142-1F52FD96201E}"/>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3" name="Picture 2">
            <a:extLst>
              <a:ext uri="{FF2B5EF4-FFF2-40B4-BE49-F238E27FC236}">
                <a16:creationId xmlns:a16="http://schemas.microsoft.com/office/drawing/2014/main" id="{DDAF6B3C-E6CC-FFE1-C82E-C7D80E821313}"/>
              </a:ext>
            </a:extLst>
          </p:cNvPr>
          <p:cNvPicPr>
            <a:picLocks noChangeAspect="1"/>
          </p:cNvPicPr>
          <p:nvPr/>
        </p:nvPicPr>
        <p:blipFill>
          <a:blip r:embed="rId3"/>
          <a:stretch>
            <a:fillRect/>
          </a:stretch>
        </p:blipFill>
        <p:spPr>
          <a:xfrm>
            <a:off x="6096000" y="1100236"/>
            <a:ext cx="5901840" cy="5564723"/>
          </a:xfrm>
          <a:prstGeom prst="rect">
            <a:avLst/>
          </a:prstGeom>
        </p:spPr>
      </p:pic>
      <p:sp>
        <p:nvSpPr>
          <p:cNvPr id="9" name="TextBox 8">
            <a:extLst>
              <a:ext uri="{FF2B5EF4-FFF2-40B4-BE49-F238E27FC236}">
                <a16:creationId xmlns:a16="http://schemas.microsoft.com/office/drawing/2014/main" id="{D12B64C1-15C1-915A-A546-838F4F8CF912}"/>
              </a:ext>
            </a:extLst>
          </p:cNvPr>
          <p:cNvSpPr txBox="1"/>
          <p:nvPr/>
        </p:nvSpPr>
        <p:spPr>
          <a:xfrm>
            <a:off x="320982" y="1351135"/>
            <a:ext cx="5622618" cy="5062924"/>
          </a:xfrm>
          <a:prstGeom prst="rect">
            <a:avLst/>
          </a:prstGeom>
          <a:noFill/>
        </p:spPr>
        <p:txBody>
          <a:bodyPr wrap="square">
            <a:spAutoFit/>
          </a:bodyPr>
          <a:lstStyle/>
          <a:p>
            <a:pPr algn="just">
              <a:buNone/>
            </a:pPr>
            <a:r>
              <a:rPr lang="en-US" sz="1900" b="1" u="sng" dirty="0">
                <a:latin typeface="Times New Roman" panose="02020603050405020304" pitchFamily="18" charset="0"/>
                <a:cs typeface="Times New Roman" panose="02020603050405020304" pitchFamily="18" charset="0"/>
              </a:rPr>
              <a:t>Categorical Distribution Analysis</a:t>
            </a:r>
          </a:p>
          <a:p>
            <a:pPr marL="285750" indent="-285750" algn="just">
              <a:buClr>
                <a:schemeClr val="accent4">
                  <a:lumMod val="75000"/>
                </a:schemeClr>
              </a:buClr>
              <a:buSzPct val="80000"/>
              <a:buFont typeface="Courier New" panose="02070309020205020404" pitchFamily="49" charset="0"/>
              <a:buChar char="o"/>
            </a:pPr>
            <a:r>
              <a:rPr lang="en-US" sz="1900" b="1" dirty="0">
                <a:latin typeface="Times New Roman" panose="02020603050405020304" pitchFamily="18" charset="0"/>
                <a:cs typeface="Times New Roman" panose="02020603050405020304" pitchFamily="18" charset="0"/>
              </a:rPr>
              <a:t>Season Distribution:</a:t>
            </a:r>
            <a:r>
              <a:rPr lang="en-US" sz="1900" dirty="0">
                <a:latin typeface="Times New Roman" panose="02020603050405020304" pitchFamily="18" charset="0"/>
                <a:cs typeface="Times New Roman" panose="02020603050405020304" pitchFamily="18" charset="0"/>
              </a:rPr>
              <a:t> The dataset is mainly represented by </a:t>
            </a:r>
            <a:r>
              <a:rPr lang="en-US" sz="1900" b="1" dirty="0">
                <a:latin typeface="Times New Roman" panose="02020603050405020304" pitchFamily="18" charset="0"/>
                <a:cs typeface="Times New Roman" panose="02020603050405020304" pitchFamily="18" charset="0"/>
              </a:rPr>
              <a:t>Kharif (~1,780 records)</a:t>
            </a:r>
            <a:r>
              <a:rPr lang="en-US" sz="1900" dirty="0">
                <a:latin typeface="Times New Roman" panose="02020603050405020304" pitchFamily="18" charset="0"/>
                <a:cs typeface="Times New Roman" panose="02020603050405020304" pitchFamily="18" charset="0"/>
              </a:rPr>
              <a:t> and </a:t>
            </a:r>
            <a:r>
              <a:rPr lang="en-US" sz="1900" b="1" dirty="0">
                <a:latin typeface="Times New Roman" panose="02020603050405020304" pitchFamily="18" charset="0"/>
                <a:cs typeface="Times New Roman" panose="02020603050405020304" pitchFamily="18" charset="0"/>
              </a:rPr>
              <a:t>Rabi (~1,620 records)</a:t>
            </a:r>
            <a:r>
              <a:rPr lang="en-US" sz="1900" dirty="0">
                <a:latin typeface="Times New Roman" panose="02020603050405020304" pitchFamily="18" charset="0"/>
                <a:cs typeface="Times New Roman" panose="02020603050405020304" pitchFamily="18" charset="0"/>
              </a:rPr>
              <a:t>, while </a:t>
            </a:r>
            <a:r>
              <a:rPr lang="en-US" sz="1900" b="1" dirty="0">
                <a:latin typeface="Times New Roman" panose="02020603050405020304" pitchFamily="18" charset="0"/>
                <a:cs typeface="Times New Roman" panose="02020603050405020304" pitchFamily="18" charset="0"/>
              </a:rPr>
              <a:t>Zaid (~600 records)</a:t>
            </a:r>
            <a:r>
              <a:rPr lang="en-US" sz="1900" dirty="0">
                <a:latin typeface="Times New Roman" panose="02020603050405020304" pitchFamily="18" charset="0"/>
                <a:cs typeface="Times New Roman" panose="02020603050405020304" pitchFamily="18" charset="0"/>
              </a:rPr>
              <a:t> has significantly fewer observations. </a:t>
            </a:r>
          </a:p>
          <a:p>
            <a:pPr marL="285750" indent="-285750" algn="just">
              <a:buClr>
                <a:schemeClr val="accent4">
                  <a:lumMod val="75000"/>
                </a:schemeClr>
              </a:buClr>
              <a:buSzPct val="80000"/>
              <a:buFont typeface="Courier New" panose="02070309020205020404" pitchFamily="49" charset="0"/>
              <a:buChar char="o"/>
            </a:pPr>
            <a:r>
              <a:rPr lang="en-US" sz="1900" b="1" dirty="0">
                <a:latin typeface="Times New Roman" panose="02020603050405020304" pitchFamily="18" charset="0"/>
                <a:cs typeface="Times New Roman" panose="02020603050405020304" pitchFamily="18" charset="0"/>
              </a:rPr>
              <a:t>Crop Distribution:</a:t>
            </a:r>
            <a:r>
              <a:rPr lang="en-US" sz="1900" dirty="0">
                <a:latin typeface="Times New Roman" panose="02020603050405020304" pitchFamily="18" charset="0"/>
                <a:cs typeface="Times New Roman" panose="02020603050405020304" pitchFamily="18" charset="0"/>
              </a:rPr>
              <a:t> </a:t>
            </a:r>
            <a:r>
              <a:rPr lang="en-US" sz="1900" b="1" dirty="0">
                <a:latin typeface="Times New Roman" panose="02020603050405020304" pitchFamily="18" charset="0"/>
                <a:cs typeface="Times New Roman" panose="02020603050405020304" pitchFamily="18" charset="0"/>
              </a:rPr>
              <a:t>Rice</a:t>
            </a:r>
            <a:r>
              <a:rPr lang="en-US" sz="1900" dirty="0">
                <a:latin typeface="Times New Roman" panose="02020603050405020304" pitchFamily="18" charset="0"/>
                <a:cs typeface="Times New Roman" panose="02020603050405020304" pitchFamily="18" charset="0"/>
              </a:rPr>
              <a:t> has the highest number of records (~690), followed by </a:t>
            </a:r>
            <a:r>
              <a:rPr lang="en-US" sz="1900" b="1" dirty="0">
                <a:latin typeface="Times New Roman" panose="02020603050405020304" pitchFamily="18" charset="0"/>
                <a:cs typeface="Times New Roman" panose="02020603050405020304" pitchFamily="18" charset="0"/>
              </a:rPr>
              <a:t>Wheat (~610)</a:t>
            </a:r>
            <a:r>
              <a:rPr lang="en-US" sz="1900" dirty="0">
                <a:latin typeface="Times New Roman" panose="02020603050405020304" pitchFamily="18" charset="0"/>
                <a:cs typeface="Times New Roman" panose="02020603050405020304" pitchFamily="18" charset="0"/>
              </a:rPr>
              <a:t> and </a:t>
            </a:r>
            <a:r>
              <a:rPr lang="en-US" sz="1900" b="1" dirty="0">
                <a:latin typeface="Times New Roman" panose="02020603050405020304" pitchFamily="18" charset="0"/>
                <a:cs typeface="Times New Roman" panose="02020603050405020304" pitchFamily="18" charset="0"/>
              </a:rPr>
              <a:t>Maize (~550)</a:t>
            </a:r>
            <a:r>
              <a:rPr lang="en-US" sz="1900" dirty="0">
                <a:latin typeface="Times New Roman" panose="02020603050405020304" pitchFamily="18" charset="0"/>
                <a:cs typeface="Times New Roman" panose="02020603050405020304" pitchFamily="18" charset="0"/>
              </a:rPr>
              <a:t>. </a:t>
            </a:r>
            <a:r>
              <a:rPr lang="en-US" sz="1900" b="1" dirty="0">
                <a:latin typeface="Times New Roman" panose="02020603050405020304" pitchFamily="18" charset="0"/>
                <a:cs typeface="Times New Roman" panose="02020603050405020304" pitchFamily="18" charset="0"/>
              </a:rPr>
              <a:t>Sugarcane</a:t>
            </a:r>
            <a:r>
              <a:rPr lang="en-US" sz="1900" dirty="0">
                <a:latin typeface="Times New Roman" panose="02020603050405020304" pitchFamily="18" charset="0"/>
                <a:cs typeface="Times New Roman" panose="02020603050405020304" pitchFamily="18" charset="0"/>
              </a:rPr>
              <a:t> has the lowest representation (~305). </a:t>
            </a:r>
          </a:p>
          <a:p>
            <a:pPr marL="285750" indent="-285750" algn="just">
              <a:buClr>
                <a:schemeClr val="accent4">
                  <a:lumMod val="75000"/>
                </a:schemeClr>
              </a:buClr>
              <a:buSzPct val="80000"/>
              <a:buFont typeface="Courier New" panose="02070309020205020404" pitchFamily="49" charset="0"/>
              <a:buChar char="o"/>
            </a:pPr>
            <a:r>
              <a:rPr lang="en-US" sz="1900" b="1" dirty="0">
                <a:latin typeface="Times New Roman" panose="02020603050405020304" pitchFamily="18" charset="0"/>
                <a:cs typeface="Times New Roman" panose="02020603050405020304" pitchFamily="18" charset="0"/>
              </a:rPr>
              <a:t>Irrigation Methods:</a:t>
            </a:r>
            <a:r>
              <a:rPr lang="en-US" sz="1900" dirty="0">
                <a:latin typeface="Times New Roman" panose="02020603050405020304" pitchFamily="18" charset="0"/>
                <a:cs typeface="Times New Roman" panose="02020603050405020304" pitchFamily="18" charset="0"/>
              </a:rPr>
              <a:t> </a:t>
            </a:r>
            <a:r>
              <a:rPr lang="en-US" sz="1900" b="1" dirty="0">
                <a:latin typeface="Times New Roman" panose="02020603050405020304" pitchFamily="18" charset="0"/>
                <a:cs typeface="Times New Roman" panose="02020603050405020304" pitchFamily="18" charset="0"/>
              </a:rPr>
              <a:t>Flood irrigation (~1,310 records)</a:t>
            </a:r>
            <a:r>
              <a:rPr lang="en-US" sz="1900" dirty="0">
                <a:latin typeface="Times New Roman" panose="02020603050405020304" pitchFamily="18" charset="0"/>
                <a:cs typeface="Times New Roman" panose="02020603050405020304" pitchFamily="18" charset="0"/>
              </a:rPr>
              <a:t> is the most common method, followed by </a:t>
            </a:r>
            <a:r>
              <a:rPr lang="en-US" sz="1900" b="1" dirty="0">
                <a:latin typeface="Times New Roman" panose="02020603050405020304" pitchFamily="18" charset="0"/>
                <a:cs typeface="Times New Roman" panose="02020603050405020304" pitchFamily="18" charset="0"/>
              </a:rPr>
              <a:t>Rainfed (~1,050)</a:t>
            </a:r>
            <a:r>
              <a:rPr lang="en-US" sz="1900" dirty="0">
                <a:latin typeface="Times New Roman" panose="02020603050405020304" pitchFamily="18" charset="0"/>
                <a:cs typeface="Times New Roman" panose="02020603050405020304" pitchFamily="18" charset="0"/>
              </a:rPr>
              <a:t>, </a:t>
            </a:r>
            <a:r>
              <a:rPr lang="en-US" sz="1900" b="1" dirty="0">
                <a:latin typeface="Times New Roman" panose="02020603050405020304" pitchFamily="18" charset="0"/>
                <a:cs typeface="Times New Roman" panose="02020603050405020304" pitchFamily="18" charset="0"/>
              </a:rPr>
              <a:t>Drip (~920)</a:t>
            </a:r>
            <a:r>
              <a:rPr lang="en-US" sz="1900" dirty="0">
                <a:latin typeface="Times New Roman" panose="02020603050405020304" pitchFamily="18" charset="0"/>
                <a:cs typeface="Times New Roman" panose="02020603050405020304" pitchFamily="18" charset="0"/>
              </a:rPr>
              <a:t>, and </a:t>
            </a:r>
            <a:r>
              <a:rPr lang="en-US" sz="1900" b="1" dirty="0">
                <a:latin typeface="Times New Roman" panose="02020603050405020304" pitchFamily="18" charset="0"/>
                <a:cs typeface="Times New Roman" panose="02020603050405020304" pitchFamily="18" charset="0"/>
              </a:rPr>
              <a:t>Sprinkler (~730)</a:t>
            </a:r>
            <a:r>
              <a:rPr lang="en-US" sz="1900" dirty="0">
                <a:latin typeface="Times New Roman" panose="02020603050405020304" pitchFamily="18" charset="0"/>
                <a:cs typeface="Times New Roman" panose="02020603050405020304" pitchFamily="18" charset="0"/>
              </a:rPr>
              <a:t>. </a:t>
            </a:r>
          </a:p>
          <a:p>
            <a:pPr marL="285750" indent="-285750" algn="just">
              <a:buClr>
                <a:schemeClr val="accent4">
                  <a:lumMod val="75000"/>
                </a:schemeClr>
              </a:buClr>
              <a:buSzPct val="80000"/>
              <a:buFont typeface="Courier New" panose="02070309020205020404" pitchFamily="49" charset="0"/>
              <a:buChar char="o"/>
            </a:pPr>
            <a:r>
              <a:rPr lang="en-US" sz="1900" b="1" dirty="0">
                <a:latin typeface="Times New Roman" panose="02020603050405020304" pitchFamily="18" charset="0"/>
                <a:cs typeface="Times New Roman" panose="02020603050405020304" pitchFamily="18" charset="0"/>
              </a:rPr>
              <a:t>State Distribution:</a:t>
            </a:r>
            <a:r>
              <a:rPr lang="en-US" sz="1900" dirty="0">
                <a:latin typeface="Times New Roman" panose="02020603050405020304" pitchFamily="18" charset="0"/>
                <a:cs typeface="Times New Roman" panose="02020603050405020304" pitchFamily="18" charset="0"/>
              </a:rPr>
              <a:t> Records are fairly evenly distributed across the </a:t>
            </a:r>
            <a:r>
              <a:rPr lang="en-US" sz="1900" b="1" dirty="0">
                <a:latin typeface="Times New Roman" panose="02020603050405020304" pitchFamily="18" charset="0"/>
                <a:cs typeface="Times New Roman" panose="02020603050405020304" pitchFamily="18" charset="0"/>
              </a:rPr>
              <a:t>8 states</a:t>
            </a:r>
            <a:r>
              <a:rPr lang="en-US" sz="1900" dirty="0">
                <a:latin typeface="Times New Roman" panose="02020603050405020304" pitchFamily="18" charset="0"/>
                <a:cs typeface="Times New Roman" panose="02020603050405020304" pitchFamily="18" charset="0"/>
              </a:rPr>
              <a:t>, with </a:t>
            </a:r>
            <a:r>
              <a:rPr lang="en-US" sz="1900" b="1" dirty="0">
                <a:latin typeface="Times New Roman" panose="02020603050405020304" pitchFamily="18" charset="0"/>
                <a:cs typeface="Times New Roman" panose="02020603050405020304" pitchFamily="18" charset="0"/>
              </a:rPr>
              <a:t>Andhra Pradesh (~530)</a:t>
            </a:r>
            <a:r>
              <a:rPr lang="en-US" sz="1900" dirty="0">
                <a:latin typeface="Times New Roman" panose="02020603050405020304" pitchFamily="18" charset="0"/>
                <a:cs typeface="Times New Roman" panose="02020603050405020304" pitchFamily="18" charset="0"/>
              </a:rPr>
              <a:t> having the highest representation and </a:t>
            </a:r>
            <a:r>
              <a:rPr lang="en-US" sz="1900" b="1" dirty="0">
                <a:latin typeface="Times New Roman" panose="02020603050405020304" pitchFamily="18" charset="0"/>
                <a:cs typeface="Times New Roman" panose="02020603050405020304" pitchFamily="18" charset="0"/>
              </a:rPr>
              <a:t>Punjab (~485)</a:t>
            </a:r>
            <a:r>
              <a:rPr lang="en-US" sz="1900" dirty="0">
                <a:latin typeface="Times New Roman" panose="02020603050405020304" pitchFamily="18" charset="0"/>
                <a:cs typeface="Times New Roman" panose="02020603050405020304" pitchFamily="18" charset="0"/>
              </a:rPr>
              <a:t> among the lowest.</a:t>
            </a:r>
          </a:p>
        </p:txBody>
      </p:sp>
    </p:spTree>
    <p:extLst>
      <p:ext uri="{BB962C8B-B14F-4D97-AF65-F5344CB8AC3E}">
        <p14:creationId xmlns:p14="http://schemas.microsoft.com/office/powerpoint/2010/main" val="8106220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679DF3-EF56-D6AE-AC4D-79B4CABED83B}"/>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0B363742-0ED0-3E4D-2A87-E8F821E1D0B3}"/>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668435FF-9CFC-3064-238E-BF18BB39D705}"/>
              </a:ext>
            </a:extLst>
          </p:cNvPr>
          <p:cNvSpPr>
            <a:spLocks noGrp="1"/>
          </p:cNvSpPr>
          <p:nvPr>
            <p:ph type="title"/>
          </p:nvPr>
        </p:nvSpPr>
        <p:spPr>
          <a:xfrm>
            <a:off x="501940" y="269240"/>
            <a:ext cx="2981643" cy="830997"/>
          </a:xfrm>
        </p:spPr>
        <p:txBody>
          <a:bodyPr>
            <a:normAutofit/>
          </a:bodyPr>
          <a:lstStyle/>
          <a:p>
            <a:r>
              <a:rPr lang="en-GB" sz="4000" u="sng" dirty="0">
                <a:latin typeface="Times New Roman" panose="02020603050405020304" pitchFamily="18" charset="0"/>
                <a:cs typeface="Times New Roman" panose="02020603050405020304" pitchFamily="18" charset="0"/>
              </a:rPr>
              <a:t>RESULTS </a:t>
            </a:r>
            <a:endParaRPr lang="en-IN" sz="4000" u="sng" dirty="0">
              <a:latin typeface="Times New Roman" panose="02020603050405020304" pitchFamily="18" charset="0"/>
              <a:cs typeface="Times New Roman" panose="02020603050405020304" pitchFamily="18" charset="0"/>
            </a:endParaRPr>
          </a:p>
        </p:txBody>
      </p:sp>
      <p:sp>
        <p:nvSpPr>
          <p:cNvPr id="7" name="Text Placeholder 30">
            <a:extLst>
              <a:ext uri="{FF2B5EF4-FFF2-40B4-BE49-F238E27FC236}">
                <a16:creationId xmlns:a16="http://schemas.microsoft.com/office/drawing/2014/main" id="{8819CC1B-DB38-24CB-E1EF-BE6ABC5DF438}"/>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E6AB3953-0B02-C456-6253-E42883F49341}"/>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3" name="Picture 2">
            <a:extLst>
              <a:ext uri="{FF2B5EF4-FFF2-40B4-BE49-F238E27FC236}">
                <a16:creationId xmlns:a16="http://schemas.microsoft.com/office/drawing/2014/main" id="{F5EF05BC-2EEE-FA8C-883A-4F819C0951D1}"/>
              </a:ext>
            </a:extLst>
          </p:cNvPr>
          <p:cNvPicPr>
            <a:picLocks noChangeAspect="1"/>
          </p:cNvPicPr>
          <p:nvPr/>
        </p:nvPicPr>
        <p:blipFill>
          <a:blip r:embed="rId3"/>
          <a:stretch>
            <a:fillRect/>
          </a:stretch>
        </p:blipFill>
        <p:spPr>
          <a:xfrm>
            <a:off x="6096000" y="1100237"/>
            <a:ext cx="5898030" cy="5564723"/>
          </a:xfrm>
          <a:prstGeom prst="rect">
            <a:avLst/>
          </a:prstGeom>
        </p:spPr>
      </p:pic>
      <p:sp>
        <p:nvSpPr>
          <p:cNvPr id="9" name="TextBox 8">
            <a:extLst>
              <a:ext uri="{FF2B5EF4-FFF2-40B4-BE49-F238E27FC236}">
                <a16:creationId xmlns:a16="http://schemas.microsoft.com/office/drawing/2014/main" id="{E3FD5BF8-8036-2F11-0003-C1FC732B9A66}"/>
              </a:ext>
            </a:extLst>
          </p:cNvPr>
          <p:cNvSpPr txBox="1"/>
          <p:nvPr/>
        </p:nvSpPr>
        <p:spPr>
          <a:xfrm>
            <a:off x="320982" y="1643523"/>
            <a:ext cx="5689293" cy="4478149"/>
          </a:xfrm>
          <a:prstGeom prst="rect">
            <a:avLst/>
          </a:prstGeom>
          <a:noFill/>
        </p:spPr>
        <p:txBody>
          <a:bodyPr wrap="square">
            <a:spAutoFit/>
          </a:bodyPr>
          <a:lstStyle/>
          <a:p>
            <a:pPr algn="just">
              <a:buNone/>
            </a:pPr>
            <a:r>
              <a:rPr lang="en-IN" sz="1900" b="1" u="sng" dirty="0">
                <a:latin typeface="Times New Roman" panose="02020603050405020304" pitchFamily="18" charset="0"/>
                <a:cs typeface="Times New Roman" panose="02020603050405020304" pitchFamily="18" charset="0"/>
              </a:rPr>
              <a:t>Seasonal Performance Analysis</a:t>
            </a:r>
          </a:p>
          <a:p>
            <a:pPr marL="285750" indent="-285750" algn="just">
              <a:buClr>
                <a:schemeClr val="accent4">
                  <a:lumMod val="75000"/>
                </a:schemeClr>
              </a:buClr>
              <a:buSzPct val="80000"/>
              <a:buFont typeface="Courier New" panose="02070309020205020404" pitchFamily="49" charset="0"/>
              <a:buChar char="o"/>
            </a:pPr>
            <a:r>
              <a:rPr lang="en-IN" sz="1900" b="1" dirty="0">
                <a:latin typeface="Times New Roman" panose="02020603050405020304" pitchFamily="18" charset="0"/>
                <a:cs typeface="Times New Roman" panose="02020603050405020304" pitchFamily="18" charset="0"/>
              </a:rPr>
              <a:t>Average Yield:</a:t>
            </a:r>
            <a:r>
              <a:rPr lang="en-IN" sz="1900" dirty="0">
                <a:latin typeface="Times New Roman" panose="02020603050405020304" pitchFamily="18" charset="0"/>
                <a:cs typeface="Times New Roman" panose="02020603050405020304" pitchFamily="18" charset="0"/>
              </a:rPr>
              <a:t> </a:t>
            </a:r>
            <a:r>
              <a:rPr lang="en-IN" sz="1900" b="1" dirty="0">
                <a:latin typeface="Times New Roman" panose="02020603050405020304" pitchFamily="18" charset="0"/>
                <a:cs typeface="Times New Roman" panose="02020603050405020304" pitchFamily="18" charset="0"/>
              </a:rPr>
              <a:t>Kharif</a:t>
            </a:r>
            <a:r>
              <a:rPr lang="en-IN" sz="1900" dirty="0">
                <a:latin typeface="Times New Roman" panose="02020603050405020304" pitchFamily="18" charset="0"/>
                <a:cs typeface="Times New Roman" panose="02020603050405020304" pitchFamily="18" charset="0"/>
              </a:rPr>
              <a:t> records the highest average yield at approximately </a:t>
            </a:r>
            <a:r>
              <a:rPr lang="en-IN" sz="1900" b="1" dirty="0">
                <a:latin typeface="Times New Roman" panose="02020603050405020304" pitchFamily="18" charset="0"/>
                <a:cs typeface="Times New Roman" panose="02020603050405020304" pitchFamily="18" charset="0"/>
              </a:rPr>
              <a:t>5.6 tonnes/hectare</a:t>
            </a:r>
            <a:r>
              <a:rPr lang="en-IN" sz="1900" dirty="0">
                <a:latin typeface="Times New Roman" panose="02020603050405020304" pitchFamily="18" charset="0"/>
                <a:cs typeface="Times New Roman" panose="02020603050405020304" pitchFamily="18" charset="0"/>
              </a:rPr>
              <a:t>, followed by </a:t>
            </a:r>
            <a:r>
              <a:rPr lang="en-IN" sz="1900" b="1" dirty="0">
                <a:latin typeface="Times New Roman" panose="02020603050405020304" pitchFamily="18" charset="0"/>
                <a:cs typeface="Times New Roman" panose="02020603050405020304" pitchFamily="18" charset="0"/>
              </a:rPr>
              <a:t>Rabi (~5.1)</a:t>
            </a:r>
            <a:r>
              <a:rPr lang="en-IN" sz="1900" dirty="0">
                <a:latin typeface="Times New Roman" panose="02020603050405020304" pitchFamily="18" charset="0"/>
                <a:cs typeface="Times New Roman" panose="02020603050405020304" pitchFamily="18" charset="0"/>
              </a:rPr>
              <a:t> and </a:t>
            </a:r>
            <a:r>
              <a:rPr lang="en-IN" sz="1900" b="1" dirty="0">
                <a:latin typeface="Times New Roman" panose="02020603050405020304" pitchFamily="18" charset="0"/>
                <a:cs typeface="Times New Roman" panose="02020603050405020304" pitchFamily="18" charset="0"/>
              </a:rPr>
              <a:t>Zaid (~4.6)</a:t>
            </a:r>
            <a:r>
              <a:rPr lang="en-IN" sz="1900" dirty="0">
                <a:latin typeface="Times New Roman" panose="02020603050405020304" pitchFamily="18" charset="0"/>
                <a:cs typeface="Times New Roman" panose="02020603050405020304" pitchFamily="18" charset="0"/>
              </a:rPr>
              <a:t>. This indicates better crop productivity during Kharif. </a:t>
            </a:r>
          </a:p>
          <a:p>
            <a:pPr marL="285750" indent="-285750" algn="just">
              <a:buClr>
                <a:schemeClr val="accent4">
                  <a:lumMod val="75000"/>
                </a:schemeClr>
              </a:buClr>
              <a:buSzPct val="80000"/>
              <a:buFont typeface="Courier New" panose="02070309020205020404" pitchFamily="49" charset="0"/>
              <a:buChar char="o"/>
            </a:pPr>
            <a:r>
              <a:rPr lang="en-IN" sz="1900" b="1" dirty="0">
                <a:latin typeface="Times New Roman" panose="02020603050405020304" pitchFamily="18" charset="0"/>
                <a:cs typeface="Times New Roman" panose="02020603050405020304" pitchFamily="18" charset="0"/>
              </a:rPr>
              <a:t>Average Production:</a:t>
            </a:r>
            <a:r>
              <a:rPr lang="en-IN" sz="1900" dirty="0">
                <a:latin typeface="Times New Roman" panose="02020603050405020304" pitchFamily="18" charset="0"/>
                <a:cs typeface="Times New Roman" panose="02020603050405020304" pitchFamily="18" charset="0"/>
              </a:rPr>
              <a:t> Kharif also has the highest average production at around </a:t>
            </a:r>
            <a:r>
              <a:rPr lang="en-IN" sz="1900" b="1" dirty="0">
                <a:latin typeface="Times New Roman" panose="02020603050405020304" pitchFamily="18" charset="0"/>
                <a:cs typeface="Times New Roman" panose="02020603050405020304" pitchFamily="18" charset="0"/>
              </a:rPr>
              <a:t>46 tonnes</a:t>
            </a:r>
            <a:r>
              <a:rPr lang="en-IN" sz="1900" dirty="0">
                <a:latin typeface="Times New Roman" panose="02020603050405020304" pitchFamily="18" charset="0"/>
                <a:cs typeface="Times New Roman" panose="02020603050405020304" pitchFamily="18" charset="0"/>
              </a:rPr>
              <a:t>, followed by </a:t>
            </a:r>
            <a:r>
              <a:rPr lang="en-IN" sz="1900" b="1" dirty="0">
                <a:latin typeface="Times New Roman" panose="02020603050405020304" pitchFamily="18" charset="0"/>
                <a:cs typeface="Times New Roman" panose="02020603050405020304" pitchFamily="18" charset="0"/>
              </a:rPr>
              <a:t>Rabi (~41 tonnes)</a:t>
            </a:r>
            <a:r>
              <a:rPr lang="en-IN" sz="1900" dirty="0">
                <a:latin typeface="Times New Roman" panose="02020603050405020304" pitchFamily="18" charset="0"/>
                <a:cs typeface="Times New Roman" panose="02020603050405020304" pitchFamily="18" charset="0"/>
              </a:rPr>
              <a:t> and </a:t>
            </a:r>
            <a:r>
              <a:rPr lang="en-IN" sz="1900" b="1" dirty="0">
                <a:latin typeface="Times New Roman" panose="02020603050405020304" pitchFamily="18" charset="0"/>
                <a:cs typeface="Times New Roman" panose="02020603050405020304" pitchFamily="18" charset="0"/>
              </a:rPr>
              <a:t>Zaid (~39 tonnes)</a:t>
            </a:r>
            <a:r>
              <a:rPr lang="en-IN" sz="1900" dirty="0">
                <a:latin typeface="Times New Roman" panose="02020603050405020304" pitchFamily="18" charset="0"/>
                <a:cs typeface="Times New Roman" panose="02020603050405020304" pitchFamily="18" charset="0"/>
              </a:rPr>
              <a:t>. </a:t>
            </a:r>
          </a:p>
          <a:p>
            <a:pPr marL="285750" indent="-285750" algn="just">
              <a:buClr>
                <a:schemeClr val="accent4">
                  <a:lumMod val="75000"/>
                </a:schemeClr>
              </a:buClr>
              <a:buSzPct val="80000"/>
              <a:buFont typeface="Courier New" panose="02070309020205020404" pitchFamily="49" charset="0"/>
              <a:buChar char="o"/>
            </a:pPr>
            <a:r>
              <a:rPr lang="en-IN" sz="1900" b="1" dirty="0">
                <a:latin typeface="Times New Roman" panose="02020603050405020304" pitchFamily="18" charset="0"/>
                <a:cs typeface="Times New Roman" panose="02020603050405020304" pitchFamily="18" charset="0"/>
              </a:rPr>
              <a:t>Average Revenue:</a:t>
            </a:r>
            <a:r>
              <a:rPr lang="en-IN" sz="1900" dirty="0">
                <a:latin typeface="Times New Roman" panose="02020603050405020304" pitchFamily="18" charset="0"/>
                <a:cs typeface="Times New Roman" panose="02020603050405020304" pitchFamily="18" charset="0"/>
              </a:rPr>
              <a:t> </a:t>
            </a:r>
            <a:r>
              <a:rPr lang="en-IN" sz="1900" b="1" dirty="0">
                <a:latin typeface="Times New Roman" panose="02020603050405020304" pitchFamily="18" charset="0"/>
                <a:cs typeface="Times New Roman" panose="02020603050405020304" pitchFamily="18" charset="0"/>
              </a:rPr>
              <a:t>Kharif generates the highest average revenue (~₹7.1 lakh)</a:t>
            </a:r>
            <a:r>
              <a:rPr lang="en-IN" sz="1900" dirty="0">
                <a:latin typeface="Times New Roman" panose="02020603050405020304" pitchFamily="18" charset="0"/>
                <a:cs typeface="Times New Roman" panose="02020603050405020304" pitchFamily="18" charset="0"/>
              </a:rPr>
              <a:t>, while Rabi generates around </a:t>
            </a:r>
            <a:r>
              <a:rPr lang="en-IN" sz="1900" b="1" dirty="0">
                <a:latin typeface="Times New Roman" panose="02020603050405020304" pitchFamily="18" charset="0"/>
                <a:cs typeface="Times New Roman" panose="02020603050405020304" pitchFamily="18" charset="0"/>
              </a:rPr>
              <a:t>₹6.0 lakh</a:t>
            </a:r>
            <a:r>
              <a:rPr lang="en-IN" sz="1900" dirty="0">
                <a:latin typeface="Times New Roman" panose="02020603050405020304" pitchFamily="18" charset="0"/>
                <a:cs typeface="Times New Roman" panose="02020603050405020304" pitchFamily="18" charset="0"/>
              </a:rPr>
              <a:t> and Zaid around </a:t>
            </a:r>
            <a:r>
              <a:rPr lang="en-IN" sz="1900" b="1" dirty="0">
                <a:latin typeface="Times New Roman" panose="02020603050405020304" pitchFamily="18" charset="0"/>
                <a:cs typeface="Times New Roman" panose="02020603050405020304" pitchFamily="18" charset="0"/>
              </a:rPr>
              <a:t>₹5.2 lakh</a:t>
            </a:r>
            <a:r>
              <a:rPr lang="en-IN" sz="1900" dirty="0">
                <a:latin typeface="Times New Roman" panose="02020603050405020304" pitchFamily="18" charset="0"/>
                <a:cs typeface="Times New Roman" panose="02020603050405020304" pitchFamily="18" charset="0"/>
              </a:rPr>
              <a:t>. </a:t>
            </a:r>
          </a:p>
          <a:p>
            <a:pPr marL="285750" indent="-285750" algn="just">
              <a:buClr>
                <a:schemeClr val="accent4">
                  <a:lumMod val="75000"/>
                </a:schemeClr>
              </a:buClr>
              <a:buSzPct val="80000"/>
              <a:buFont typeface="Courier New" panose="02070309020205020404" pitchFamily="49" charset="0"/>
              <a:buChar char="o"/>
            </a:pPr>
            <a:r>
              <a:rPr lang="en-IN" sz="1900" b="1" dirty="0">
                <a:latin typeface="Times New Roman" panose="02020603050405020304" pitchFamily="18" charset="0"/>
                <a:cs typeface="Times New Roman" panose="02020603050405020304" pitchFamily="18" charset="0"/>
              </a:rPr>
              <a:t>Average Profit:</a:t>
            </a:r>
            <a:r>
              <a:rPr lang="en-IN" sz="1900" dirty="0">
                <a:latin typeface="Times New Roman" panose="02020603050405020304" pitchFamily="18" charset="0"/>
                <a:cs typeface="Times New Roman" panose="02020603050405020304" pitchFamily="18" charset="0"/>
              </a:rPr>
              <a:t> Kharif is the most profitable season with approximately </a:t>
            </a:r>
            <a:r>
              <a:rPr lang="en-IN" sz="1900" b="1" dirty="0">
                <a:latin typeface="Times New Roman" panose="02020603050405020304" pitchFamily="18" charset="0"/>
                <a:cs typeface="Times New Roman" panose="02020603050405020304" pitchFamily="18" charset="0"/>
              </a:rPr>
              <a:t>₹1.8 lakh average profit</a:t>
            </a:r>
            <a:r>
              <a:rPr lang="en-IN" sz="1900" dirty="0">
                <a:latin typeface="Times New Roman" panose="02020603050405020304" pitchFamily="18" charset="0"/>
                <a:cs typeface="Times New Roman" panose="02020603050405020304" pitchFamily="18" charset="0"/>
              </a:rPr>
              <a:t>. Rabi generates around </a:t>
            </a:r>
            <a:r>
              <a:rPr lang="en-IN" sz="1900" b="1" dirty="0">
                <a:latin typeface="Times New Roman" panose="02020603050405020304" pitchFamily="18" charset="0"/>
                <a:cs typeface="Times New Roman" panose="02020603050405020304" pitchFamily="18" charset="0"/>
              </a:rPr>
              <a:t>₹0.9 lakh</a:t>
            </a:r>
            <a:r>
              <a:rPr lang="en-IN" sz="1900" dirty="0">
                <a:latin typeface="Times New Roman" panose="02020603050405020304" pitchFamily="18" charset="0"/>
                <a:cs typeface="Times New Roman" panose="02020603050405020304" pitchFamily="18" charset="0"/>
              </a:rPr>
              <a:t>, whereas </a:t>
            </a:r>
            <a:r>
              <a:rPr lang="en-IN" sz="1900" b="1" dirty="0">
                <a:latin typeface="Times New Roman" panose="02020603050405020304" pitchFamily="18" charset="0"/>
                <a:cs typeface="Times New Roman" panose="02020603050405020304" pitchFamily="18" charset="0"/>
              </a:rPr>
              <a:t>Zaid shows an average loss of approximately ₹25,000</a:t>
            </a:r>
            <a:r>
              <a:rPr lang="en-IN" sz="1900" dirty="0">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14148681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1FE8BD-674A-D3C5-D148-8D8226EFA7D1}"/>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ACCFAA6A-1E52-96A3-91F1-24295B4C08F0}"/>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A77A11BA-5614-CC0C-66AD-2B109A2F548A}"/>
              </a:ext>
            </a:extLst>
          </p:cNvPr>
          <p:cNvSpPr>
            <a:spLocks noGrp="1"/>
          </p:cNvSpPr>
          <p:nvPr>
            <p:ph type="title"/>
          </p:nvPr>
        </p:nvSpPr>
        <p:spPr>
          <a:xfrm>
            <a:off x="501940" y="269240"/>
            <a:ext cx="2981643" cy="830997"/>
          </a:xfrm>
        </p:spPr>
        <p:txBody>
          <a:bodyPr>
            <a:normAutofit/>
          </a:bodyPr>
          <a:lstStyle/>
          <a:p>
            <a:r>
              <a:rPr lang="en-GB" sz="4000" u="sng" dirty="0">
                <a:latin typeface="Times New Roman" panose="02020603050405020304" pitchFamily="18" charset="0"/>
                <a:cs typeface="Times New Roman" panose="02020603050405020304" pitchFamily="18" charset="0"/>
              </a:rPr>
              <a:t>RESULTS </a:t>
            </a:r>
            <a:endParaRPr lang="en-IN" sz="4000" u="sng" dirty="0">
              <a:latin typeface="Times New Roman" panose="02020603050405020304" pitchFamily="18" charset="0"/>
              <a:cs typeface="Times New Roman" panose="02020603050405020304" pitchFamily="18" charset="0"/>
            </a:endParaRPr>
          </a:p>
        </p:txBody>
      </p:sp>
      <p:sp>
        <p:nvSpPr>
          <p:cNvPr id="7" name="Text Placeholder 30">
            <a:extLst>
              <a:ext uri="{FF2B5EF4-FFF2-40B4-BE49-F238E27FC236}">
                <a16:creationId xmlns:a16="http://schemas.microsoft.com/office/drawing/2014/main" id="{BA53D498-066D-AC14-C237-2AC38A37A6EF}"/>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F2804B6D-6BD4-3FC7-3343-B5900A1D54D7}"/>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3" name="Picture 2">
            <a:extLst>
              <a:ext uri="{FF2B5EF4-FFF2-40B4-BE49-F238E27FC236}">
                <a16:creationId xmlns:a16="http://schemas.microsoft.com/office/drawing/2014/main" id="{BD0EDB6E-3BA8-7572-6FCB-DB619563F96D}"/>
              </a:ext>
            </a:extLst>
          </p:cNvPr>
          <p:cNvPicPr>
            <a:picLocks noChangeAspect="1"/>
          </p:cNvPicPr>
          <p:nvPr/>
        </p:nvPicPr>
        <p:blipFill>
          <a:blip r:embed="rId3"/>
          <a:stretch>
            <a:fillRect/>
          </a:stretch>
        </p:blipFill>
        <p:spPr>
          <a:xfrm>
            <a:off x="6095999" y="1100237"/>
            <a:ext cx="5882683" cy="5564723"/>
          </a:xfrm>
          <a:prstGeom prst="rect">
            <a:avLst/>
          </a:prstGeom>
        </p:spPr>
      </p:pic>
      <p:sp>
        <p:nvSpPr>
          <p:cNvPr id="9" name="TextBox 8">
            <a:extLst>
              <a:ext uri="{FF2B5EF4-FFF2-40B4-BE49-F238E27FC236}">
                <a16:creationId xmlns:a16="http://schemas.microsoft.com/office/drawing/2014/main" id="{1BF2F488-6D2A-DB8F-C90E-A3176353CD44}"/>
              </a:ext>
            </a:extLst>
          </p:cNvPr>
          <p:cNvSpPr txBox="1"/>
          <p:nvPr/>
        </p:nvSpPr>
        <p:spPr>
          <a:xfrm>
            <a:off x="320982" y="1204942"/>
            <a:ext cx="5651193" cy="5355312"/>
          </a:xfrm>
          <a:prstGeom prst="rect">
            <a:avLst/>
          </a:prstGeom>
          <a:noFill/>
        </p:spPr>
        <p:txBody>
          <a:bodyPr wrap="square">
            <a:spAutoFit/>
          </a:bodyPr>
          <a:lstStyle/>
          <a:p>
            <a:pPr algn="just">
              <a:buNone/>
            </a:pPr>
            <a:r>
              <a:rPr lang="en-US" sz="1900" b="1" u="sng" dirty="0">
                <a:latin typeface="Times New Roman" panose="02020603050405020304" pitchFamily="18" charset="0"/>
                <a:cs typeface="Times New Roman" panose="02020603050405020304" pitchFamily="18" charset="0"/>
              </a:rPr>
              <a:t>Environmental Conditions by Season</a:t>
            </a:r>
          </a:p>
          <a:p>
            <a:pPr marL="285750" indent="-285750" algn="just">
              <a:buClr>
                <a:schemeClr val="accent4">
                  <a:lumMod val="75000"/>
                </a:schemeClr>
              </a:buClr>
              <a:buSzPct val="80000"/>
              <a:buFont typeface="Courier New" panose="02070309020205020404" pitchFamily="49" charset="0"/>
              <a:buChar char="o"/>
            </a:pPr>
            <a:r>
              <a:rPr lang="en-US" sz="1900" b="1" dirty="0">
                <a:latin typeface="Times New Roman" panose="02020603050405020304" pitchFamily="18" charset="0"/>
                <a:cs typeface="Times New Roman" panose="02020603050405020304" pitchFamily="18" charset="0"/>
              </a:rPr>
              <a:t>Rainfall:</a:t>
            </a:r>
            <a:r>
              <a:rPr lang="en-US" sz="1900" dirty="0">
                <a:latin typeface="Times New Roman" panose="02020603050405020304" pitchFamily="18" charset="0"/>
                <a:cs typeface="Times New Roman" panose="02020603050405020304" pitchFamily="18" charset="0"/>
              </a:rPr>
              <a:t> Kharif receives the highest average rainfall of approximately </a:t>
            </a:r>
            <a:r>
              <a:rPr lang="en-US" sz="1900" b="1" dirty="0">
                <a:latin typeface="Times New Roman" panose="02020603050405020304" pitchFamily="18" charset="0"/>
                <a:cs typeface="Times New Roman" panose="02020603050405020304" pitchFamily="18" charset="0"/>
              </a:rPr>
              <a:t>850 mm</a:t>
            </a:r>
            <a:r>
              <a:rPr lang="en-US" sz="1900" dirty="0">
                <a:latin typeface="Times New Roman" panose="02020603050405020304" pitchFamily="18" charset="0"/>
                <a:cs typeface="Times New Roman" panose="02020603050405020304" pitchFamily="18" charset="0"/>
              </a:rPr>
              <a:t>, while Rabi receives around </a:t>
            </a:r>
            <a:r>
              <a:rPr lang="en-US" sz="1900" b="1" dirty="0">
                <a:latin typeface="Times New Roman" panose="02020603050405020304" pitchFamily="18" charset="0"/>
                <a:cs typeface="Times New Roman" panose="02020603050405020304" pitchFamily="18" charset="0"/>
              </a:rPr>
              <a:t>440 mm</a:t>
            </a:r>
            <a:r>
              <a:rPr lang="en-US" sz="1900" dirty="0">
                <a:latin typeface="Times New Roman" panose="02020603050405020304" pitchFamily="18" charset="0"/>
                <a:cs typeface="Times New Roman" panose="02020603050405020304" pitchFamily="18" charset="0"/>
              </a:rPr>
              <a:t> and Zaid only </a:t>
            </a:r>
            <a:r>
              <a:rPr lang="en-US" sz="1900" b="1" dirty="0">
                <a:latin typeface="Times New Roman" panose="02020603050405020304" pitchFamily="18" charset="0"/>
                <a:cs typeface="Times New Roman" panose="02020603050405020304" pitchFamily="18" charset="0"/>
              </a:rPr>
              <a:t>300 mm</a:t>
            </a:r>
            <a:r>
              <a:rPr lang="en-US" sz="1900" dirty="0">
                <a:latin typeface="Times New Roman" panose="02020603050405020304" pitchFamily="18" charset="0"/>
                <a:cs typeface="Times New Roman" panose="02020603050405020304" pitchFamily="18" charset="0"/>
              </a:rPr>
              <a:t>. This reflects the stronger availability of natural water during Kharif. </a:t>
            </a:r>
          </a:p>
          <a:p>
            <a:pPr marL="285750" indent="-285750" algn="just">
              <a:buClr>
                <a:schemeClr val="accent4">
                  <a:lumMod val="75000"/>
                </a:schemeClr>
              </a:buClr>
              <a:buSzPct val="80000"/>
              <a:buFont typeface="Courier New" panose="02070309020205020404" pitchFamily="49" charset="0"/>
              <a:buChar char="o"/>
            </a:pPr>
            <a:r>
              <a:rPr lang="en-US" sz="1900" b="1" dirty="0">
                <a:latin typeface="Times New Roman" panose="02020603050405020304" pitchFamily="18" charset="0"/>
                <a:cs typeface="Times New Roman" panose="02020603050405020304" pitchFamily="18" charset="0"/>
              </a:rPr>
              <a:t>Temperature:</a:t>
            </a:r>
            <a:r>
              <a:rPr lang="en-US" sz="1900" dirty="0">
                <a:latin typeface="Times New Roman" panose="02020603050405020304" pitchFamily="18" charset="0"/>
                <a:cs typeface="Times New Roman" panose="02020603050405020304" pitchFamily="18" charset="0"/>
              </a:rPr>
              <a:t> </a:t>
            </a:r>
            <a:r>
              <a:rPr lang="en-US" sz="1900" b="1" dirty="0">
                <a:latin typeface="Times New Roman" panose="02020603050405020304" pitchFamily="18" charset="0"/>
                <a:cs typeface="Times New Roman" panose="02020603050405020304" pitchFamily="18" charset="0"/>
              </a:rPr>
              <a:t>Zaid is the hottest season (~31°C)</a:t>
            </a:r>
            <a:r>
              <a:rPr lang="en-US" sz="1900" dirty="0">
                <a:latin typeface="Times New Roman" panose="02020603050405020304" pitchFamily="18" charset="0"/>
                <a:cs typeface="Times New Roman" panose="02020603050405020304" pitchFamily="18" charset="0"/>
              </a:rPr>
              <a:t>, followed by Kharif (~28.5°C), while </a:t>
            </a:r>
            <a:r>
              <a:rPr lang="en-US" sz="1900" b="1" dirty="0">
                <a:latin typeface="Times New Roman" panose="02020603050405020304" pitchFamily="18" charset="0"/>
                <a:cs typeface="Times New Roman" panose="02020603050405020304" pitchFamily="18" charset="0"/>
              </a:rPr>
              <a:t>Rabi is the coolest (~23.5°C)</a:t>
            </a:r>
            <a:r>
              <a:rPr lang="en-US" sz="1900" dirty="0">
                <a:latin typeface="Times New Roman" panose="02020603050405020304" pitchFamily="18" charset="0"/>
                <a:cs typeface="Times New Roman" panose="02020603050405020304" pitchFamily="18" charset="0"/>
              </a:rPr>
              <a:t>. </a:t>
            </a:r>
          </a:p>
          <a:p>
            <a:pPr marL="285750" indent="-285750" algn="just">
              <a:buClr>
                <a:schemeClr val="accent4">
                  <a:lumMod val="75000"/>
                </a:schemeClr>
              </a:buClr>
              <a:buSzPct val="80000"/>
              <a:buFont typeface="Courier New" panose="02070309020205020404" pitchFamily="49" charset="0"/>
              <a:buChar char="o"/>
            </a:pPr>
            <a:r>
              <a:rPr lang="en-US" sz="1900" b="1" dirty="0">
                <a:latin typeface="Times New Roman" panose="02020603050405020304" pitchFamily="18" charset="0"/>
                <a:cs typeface="Times New Roman" panose="02020603050405020304" pitchFamily="18" charset="0"/>
              </a:rPr>
              <a:t>Humidity &amp; Soil Moisture:</a:t>
            </a:r>
            <a:r>
              <a:rPr lang="en-US" sz="1900" dirty="0">
                <a:latin typeface="Times New Roman" panose="02020603050405020304" pitchFamily="18" charset="0"/>
                <a:cs typeface="Times New Roman" panose="02020603050405020304" pitchFamily="18" charset="0"/>
              </a:rPr>
              <a:t> Kharif has the highest </a:t>
            </a:r>
            <a:r>
              <a:rPr lang="en-US" sz="1900" b="1" dirty="0">
                <a:latin typeface="Times New Roman" panose="02020603050405020304" pitchFamily="18" charset="0"/>
                <a:cs typeface="Times New Roman" panose="02020603050405020304" pitchFamily="18" charset="0"/>
              </a:rPr>
              <a:t>humidity (~72%)</a:t>
            </a:r>
            <a:r>
              <a:rPr lang="en-US" sz="1900" dirty="0">
                <a:latin typeface="Times New Roman" panose="02020603050405020304" pitchFamily="18" charset="0"/>
                <a:cs typeface="Times New Roman" panose="02020603050405020304" pitchFamily="18" charset="0"/>
              </a:rPr>
              <a:t> and </a:t>
            </a:r>
            <a:r>
              <a:rPr lang="en-US" sz="1900" b="1" dirty="0">
                <a:latin typeface="Times New Roman" panose="02020603050405020304" pitchFamily="18" charset="0"/>
                <a:cs typeface="Times New Roman" panose="02020603050405020304" pitchFamily="18" charset="0"/>
              </a:rPr>
              <a:t>soil moisture (~31%)</a:t>
            </a:r>
            <a:r>
              <a:rPr lang="en-US" sz="1900" dirty="0">
                <a:latin typeface="Times New Roman" panose="02020603050405020304" pitchFamily="18" charset="0"/>
                <a:cs typeface="Times New Roman" panose="02020603050405020304" pitchFamily="18" charset="0"/>
              </a:rPr>
              <a:t>. Both values decline in Rabi and reach their lowest levels in Zaid. </a:t>
            </a:r>
          </a:p>
          <a:p>
            <a:pPr marL="285750" indent="-285750" algn="just">
              <a:buClr>
                <a:schemeClr val="accent4">
                  <a:lumMod val="75000"/>
                </a:schemeClr>
              </a:buClr>
              <a:buSzPct val="80000"/>
              <a:buFont typeface="Courier New" panose="02070309020205020404" pitchFamily="49" charset="0"/>
              <a:buChar char="o"/>
            </a:pPr>
            <a:r>
              <a:rPr lang="en-US" sz="1900" b="1" dirty="0">
                <a:latin typeface="Times New Roman" panose="02020603050405020304" pitchFamily="18" charset="0"/>
                <a:cs typeface="Times New Roman" panose="02020603050405020304" pitchFamily="18" charset="0"/>
              </a:rPr>
              <a:t>Sunlight &amp; Disease Risk:</a:t>
            </a:r>
            <a:r>
              <a:rPr lang="en-US" sz="1900" dirty="0">
                <a:latin typeface="Times New Roman" panose="02020603050405020304" pitchFamily="18" charset="0"/>
                <a:cs typeface="Times New Roman" panose="02020603050405020304" pitchFamily="18" charset="0"/>
              </a:rPr>
              <a:t> </a:t>
            </a:r>
            <a:r>
              <a:rPr lang="en-US" sz="1900" b="1" dirty="0">
                <a:latin typeface="Times New Roman" panose="02020603050405020304" pitchFamily="18" charset="0"/>
                <a:cs typeface="Times New Roman" panose="02020603050405020304" pitchFamily="18" charset="0"/>
              </a:rPr>
              <a:t>Zaid has the highest sunlight exposure (~8.2 hours/day)</a:t>
            </a:r>
            <a:r>
              <a:rPr lang="en-US" sz="1900" dirty="0">
                <a:latin typeface="Times New Roman" panose="02020603050405020304" pitchFamily="18" charset="0"/>
                <a:cs typeface="Times New Roman" panose="02020603050405020304" pitchFamily="18" charset="0"/>
              </a:rPr>
              <a:t> but the lowest disease/pest risk (~38%). Kharif has lower sunlight (~6.8 hours/day) but the </a:t>
            </a:r>
            <a:r>
              <a:rPr lang="en-US" sz="1900" b="1" dirty="0">
                <a:latin typeface="Times New Roman" panose="02020603050405020304" pitchFamily="18" charset="0"/>
                <a:cs typeface="Times New Roman" panose="02020603050405020304" pitchFamily="18" charset="0"/>
              </a:rPr>
              <a:t>highest disease/pest risk (~54%)</a:t>
            </a:r>
            <a:r>
              <a:rPr lang="en-US" sz="1900" dirty="0">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38728077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01925A-9B66-5296-64C7-F2394DB8224E}"/>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A0A0B309-7707-21D8-7651-78825CC35056}"/>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4D9229BF-F748-44B6-5249-BA9225F9E1B1}"/>
              </a:ext>
            </a:extLst>
          </p:cNvPr>
          <p:cNvSpPr>
            <a:spLocks noGrp="1"/>
          </p:cNvSpPr>
          <p:nvPr>
            <p:ph type="title"/>
          </p:nvPr>
        </p:nvSpPr>
        <p:spPr>
          <a:xfrm>
            <a:off x="501940" y="269240"/>
            <a:ext cx="2981643" cy="830997"/>
          </a:xfrm>
        </p:spPr>
        <p:txBody>
          <a:bodyPr>
            <a:normAutofit/>
          </a:bodyPr>
          <a:lstStyle/>
          <a:p>
            <a:r>
              <a:rPr lang="en-GB" sz="4000" u="sng" dirty="0">
                <a:latin typeface="Times New Roman" panose="02020603050405020304" pitchFamily="18" charset="0"/>
                <a:cs typeface="Times New Roman" panose="02020603050405020304" pitchFamily="18" charset="0"/>
              </a:rPr>
              <a:t>RESULTS </a:t>
            </a:r>
            <a:endParaRPr lang="en-IN" sz="4000" u="sng" dirty="0">
              <a:latin typeface="Times New Roman" panose="02020603050405020304" pitchFamily="18" charset="0"/>
              <a:cs typeface="Times New Roman" panose="02020603050405020304" pitchFamily="18" charset="0"/>
            </a:endParaRPr>
          </a:p>
        </p:txBody>
      </p:sp>
      <p:sp>
        <p:nvSpPr>
          <p:cNvPr id="7" name="Text Placeholder 30">
            <a:extLst>
              <a:ext uri="{FF2B5EF4-FFF2-40B4-BE49-F238E27FC236}">
                <a16:creationId xmlns:a16="http://schemas.microsoft.com/office/drawing/2014/main" id="{603E74BD-CD59-C16C-66FA-FCBA9920880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4217D0FB-EF5A-EDFD-CC05-1EA936B1BEEB}"/>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3" name="Picture 2">
            <a:extLst>
              <a:ext uri="{FF2B5EF4-FFF2-40B4-BE49-F238E27FC236}">
                <a16:creationId xmlns:a16="http://schemas.microsoft.com/office/drawing/2014/main" id="{62D72E0C-D8EB-02D5-2AE4-4BAF05BE03F0}"/>
              </a:ext>
            </a:extLst>
          </p:cNvPr>
          <p:cNvPicPr>
            <a:picLocks noChangeAspect="1"/>
          </p:cNvPicPr>
          <p:nvPr/>
        </p:nvPicPr>
        <p:blipFill>
          <a:blip r:embed="rId3"/>
          <a:stretch>
            <a:fillRect/>
          </a:stretch>
        </p:blipFill>
        <p:spPr>
          <a:xfrm>
            <a:off x="6096000" y="1100237"/>
            <a:ext cx="5865743" cy="5564723"/>
          </a:xfrm>
          <a:prstGeom prst="rect">
            <a:avLst/>
          </a:prstGeom>
        </p:spPr>
      </p:pic>
      <p:sp>
        <p:nvSpPr>
          <p:cNvPr id="9" name="TextBox 8">
            <a:extLst>
              <a:ext uri="{FF2B5EF4-FFF2-40B4-BE49-F238E27FC236}">
                <a16:creationId xmlns:a16="http://schemas.microsoft.com/office/drawing/2014/main" id="{52DD4259-58C5-41EB-E8BD-73DDCEC99365}"/>
              </a:ext>
            </a:extLst>
          </p:cNvPr>
          <p:cNvSpPr txBox="1"/>
          <p:nvPr/>
        </p:nvSpPr>
        <p:spPr>
          <a:xfrm>
            <a:off x="320982" y="1515305"/>
            <a:ext cx="5622618" cy="3893374"/>
          </a:xfrm>
          <a:prstGeom prst="rect">
            <a:avLst/>
          </a:prstGeom>
          <a:noFill/>
        </p:spPr>
        <p:txBody>
          <a:bodyPr wrap="square">
            <a:spAutoFit/>
          </a:bodyPr>
          <a:lstStyle/>
          <a:p>
            <a:pPr algn="just">
              <a:buNone/>
            </a:pPr>
            <a:r>
              <a:rPr lang="en-US" sz="1900" b="1" u="sng" dirty="0">
                <a:latin typeface="Times New Roman" panose="02020603050405020304" pitchFamily="18" charset="0"/>
                <a:cs typeface="Times New Roman" panose="02020603050405020304" pitchFamily="18" charset="0"/>
              </a:rPr>
              <a:t>Irrigation Method Analysis by Season</a:t>
            </a:r>
          </a:p>
          <a:p>
            <a:pPr marL="342900" indent="-342900" algn="just">
              <a:buClr>
                <a:schemeClr val="accent4">
                  <a:lumMod val="75000"/>
                </a:schemeClr>
              </a:buClr>
              <a:buSzPct val="80000"/>
              <a:buFont typeface="Courier New" panose="02070309020205020404" pitchFamily="49" charset="0"/>
              <a:buChar char="o"/>
            </a:pPr>
            <a:r>
              <a:rPr lang="en-US" sz="1900" b="1" dirty="0">
                <a:latin typeface="Times New Roman" panose="02020603050405020304" pitchFamily="18" charset="0"/>
                <a:cs typeface="Times New Roman" panose="02020603050405020304" pitchFamily="18" charset="0"/>
              </a:rPr>
              <a:t>Drip Irrigation:</a:t>
            </a:r>
            <a:r>
              <a:rPr lang="en-US" sz="1900" dirty="0">
                <a:latin typeface="Times New Roman" panose="02020603050405020304" pitchFamily="18" charset="0"/>
                <a:cs typeface="Times New Roman" panose="02020603050405020304" pitchFamily="18" charset="0"/>
              </a:rPr>
              <a:t> Drip contributes approximately </a:t>
            </a:r>
            <a:r>
              <a:rPr lang="en-US" sz="1900" b="1" dirty="0">
                <a:latin typeface="Times New Roman" panose="02020603050405020304" pitchFamily="18" charset="0"/>
                <a:cs typeface="Times New Roman" panose="02020603050405020304" pitchFamily="18" charset="0"/>
              </a:rPr>
              <a:t>23% of records</a:t>
            </a:r>
            <a:r>
              <a:rPr lang="en-US" sz="1900" dirty="0">
                <a:latin typeface="Times New Roman" panose="02020603050405020304" pitchFamily="18" charset="0"/>
                <a:cs typeface="Times New Roman" panose="02020603050405020304" pitchFamily="18" charset="0"/>
              </a:rPr>
              <a:t> in Kharif and Rabi, increasing slightly to </a:t>
            </a:r>
            <a:r>
              <a:rPr lang="en-US" sz="1900" b="1" dirty="0">
                <a:latin typeface="Times New Roman" panose="02020603050405020304" pitchFamily="18" charset="0"/>
                <a:cs typeface="Times New Roman" panose="02020603050405020304" pitchFamily="18" charset="0"/>
              </a:rPr>
              <a:t>24% in Zaid</a:t>
            </a:r>
            <a:r>
              <a:rPr lang="en-US" sz="1900" dirty="0">
                <a:latin typeface="Times New Roman" panose="02020603050405020304" pitchFamily="18" charset="0"/>
                <a:cs typeface="Times New Roman" panose="02020603050405020304" pitchFamily="18" charset="0"/>
              </a:rPr>
              <a:t>. </a:t>
            </a:r>
          </a:p>
          <a:p>
            <a:pPr marL="342900" indent="-342900" algn="just">
              <a:buClr>
                <a:schemeClr val="accent4">
                  <a:lumMod val="75000"/>
                </a:schemeClr>
              </a:buClr>
              <a:buSzPct val="80000"/>
              <a:buFont typeface="Courier New" panose="02070309020205020404" pitchFamily="49" charset="0"/>
              <a:buChar char="o"/>
            </a:pPr>
            <a:r>
              <a:rPr lang="en-US" sz="1900" b="1" dirty="0">
                <a:latin typeface="Times New Roman" panose="02020603050405020304" pitchFamily="18" charset="0"/>
                <a:cs typeface="Times New Roman" panose="02020603050405020304" pitchFamily="18" charset="0"/>
              </a:rPr>
              <a:t>Flood Irrigation:</a:t>
            </a:r>
            <a:r>
              <a:rPr lang="en-US" sz="1900" dirty="0">
                <a:latin typeface="Times New Roman" panose="02020603050405020304" pitchFamily="18" charset="0"/>
                <a:cs typeface="Times New Roman" panose="02020603050405020304" pitchFamily="18" charset="0"/>
              </a:rPr>
              <a:t> Flood irrigation is the </a:t>
            </a:r>
            <a:r>
              <a:rPr lang="en-US" sz="1900" b="1" dirty="0">
                <a:latin typeface="Times New Roman" panose="02020603050405020304" pitchFamily="18" charset="0"/>
                <a:cs typeface="Times New Roman" panose="02020603050405020304" pitchFamily="18" charset="0"/>
              </a:rPr>
              <a:t>most widely represented method</a:t>
            </a:r>
            <a:r>
              <a:rPr lang="en-US" sz="1900" dirty="0">
                <a:latin typeface="Times New Roman" panose="02020603050405020304" pitchFamily="18" charset="0"/>
                <a:cs typeface="Times New Roman" panose="02020603050405020304" pitchFamily="18" charset="0"/>
              </a:rPr>
              <a:t>, accounting for around </a:t>
            </a:r>
            <a:r>
              <a:rPr lang="en-US" sz="1900" b="1" dirty="0">
                <a:latin typeface="Times New Roman" panose="02020603050405020304" pitchFamily="18" charset="0"/>
                <a:cs typeface="Times New Roman" panose="02020603050405020304" pitchFamily="18" charset="0"/>
              </a:rPr>
              <a:t>33% in Kharif</a:t>
            </a:r>
            <a:r>
              <a:rPr lang="en-US" sz="1900" dirty="0">
                <a:latin typeface="Times New Roman" panose="02020603050405020304" pitchFamily="18" charset="0"/>
                <a:cs typeface="Times New Roman" panose="02020603050405020304" pitchFamily="18" charset="0"/>
              </a:rPr>
              <a:t>, </a:t>
            </a:r>
            <a:r>
              <a:rPr lang="en-US" sz="1900" b="1" dirty="0">
                <a:latin typeface="Times New Roman" panose="02020603050405020304" pitchFamily="18" charset="0"/>
                <a:cs typeface="Times New Roman" panose="02020603050405020304" pitchFamily="18" charset="0"/>
              </a:rPr>
              <a:t>32% in Rabi</a:t>
            </a:r>
            <a:r>
              <a:rPr lang="en-US" sz="1900" dirty="0">
                <a:latin typeface="Times New Roman" panose="02020603050405020304" pitchFamily="18" charset="0"/>
                <a:cs typeface="Times New Roman" panose="02020603050405020304" pitchFamily="18" charset="0"/>
              </a:rPr>
              <a:t>, and </a:t>
            </a:r>
            <a:r>
              <a:rPr lang="en-US" sz="1900" b="1" dirty="0">
                <a:latin typeface="Times New Roman" panose="02020603050405020304" pitchFamily="18" charset="0"/>
                <a:cs typeface="Times New Roman" panose="02020603050405020304" pitchFamily="18" charset="0"/>
              </a:rPr>
              <a:t>33% in Zaid</a:t>
            </a:r>
            <a:r>
              <a:rPr lang="en-US" sz="1900" dirty="0">
                <a:latin typeface="Times New Roman" panose="02020603050405020304" pitchFamily="18" charset="0"/>
                <a:cs typeface="Times New Roman" panose="02020603050405020304" pitchFamily="18" charset="0"/>
              </a:rPr>
              <a:t>. </a:t>
            </a:r>
          </a:p>
          <a:p>
            <a:pPr marL="342900" indent="-342900" algn="just">
              <a:buClr>
                <a:schemeClr val="accent4">
                  <a:lumMod val="75000"/>
                </a:schemeClr>
              </a:buClr>
              <a:buSzPct val="80000"/>
              <a:buFont typeface="Courier New" panose="02070309020205020404" pitchFamily="49" charset="0"/>
              <a:buChar char="o"/>
            </a:pPr>
            <a:r>
              <a:rPr lang="en-US" sz="1900" b="1" dirty="0">
                <a:latin typeface="Times New Roman" panose="02020603050405020304" pitchFamily="18" charset="0"/>
                <a:cs typeface="Times New Roman" panose="02020603050405020304" pitchFamily="18" charset="0"/>
              </a:rPr>
              <a:t>Rainfed Farming:</a:t>
            </a:r>
            <a:r>
              <a:rPr lang="en-US" sz="1900" dirty="0">
                <a:latin typeface="Times New Roman" panose="02020603050405020304" pitchFamily="18" charset="0"/>
                <a:cs typeface="Times New Roman" panose="02020603050405020304" pitchFamily="18" charset="0"/>
              </a:rPr>
              <a:t> Rainfed farming represents approximately </a:t>
            </a:r>
            <a:r>
              <a:rPr lang="en-US" sz="1900" b="1" dirty="0">
                <a:latin typeface="Times New Roman" panose="02020603050405020304" pitchFamily="18" charset="0"/>
                <a:cs typeface="Times New Roman" panose="02020603050405020304" pitchFamily="18" charset="0"/>
              </a:rPr>
              <a:t>26–27%</a:t>
            </a:r>
            <a:r>
              <a:rPr lang="en-US" sz="1900" dirty="0">
                <a:latin typeface="Times New Roman" panose="02020603050405020304" pitchFamily="18" charset="0"/>
                <a:cs typeface="Times New Roman" panose="02020603050405020304" pitchFamily="18" charset="0"/>
              </a:rPr>
              <a:t> across all three seasons, showing a relatively consistent distribution. </a:t>
            </a:r>
          </a:p>
          <a:p>
            <a:pPr marL="342900" indent="-342900" algn="just">
              <a:buClr>
                <a:schemeClr val="accent4">
                  <a:lumMod val="75000"/>
                </a:schemeClr>
              </a:buClr>
              <a:buSzPct val="80000"/>
              <a:buFont typeface="Courier New" panose="02070309020205020404" pitchFamily="49" charset="0"/>
              <a:buChar char="o"/>
            </a:pPr>
            <a:r>
              <a:rPr lang="en-US" sz="1900" b="1" dirty="0">
                <a:latin typeface="Times New Roman" panose="02020603050405020304" pitchFamily="18" charset="0"/>
                <a:cs typeface="Times New Roman" panose="02020603050405020304" pitchFamily="18" charset="0"/>
              </a:rPr>
              <a:t>Sprinkler Irrigation:</a:t>
            </a:r>
            <a:r>
              <a:rPr lang="en-US" sz="1900" dirty="0">
                <a:latin typeface="Times New Roman" panose="02020603050405020304" pitchFamily="18" charset="0"/>
                <a:cs typeface="Times New Roman" panose="02020603050405020304" pitchFamily="18" charset="0"/>
              </a:rPr>
              <a:t> Sprinkler accounts for around </a:t>
            </a:r>
            <a:r>
              <a:rPr lang="en-US" sz="1900" b="1" dirty="0">
                <a:latin typeface="Times New Roman" panose="02020603050405020304" pitchFamily="18" charset="0"/>
                <a:cs typeface="Times New Roman" panose="02020603050405020304" pitchFamily="18" charset="0"/>
              </a:rPr>
              <a:t>18% in Kharif and Rabi</a:t>
            </a:r>
            <a:r>
              <a:rPr lang="en-US" sz="1900" dirty="0">
                <a:latin typeface="Times New Roman" panose="02020603050405020304" pitchFamily="18" charset="0"/>
                <a:cs typeface="Times New Roman" panose="02020603050405020304" pitchFamily="18" charset="0"/>
              </a:rPr>
              <a:t>, increasing to approximately </a:t>
            </a:r>
            <a:r>
              <a:rPr lang="en-US" sz="1900" b="1" dirty="0">
                <a:latin typeface="Times New Roman" panose="02020603050405020304" pitchFamily="18" charset="0"/>
                <a:cs typeface="Times New Roman" panose="02020603050405020304" pitchFamily="18" charset="0"/>
              </a:rPr>
              <a:t>20% in Zaid</a:t>
            </a:r>
            <a:r>
              <a:rPr lang="en-US" sz="1900" dirty="0">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38162402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954950-A54F-AC34-497A-895CD6A69086}"/>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2E333401-28E4-FE5C-90BA-1FF0CABB97FF}"/>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1460EF9-663E-3301-F566-BD7A00E93BD2}"/>
              </a:ext>
            </a:extLst>
          </p:cNvPr>
          <p:cNvSpPr>
            <a:spLocks noGrp="1"/>
          </p:cNvSpPr>
          <p:nvPr>
            <p:ph type="title"/>
          </p:nvPr>
        </p:nvSpPr>
        <p:spPr>
          <a:xfrm>
            <a:off x="501940" y="269240"/>
            <a:ext cx="2981643" cy="830997"/>
          </a:xfrm>
        </p:spPr>
        <p:txBody>
          <a:bodyPr>
            <a:normAutofit/>
          </a:bodyPr>
          <a:lstStyle/>
          <a:p>
            <a:r>
              <a:rPr lang="en-GB" sz="4000" u="sng" dirty="0">
                <a:latin typeface="Times New Roman" panose="02020603050405020304" pitchFamily="18" charset="0"/>
                <a:cs typeface="Times New Roman" panose="02020603050405020304" pitchFamily="18" charset="0"/>
              </a:rPr>
              <a:t>RESULTS </a:t>
            </a:r>
            <a:endParaRPr lang="en-IN" sz="4000" u="sng" dirty="0">
              <a:latin typeface="Times New Roman" panose="02020603050405020304" pitchFamily="18" charset="0"/>
              <a:cs typeface="Times New Roman" panose="02020603050405020304" pitchFamily="18" charset="0"/>
            </a:endParaRPr>
          </a:p>
        </p:txBody>
      </p:sp>
      <p:sp>
        <p:nvSpPr>
          <p:cNvPr id="7" name="Text Placeholder 30">
            <a:extLst>
              <a:ext uri="{FF2B5EF4-FFF2-40B4-BE49-F238E27FC236}">
                <a16:creationId xmlns:a16="http://schemas.microsoft.com/office/drawing/2014/main" id="{F78D3003-3514-E8C2-5C84-449059995E70}"/>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D46A4E68-C406-AE64-FB30-8E6F0BD0C174}"/>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3" name="Picture 2">
            <a:extLst>
              <a:ext uri="{FF2B5EF4-FFF2-40B4-BE49-F238E27FC236}">
                <a16:creationId xmlns:a16="http://schemas.microsoft.com/office/drawing/2014/main" id="{B5757BD7-B781-8529-4798-2EC56FFA137B}"/>
              </a:ext>
            </a:extLst>
          </p:cNvPr>
          <p:cNvPicPr>
            <a:picLocks noChangeAspect="1"/>
          </p:cNvPicPr>
          <p:nvPr/>
        </p:nvPicPr>
        <p:blipFill>
          <a:blip r:embed="rId3"/>
          <a:stretch>
            <a:fillRect/>
          </a:stretch>
        </p:blipFill>
        <p:spPr>
          <a:xfrm>
            <a:off x="6096000" y="1100236"/>
            <a:ext cx="5841073" cy="2785963"/>
          </a:xfrm>
          <a:prstGeom prst="rect">
            <a:avLst/>
          </a:prstGeom>
        </p:spPr>
      </p:pic>
      <p:pic>
        <p:nvPicPr>
          <p:cNvPr id="9" name="Picture 8">
            <a:extLst>
              <a:ext uri="{FF2B5EF4-FFF2-40B4-BE49-F238E27FC236}">
                <a16:creationId xmlns:a16="http://schemas.microsoft.com/office/drawing/2014/main" id="{37128A6F-75AF-5166-0C0D-01E5D703F142}"/>
              </a:ext>
            </a:extLst>
          </p:cNvPr>
          <p:cNvPicPr>
            <a:picLocks noChangeAspect="1"/>
          </p:cNvPicPr>
          <p:nvPr/>
        </p:nvPicPr>
        <p:blipFill>
          <a:blip r:embed="rId4"/>
          <a:stretch>
            <a:fillRect/>
          </a:stretch>
        </p:blipFill>
        <p:spPr>
          <a:xfrm>
            <a:off x="6096000" y="3897806"/>
            <a:ext cx="5841073" cy="2767154"/>
          </a:xfrm>
          <a:prstGeom prst="rect">
            <a:avLst/>
          </a:prstGeom>
        </p:spPr>
      </p:pic>
      <p:sp>
        <p:nvSpPr>
          <p:cNvPr id="11" name="TextBox 10">
            <a:extLst>
              <a:ext uri="{FF2B5EF4-FFF2-40B4-BE49-F238E27FC236}">
                <a16:creationId xmlns:a16="http://schemas.microsoft.com/office/drawing/2014/main" id="{5F1F386C-518C-D086-0AFA-B0C3BB61A101}"/>
              </a:ext>
            </a:extLst>
          </p:cNvPr>
          <p:cNvSpPr txBox="1"/>
          <p:nvPr/>
        </p:nvSpPr>
        <p:spPr>
          <a:xfrm>
            <a:off x="320982" y="1255107"/>
            <a:ext cx="5698818" cy="5216813"/>
          </a:xfrm>
          <a:prstGeom prst="rect">
            <a:avLst/>
          </a:prstGeom>
          <a:noFill/>
        </p:spPr>
        <p:txBody>
          <a:bodyPr wrap="square">
            <a:spAutoFit/>
          </a:bodyPr>
          <a:lstStyle/>
          <a:p>
            <a:pPr algn="just">
              <a:buNone/>
            </a:pPr>
            <a:r>
              <a:rPr lang="en-US" sz="1850" b="1" u="sng" dirty="0">
                <a:latin typeface="Times New Roman" panose="02020603050405020304" pitchFamily="18" charset="0"/>
                <a:cs typeface="Times New Roman" panose="02020603050405020304" pitchFamily="18" charset="0"/>
              </a:rPr>
              <a:t>Crop Performance by Season</a:t>
            </a:r>
          </a:p>
          <a:p>
            <a:pPr algn="just">
              <a:buNone/>
            </a:pPr>
            <a:r>
              <a:rPr lang="en-US" sz="1850" b="1" dirty="0">
                <a:latin typeface="Times New Roman" panose="02020603050405020304" pitchFamily="18" charset="0"/>
                <a:cs typeface="Times New Roman" panose="02020603050405020304" pitchFamily="18" charset="0"/>
              </a:rPr>
              <a:t>1. Average Crop Yield</a:t>
            </a:r>
          </a:p>
          <a:p>
            <a:pPr marL="342900" indent="-342900" algn="just">
              <a:buClr>
                <a:schemeClr val="accent5">
                  <a:lumMod val="75000"/>
                </a:schemeClr>
              </a:buClr>
              <a:buSzPct val="80000"/>
              <a:buFont typeface="Courier New" panose="02070309020205020404" pitchFamily="49" charset="0"/>
              <a:buChar char="o"/>
            </a:pPr>
            <a:r>
              <a:rPr lang="en-US" sz="1850" b="1" dirty="0">
                <a:latin typeface="Times New Roman" panose="02020603050405020304" pitchFamily="18" charset="0"/>
                <a:cs typeface="Times New Roman" panose="02020603050405020304" pitchFamily="18" charset="0"/>
              </a:rPr>
              <a:t>Sugarcane</a:t>
            </a:r>
            <a:r>
              <a:rPr lang="en-US" sz="1850" dirty="0">
                <a:latin typeface="Times New Roman" panose="02020603050405020304" pitchFamily="18" charset="0"/>
                <a:cs typeface="Times New Roman" panose="02020603050405020304" pitchFamily="18" charset="0"/>
              </a:rPr>
              <a:t> has the highest yield in all three seasons, with </a:t>
            </a:r>
            <a:r>
              <a:rPr lang="en-US" sz="1850" b="1" dirty="0">
                <a:latin typeface="Times New Roman" panose="02020603050405020304" pitchFamily="18" charset="0"/>
                <a:cs typeface="Times New Roman" panose="02020603050405020304" pitchFamily="18" charset="0"/>
              </a:rPr>
              <a:t>Kharif (~53.5 </a:t>
            </a:r>
            <a:r>
              <a:rPr lang="en-US" sz="1850" b="1" dirty="0" err="1">
                <a:latin typeface="Times New Roman" panose="02020603050405020304" pitchFamily="18" charset="0"/>
                <a:cs typeface="Times New Roman" panose="02020603050405020304" pitchFamily="18" charset="0"/>
              </a:rPr>
              <a:t>tonnes</a:t>
            </a:r>
            <a:r>
              <a:rPr lang="en-US" sz="1850" b="1" dirty="0">
                <a:latin typeface="Times New Roman" panose="02020603050405020304" pitchFamily="18" charset="0"/>
                <a:cs typeface="Times New Roman" panose="02020603050405020304" pitchFamily="18" charset="0"/>
              </a:rPr>
              <a:t>/ha)</a:t>
            </a:r>
            <a:r>
              <a:rPr lang="en-US" sz="1850" dirty="0">
                <a:latin typeface="Times New Roman" panose="02020603050405020304" pitchFamily="18" charset="0"/>
                <a:cs typeface="Times New Roman" panose="02020603050405020304" pitchFamily="18" charset="0"/>
              </a:rPr>
              <a:t> performing better than Rabi (~44 </a:t>
            </a:r>
            <a:r>
              <a:rPr lang="en-US" sz="1850" dirty="0" err="1">
                <a:latin typeface="Times New Roman" panose="02020603050405020304" pitchFamily="18" charset="0"/>
                <a:cs typeface="Times New Roman" panose="02020603050405020304" pitchFamily="18" charset="0"/>
              </a:rPr>
              <a:t>tonnes</a:t>
            </a:r>
            <a:r>
              <a:rPr lang="en-US" sz="1850" dirty="0">
                <a:latin typeface="Times New Roman" panose="02020603050405020304" pitchFamily="18" charset="0"/>
                <a:cs typeface="Times New Roman" panose="02020603050405020304" pitchFamily="18" charset="0"/>
              </a:rPr>
              <a:t>/ha) and Zaid (~38.5 </a:t>
            </a:r>
            <a:r>
              <a:rPr lang="en-US" sz="1850" dirty="0" err="1">
                <a:latin typeface="Times New Roman" panose="02020603050405020304" pitchFamily="18" charset="0"/>
                <a:cs typeface="Times New Roman" panose="02020603050405020304" pitchFamily="18" charset="0"/>
              </a:rPr>
              <a:t>tonnes</a:t>
            </a:r>
            <a:r>
              <a:rPr lang="en-US" sz="1850" dirty="0">
                <a:latin typeface="Times New Roman" panose="02020603050405020304" pitchFamily="18" charset="0"/>
                <a:cs typeface="Times New Roman" panose="02020603050405020304" pitchFamily="18" charset="0"/>
              </a:rPr>
              <a:t>/ha). </a:t>
            </a:r>
          </a:p>
          <a:p>
            <a:pPr marL="342900" indent="-342900" algn="just">
              <a:buClr>
                <a:schemeClr val="accent5">
                  <a:lumMod val="75000"/>
                </a:schemeClr>
              </a:buClr>
              <a:buSzPct val="80000"/>
              <a:buFont typeface="Courier New" panose="02070309020205020404" pitchFamily="49" charset="0"/>
              <a:buChar char="o"/>
            </a:pPr>
            <a:r>
              <a:rPr lang="en-US" sz="1850" b="1" dirty="0">
                <a:latin typeface="Times New Roman" panose="02020603050405020304" pitchFamily="18" charset="0"/>
                <a:cs typeface="Times New Roman" panose="02020603050405020304" pitchFamily="18" charset="0"/>
              </a:rPr>
              <a:t>Maize</a:t>
            </a:r>
            <a:r>
              <a:rPr lang="en-US" sz="1850" dirty="0">
                <a:latin typeface="Times New Roman" panose="02020603050405020304" pitchFamily="18" charset="0"/>
                <a:cs typeface="Times New Roman" panose="02020603050405020304" pitchFamily="18" charset="0"/>
              </a:rPr>
              <a:t> shows the next highest yield, followed by Wheat, Chilli, Groundnut, Cotton, Rice, and Pulses. </a:t>
            </a:r>
          </a:p>
          <a:p>
            <a:pPr marL="342900" indent="-342900" algn="just">
              <a:buClr>
                <a:schemeClr val="accent5">
                  <a:lumMod val="75000"/>
                </a:schemeClr>
              </a:buClr>
              <a:buSzPct val="80000"/>
              <a:buFont typeface="Courier New" panose="02070309020205020404" pitchFamily="49" charset="0"/>
              <a:buChar char="o"/>
            </a:pPr>
            <a:r>
              <a:rPr lang="en-US" sz="1850" dirty="0">
                <a:latin typeface="Times New Roman" panose="02020603050405020304" pitchFamily="18" charset="0"/>
                <a:cs typeface="Times New Roman" panose="02020603050405020304" pitchFamily="18" charset="0"/>
              </a:rPr>
              <a:t>For most crops, </a:t>
            </a:r>
            <a:r>
              <a:rPr lang="en-US" sz="1850" b="1" dirty="0">
                <a:latin typeface="Times New Roman" panose="02020603050405020304" pitchFamily="18" charset="0"/>
                <a:cs typeface="Times New Roman" panose="02020603050405020304" pitchFamily="18" charset="0"/>
              </a:rPr>
              <a:t>Kharif records the highest yield</a:t>
            </a:r>
            <a:r>
              <a:rPr lang="en-US" sz="1850" dirty="0">
                <a:latin typeface="Times New Roman" panose="02020603050405020304" pitchFamily="18" charset="0"/>
                <a:cs typeface="Times New Roman" panose="02020603050405020304" pitchFamily="18" charset="0"/>
              </a:rPr>
              <a:t>, while Zaid generally records the lowest. </a:t>
            </a:r>
          </a:p>
          <a:p>
            <a:pPr algn="just">
              <a:buNone/>
            </a:pPr>
            <a:r>
              <a:rPr lang="en-US" sz="1850" b="1" dirty="0">
                <a:latin typeface="Times New Roman" panose="02020603050405020304" pitchFamily="18" charset="0"/>
                <a:cs typeface="Times New Roman" panose="02020603050405020304" pitchFamily="18" charset="0"/>
              </a:rPr>
              <a:t>2. Average Crop Profit</a:t>
            </a:r>
          </a:p>
          <a:p>
            <a:pPr marL="342900" indent="-342900" algn="just">
              <a:buClr>
                <a:schemeClr val="accent4">
                  <a:lumMod val="75000"/>
                </a:schemeClr>
              </a:buClr>
              <a:buSzPct val="80000"/>
              <a:buFont typeface="Courier New" panose="02070309020205020404" pitchFamily="49" charset="0"/>
              <a:buChar char="o"/>
            </a:pPr>
            <a:r>
              <a:rPr lang="en-US" sz="1850" b="1" dirty="0">
                <a:latin typeface="Times New Roman" panose="02020603050405020304" pitchFamily="18" charset="0"/>
                <a:cs typeface="Times New Roman" panose="02020603050405020304" pitchFamily="18" charset="0"/>
              </a:rPr>
              <a:t>Sugarcane and Chilli</a:t>
            </a:r>
            <a:r>
              <a:rPr lang="en-US" sz="1850" dirty="0">
                <a:latin typeface="Times New Roman" panose="02020603050405020304" pitchFamily="18" charset="0"/>
                <a:cs typeface="Times New Roman" panose="02020603050405020304" pitchFamily="18" charset="0"/>
              </a:rPr>
              <a:t> are the most profitable crops, particularly during the </a:t>
            </a:r>
            <a:r>
              <a:rPr lang="en-US" sz="1850" b="1" dirty="0">
                <a:latin typeface="Times New Roman" panose="02020603050405020304" pitchFamily="18" charset="0"/>
                <a:cs typeface="Times New Roman" panose="02020603050405020304" pitchFamily="18" charset="0"/>
              </a:rPr>
              <a:t>Kharif season</a:t>
            </a:r>
            <a:r>
              <a:rPr lang="en-US" sz="1850" dirty="0">
                <a:latin typeface="Times New Roman" panose="02020603050405020304" pitchFamily="18" charset="0"/>
                <a:cs typeface="Times New Roman" panose="02020603050405020304" pitchFamily="18" charset="0"/>
              </a:rPr>
              <a:t>. </a:t>
            </a:r>
          </a:p>
          <a:p>
            <a:pPr marL="342900" indent="-342900" algn="just">
              <a:buClr>
                <a:schemeClr val="accent4">
                  <a:lumMod val="75000"/>
                </a:schemeClr>
              </a:buClr>
              <a:buSzPct val="80000"/>
              <a:buFont typeface="Courier New" panose="02070309020205020404" pitchFamily="49" charset="0"/>
              <a:buChar char="o"/>
            </a:pPr>
            <a:r>
              <a:rPr lang="en-US" sz="1850" dirty="0">
                <a:latin typeface="Times New Roman" panose="02020603050405020304" pitchFamily="18" charset="0"/>
                <a:cs typeface="Times New Roman" panose="02020603050405020304" pitchFamily="18" charset="0"/>
              </a:rPr>
              <a:t>Sugarcane generates the highest average profit, reaching approximately </a:t>
            </a:r>
            <a:r>
              <a:rPr lang="en-US" sz="1850" b="1" dirty="0">
                <a:latin typeface="Times New Roman" panose="02020603050405020304" pitchFamily="18" charset="0"/>
                <a:cs typeface="Times New Roman" panose="02020603050405020304" pitchFamily="18" charset="0"/>
              </a:rPr>
              <a:t>₹10 lakh in Kharif</a:t>
            </a:r>
            <a:r>
              <a:rPr lang="en-US" sz="1850" dirty="0">
                <a:latin typeface="Times New Roman" panose="02020603050405020304" pitchFamily="18" charset="0"/>
                <a:cs typeface="Times New Roman" panose="02020603050405020304" pitchFamily="18" charset="0"/>
              </a:rPr>
              <a:t>, followed by ₹7.3 lakh in Rabi and ₹5.8 lakh in Zaid. </a:t>
            </a:r>
          </a:p>
          <a:p>
            <a:pPr marL="342900" indent="-342900" algn="just">
              <a:buClr>
                <a:schemeClr val="accent4">
                  <a:lumMod val="75000"/>
                </a:schemeClr>
              </a:buClr>
              <a:buSzPct val="80000"/>
              <a:buFont typeface="Courier New" panose="02070309020205020404" pitchFamily="49" charset="0"/>
              <a:buChar char="o"/>
            </a:pPr>
            <a:r>
              <a:rPr lang="en-US" sz="1850" b="1" dirty="0">
                <a:latin typeface="Times New Roman" panose="02020603050405020304" pitchFamily="18" charset="0"/>
                <a:cs typeface="Times New Roman" panose="02020603050405020304" pitchFamily="18" charset="0"/>
              </a:rPr>
              <a:t>Maize, Rice, Wheat, and Groundnut</a:t>
            </a:r>
            <a:r>
              <a:rPr lang="en-US" sz="1850" dirty="0">
                <a:latin typeface="Times New Roman" panose="02020603050405020304" pitchFamily="18" charset="0"/>
                <a:cs typeface="Times New Roman" panose="02020603050405020304" pitchFamily="18" charset="0"/>
              </a:rPr>
              <a:t> show negative average profits in several seasons, especially </a:t>
            </a:r>
            <a:r>
              <a:rPr lang="en-US" sz="1850" b="1" dirty="0">
                <a:latin typeface="Times New Roman" panose="02020603050405020304" pitchFamily="18" charset="0"/>
                <a:cs typeface="Times New Roman" panose="02020603050405020304" pitchFamily="18" charset="0"/>
              </a:rPr>
              <a:t>Zaid</a:t>
            </a:r>
            <a:r>
              <a:rPr lang="en-US" sz="1850" dirty="0">
                <a:latin typeface="Times New Roman" panose="02020603050405020304" pitchFamily="18" charset="0"/>
                <a:cs typeface="Times New Roman" panose="02020603050405020304" pitchFamily="18" charset="0"/>
              </a:rPr>
              <a:t>, indicating lower economic performance.</a:t>
            </a:r>
          </a:p>
        </p:txBody>
      </p:sp>
    </p:spTree>
    <p:extLst>
      <p:ext uri="{BB962C8B-B14F-4D97-AF65-F5344CB8AC3E}">
        <p14:creationId xmlns:p14="http://schemas.microsoft.com/office/powerpoint/2010/main" val="2250938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996F68-C637-899A-CA16-D74E8B2EF2E7}"/>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2D17A8A2-B124-5C39-4228-B154ACDDE684}"/>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2B66D50C-55A4-BFD4-2F6E-2CA70983022D}"/>
              </a:ext>
            </a:extLst>
          </p:cNvPr>
          <p:cNvSpPr>
            <a:spLocks noGrp="1"/>
          </p:cNvSpPr>
          <p:nvPr>
            <p:ph type="title"/>
          </p:nvPr>
        </p:nvSpPr>
        <p:spPr>
          <a:xfrm>
            <a:off x="501940" y="269240"/>
            <a:ext cx="2981643" cy="830997"/>
          </a:xfrm>
        </p:spPr>
        <p:txBody>
          <a:bodyPr>
            <a:normAutofit/>
          </a:bodyPr>
          <a:lstStyle/>
          <a:p>
            <a:r>
              <a:rPr lang="en-GB" sz="4000" u="sng" dirty="0">
                <a:latin typeface="Times New Roman" panose="02020603050405020304" pitchFamily="18" charset="0"/>
                <a:cs typeface="Times New Roman" panose="02020603050405020304" pitchFamily="18" charset="0"/>
              </a:rPr>
              <a:t>RESULTS </a:t>
            </a:r>
            <a:endParaRPr lang="en-IN" sz="4000" u="sng" dirty="0">
              <a:latin typeface="Times New Roman" panose="02020603050405020304" pitchFamily="18" charset="0"/>
              <a:cs typeface="Times New Roman" panose="02020603050405020304" pitchFamily="18" charset="0"/>
            </a:endParaRPr>
          </a:p>
        </p:txBody>
      </p:sp>
      <p:sp>
        <p:nvSpPr>
          <p:cNvPr id="7" name="Text Placeholder 30">
            <a:extLst>
              <a:ext uri="{FF2B5EF4-FFF2-40B4-BE49-F238E27FC236}">
                <a16:creationId xmlns:a16="http://schemas.microsoft.com/office/drawing/2014/main" id="{7CB9DCFB-4F30-BC05-4502-B305733152D4}"/>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611ECE27-EBE4-4E02-32DC-007254272EAB}"/>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6" name="Picture 5">
            <a:extLst>
              <a:ext uri="{FF2B5EF4-FFF2-40B4-BE49-F238E27FC236}">
                <a16:creationId xmlns:a16="http://schemas.microsoft.com/office/drawing/2014/main" id="{320E99EE-C7ED-003E-43F2-86CD5B1141D7}"/>
              </a:ext>
            </a:extLst>
          </p:cNvPr>
          <p:cNvPicPr>
            <a:picLocks noChangeAspect="1"/>
          </p:cNvPicPr>
          <p:nvPr/>
        </p:nvPicPr>
        <p:blipFill>
          <a:blip r:embed="rId3"/>
          <a:stretch>
            <a:fillRect/>
          </a:stretch>
        </p:blipFill>
        <p:spPr>
          <a:xfrm>
            <a:off x="6096000" y="1100237"/>
            <a:ext cx="5851859" cy="5564723"/>
          </a:xfrm>
          <a:prstGeom prst="rect">
            <a:avLst/>
          </a:prstGeom>
        </p:spPr>
      </p:pic>
      <p:sp>
        <p:nvSpPr>
          <p:cNvPr id="12" name="TextBox 11">
            <a:extLst>
              <a:ext uri="{FF2B5EF4-FFF2-40B4-BE49-F238E27FC236}">
                <a16:creationId xmlns:a16="http://schemas.microsoft.com/office/drawing/2014/main" id="{6EC423B2-2B2C-8480-3B87-51FADFC75656}"/>
              </a:ext>
            </a:extLst>
          </p:cNvPr>
          <p:cNvSpPr txBox="1"/>
          <p:nvPr/>
        </p:nvSpPr>
        <p:spPr>
          <a:xfrm>
            <a:off x="244141" y="1008734"/>
            <a:ext cx="5928059" cy="5747727"/>
          </a:xfrm>
          <a:prstGeom prst="rect">
            <a:avLst/>
          </a:prstGeom>
          <a:noFill/>
        </p:spPr>
        <p:txBody>
          <a:bodyPr wrap="square">
            <a:spAutoFit/>
          </a:bodyPr>
          <a:lstStyle/>
          <a:p>
            <a:pPr algn="just">
              <a:buNone/>
            </a:pPr>
            <a:r>
              <a:rPr lang="en-US" sz="1750" b="1" u="sng" dirty="0">
                <a:latin typeface="Times New Roman" panose="02020603050405020304" pitchFamily="18" charset="0"/>
                <a:cs typeface="Times New Roman" panose="02020603050405020304" pitchFamily="18" charset="0"/>
              </a:rPr>
              <a:t>Spearman Correlation Analysis</a:t>
            </a:r>
          </a:p>
          <a:p>
            <a:pPr marL="342900" indent="-342900" algn="just">
              <a:buClr>
                <a:schemeClr val="accent4">
                  <a:lumMod val="75000"/>
                </a:schemeClr>
              </a:buClr>
              <a:buSzPct val="80000"/>
              <a:buFont typeface="Courier New" panose="02070309020205020404" pitchFamily="49" charset="0"/>
              <a:buChar char="o"/>
            </a:pPr>
            <a:r>
              <a:rPr lang="en-US" sz="1750" b="1" dirty="0">
                <a:latin typeface="Times New Roman" panose="02020603050405020304" pitchFamily="18" charset="0"/>
                <a:cs typeface="Times New Roman" panose="02020603050405020304" pitchFamily="18" charset="0"/>
              </a:rPr>
              <a:t>Yield &amp; Production:</a:t>
            </a:r>
            <a:r>
              <a:rPr lang="en-US" sz="1750" dirty="0">
                <a:latin typeface="Times New Roman" panose="02020603050405020304" pitchFamily="18" charset="0"/>
                <a:cs typeface="Times New Roman" panose="02020603050405020304" pitchFamily="18" charset="0"/>
              </a:rPr>
              <a:t> </a:t>
            </a:r>
            <a:r>
              <a:rPr lang="en-US" sz="1750" dirty="0" err="1">
                <a:latin typeface="Times New Roman" panose="02020603050405020304" pitchFamily="18" charset="0"/>
                <a:cs typeface="Times New Roman" panose="02020603050405020304" pitchFamily="18" charset="0"/>
              </a:rPr>
              <a:t>Yield_Tonnes_Ha</a:t>
            </a:r>
            <a:r>
              <a:rPr lang="en-US" sz="1750" dirty="0">
                <a:latin typeface="Times New Roman" panose="02020603050405020304" pitchFamily="18" charset="0"/>
                <a:cs typeface="Times New Roman" panose="02020603050405020304" pitchFamily="18" charset="0"/>
              </a:rPr>
              <a:t> and </a:t>
            </a:r>
            <a:r>
              <a:rPr lang="en-US" sz="1750" dirty="0" err="1">
                <a:latin typeface="Times New Roman" panose="02020603050405020304" pitchFamily="18" charset="0"/>
                <a:cs typeface="Times New Roman" panose="02020603050405020304" pitchFamily="18" charset="0"/>
              </a:rPr>
              <a:t>Production_Tonnes</a:t>
            </a:r>
            <a:r>
              <a:rPr lang="en-US" sz="1750" dirty="0">
                <a:latin typeface="Times New Roman" panose="02020603050405020304" pitchFamily="18" charset="0"/>
                <a:cs typeface="Times New Roman" panose="02020603050405020304" pitchFamily="18" charset="0"/>
              </a:rPr>
              <a:t> show a </a:t>
            </a:r>
            <a:r>
              <a:rPr lang="en-US" sz="1750" b="1" dirty="0">
                <a:latin typeface="Times New Roman" panose="02020603050405020304" pitchFamily="18" charset="0"/>
                <a:cs typeface="Times New Roman" panose="02020603050405020304" pitchFamily="18" charset="0"/>
              </a:rPr>
              <a:t>strong positive correlation</a:t>
            </a:r>
            <a:r>
              <a:rPr lang="en-US" sz="1750" dirty="0">
                <a:latin typeface="Times New Roman" panose="02020603050405020304" pitchFamily="18" charset="0"/>
                <a:cs typeface="Times New Roman" panose="02020603050405020304" pitchFamily="18" charset="0"/>
              </a:rPr>
              <a:t>, meaning farms with higher yield generally have higher total production. </a:t>
            </a:r>
          </a:p>
          <a:p>
            <a:pPr marL="342900" indent="-342900" algn="just">
              <a:buClr>
                <a:schemeClr val="accent4">
                  <a:lumMod val="75000"/>
                </a:schemeClr>
              </a:buClr>
              <a:buSzPct val="80000"/>
              <a:buFont typeface="Courier New" panose="02070309020205020404" pitchFamily="49" charset="0"/>
              <a:buChar char="o"/>
            </a:pPr>
            <a:r>
              <a:rPr lang="en-US" sz="1750" b="1" dirty="0">
                <a:latin typeface="Times New Roman" panose="02020603050405020304" pitchFamily="18" charset="0"/>
                <a:cs typeface="Times New Roman" panose="02020603050405020304" pitchFamily="18" charset="0"/>
              </a:rPr>
              <a:t>Economic Relationships:</a:t>
            </a:r>
            <a:r>
              <a:rPr lang="en-US" sz="1750" dirty="0">
                <a:latin typeface="Times New Roman" panose="02020603050405020304" pitchFamily="18" charset="0"/>
                <a:cs typeface="Times New Roman" panose="02020603050405020304" pitchFamily="18" charset="0"/>
              </a:rPr>
              <a:t> </a:t>
            </a:r>
            <a:r>
              <a:rPr lang="en-US" sz="1750" dirty="0" err="1">
                <a:latin typeface="Times New Roman" panose="02020603050405020304" pitchFamily="18" charset="0"/>
                <a:cs typeface="Times New Roman" panose="02020603050405020304" pitchFamily="18" charset="0"/>
              </a:rPr>
              <a:t>Revenue_INR</a:t>
            </a:r>
            <a:r>
              <a:rPr lang="en-US" sz="1750" dirty="0">
                <a:latin typeface="Times New Roman" panose="02020603050405020304" pitchFamily="18" charset="0"/>
                <a:cs typeface="Times New Roman" panose="02020603050405020304" pitchFamily="18" charset="0"/>
              </a:rPr>
              <a:t> and </a:t>
            </a:r>
            <a:r>
              <a:rPr lang="en-US" sz="1750" dirty="0" err="1">
                <a:latin typeface="Times New Roman" panose="02020603050405020304" pitchFamily="18" charset="0"/>
                <a:cs typeface="Times New Roman" panose="02020603050405020304" pitchFamily="18" charset="0"/>
              </a:rPr>
              <a:t>Profit_INR</a:t>
            </a:r>
            <a:r>
              <a:rPr lang="en-US" sz="1750" dirty="0">
                <a:latin typeface="Times New Roman" panose="02020603050405020304" pitchFamily="18" charset="0"/>
                <a:cs typeface="Times New Roman" panose="02020603050405020304" pitchFamily="18" charset="0"/>
              </a:rPr>
              <a:t> show a </a:t>
            </a:r>
            <a:r>
              <a:rPr lang="en-US" sz="1750" b="1" dirty="0">
                <a:latin typeface="Times New Roman" panose="02020603050405020304" pitchFamily="18" charset="0"/>
                <a:cs typeface="Times New Roman" panose="02020603050405020304" pitchFamily="18" charset="0"/>
              </a:rPr>
              <a:t>strong positive relationship</a:t>
            </a:r>
            <a:r>
              <a:rPr lang="en-US" sz="1750" dirty="0">
                <a:latin typeface="Times New Roman" panose="02020603050405020304" pitchFamily="18" charset="0"/>
                <a:cs typeface="Times New Roman" panose="02020603050405020304" pitchFamily="18" charset="0"/>
              </a:rPr>
              <a:t> with production and yield. </a:t>
            </a:r>
            <a:r>
              <a:rPr lang="en-US" sz="1750" dirty="0" err="1">
                <a:latin typeface="Times New Roman" panose="02020603050405020304" pitchFamily="18" charset="0"/>
                <a:cs typeface="Times New Roman" panose="02020603050405020304" pitchFamily="18" charset="0"/>
              </a:rPr>
              <a:t>Total_Cost_INR</a:t>
            </a:r>
            <a:r>
              <a:rPr lang="en-US" sz="1750" dirty="0">
                <a:latin typeface="Times New Roman" panose="02020603050405020304" pitchFamily="18" charset="0"/>
                <a:cs typeface="Times New Roman" panose="02020603050405020304" pitchFamily="18" charset="0"/>
              </a:rPr>
              <a:t> also has a positive association with revenue, indicating that higher production activities are generally linked with higher costs and revenues. </a:t>
            </a:r>
          </a:p>
          <a:p>
            <a:pPr marL="342900" indent="-342900" algn="just">
              <a:buClr>
                <a:schemeClr val="accent4">
                  <a:lumMod val="75000"/>
                </a:schemeClr>
              </a:buClr>
              <a:buSzPct val="80000"/>
              <a:buFont typeface="Courier New" panose="02070309020205020404" pitchFamily="49" charset="0"/>
              <a:buChar char="o"/>
            </a:pPr>
            <a:r>
              <a:rPr lang="en-US" sz="1750" b="1" dirty="0">
                <a:latin typeface="Times New Roman" panose="02020603050405020304" pitchFamily="18" charset="0"/>
                <a:cs typeface="Times New Roman" panose="02020603050405020304" pitchFamily="18" charset="0"/>
              </a:rPr>
              <a:t>Market Price Relationship:</a:t>
            </a:r>
            <a:r>
              <a:rPr lang="en-US" sz="1750" dirty="0">
                <a:latin typeface="Times New Roman" panose="02020603050405020304" pitchFamily="18" charset="0"/>
                <a:cs typeface="Times New Roman" panose="02020603050405020304" pitchFamily="18" charset="0"/>
              </a:rPr>
              <a:t> </a:t>
            </a:r>
            <a:r>
              <a:rPr lang="en-US" sz="1750" dirty="0" err="1">
                <a:latin typeface="Times New Roman" panose="02020603050405020304" pitchFamily="18" charset="0"/>
                <a:cs typeface="Times New Roman" panose="02020603050405020304" pitchFamily="18" charset="0"/>
              </a:rPr>
              <a:t>Market_Price_INR_Tonne</a:t>
            </a:r>
            <a:r>
              <a:rPr lang="en-US" sz="1750" dirty="0">
                <a:latin typeface="Times New Roman" panose="02020603050405020304" pitchFamily="18" charset="0"/>
                <a:cs typeface="Times New Roman" panose="02020603050405020304" pitchFamily="18" charset="0"/>
              </a:rPr>
              <a:t> shows a </a:t>
            </a:r>
            <a:r>
              <a:rPr lang="en-US" sz="1750" b="1" dirty="0">
                <a:latin typeface="Times New Roman" panose="02020603050405020304" pitchFamily="18" charset="0"/>
                <a:cs typeface="Times New Roman" panose="02020603050405020304" pitchFamily="18" charset="0"/>
              </a:rPr>
              <a:t>negative correlation with Yield and Production</a:t>
            </a:r>
            <a:r>
              <a:rPr lang="en-US" sz="1750" dirty="0">
                <a:latin typeface="Times New Roman" panose="02020603050405020304" pitchFamily="18" charset="0"/>
                <a:cs typeface="Times New Roman" panose="02020603050405020304" pitchFamily="18" charset="0"/>
              </a:rPr>
              <a:t> in this dataset. This suggests that higher production is often associated with lower market prices, although correlation does </a:t>
            </a:r>
            <a:r>
              <a:rPr lang="en-US" sz="1750" b="1" dirty="0">
                <a:latin typeface="Times New Roman" panose="02020603050405020304" pitchFamily="18" charset="0"/>
                <a:cs typeface="Times New Roman" panose="02020603050405020304" pitchFamily="18" charset="0"/>
              </a:rPr>
              <a:t>not imply causation</a:t>
            </a:r>
            <a:r>
              <a:rPr lang="en-US" sz="1750" dirty="0">
                <a:latin typeface="Times New Roman" panose="02020603050405020304" pitchFamily="18" charset="0"/>
                <a:cs typeface="Times New Roman" panose="02020603050405020304" pitchFamily="18" charset="0"/>
              </a:rPr>
              <a:t>. </a:t>
            </a:r>
          </a:p>
          <a:p>
            <a:pPr marL="342900" indent="-342900" algn="just">
              <a:buClr>
                <a:schemeClr val="accent4">
                  <a:lumMod val="75000"/>
                </a:schemeClr>
              </a:buClr>
              <a:buSzPct val="80000"/>
              <a:buFont typeface="Courier New" panose="02070309020205020404" pitchFamily="49" charset="0"/>
              <a:buChar char="o"/>
            </a:pPr>
            <a:r>
              <a:rPr lang="en-US" sz="1750" b="1" dirty="0">
                <a:latin typeface="Times New Roman" panose="02020603050405020304" pitchFamily="18" charset="0"/>
                <a:cs typeface="Times New Roman" panose="02020603050405020304" pitchFamily="18" charset="0"/>
              </a:rPr>
              <a:t>Environmental Relationships:</a:t>
            </a:r>
            <a:r>
              <a:rPr lang="en-US" sz="1750" dirty="0">
                <a:latin typeface="Times New Roman" panose="02020603050405020304" pitchFamily="18" charset="0"/>
                <a:cs typeface="Times New Roman" panose="02020603050405020304" pitchFamily="18" charset="0"/>
              </a:rPr>
              <a:t> </a:t>
            </a:r>
            <a:r>
              <a:rPr lang="en-US" sz="1750" dirty="0" err="1">
                <a:latin typeface="Times New Roman" panose="02020603050405020304" pitchFamily="18" charset="0"/>
                <a:cs typeface="Times New Roman" panose="02020603050405020304" pitchFamily="18" charset="0"/>
              </a:rPr>
              <a:t>Rainfall_mm</a:t>
            </a:r>
            <a:r>
              <a:rPr lang="en-US" sz="1750" dirty="0">
                <a:latin typeface="Times New Roman" panose="02020603050405020304" pitchFamily="18" charset="0"/>
                <a:cs typeface="Times New Roman" panose="02020603050405020304" pitchFamily="18" charset="0"/>
              </a:rPr>
              <a:t>, </a:t>
            </a:r>
            <a:r>
              <a:rPr lang="en-US" sz="1750" dirty="0" err="1">
                <a:latin typeface="Times New Roman" panose="02020603050405020304" pitchFamily="18" charset="0"/>
                <a:cs typeface="Times New Roman" panose="02020603050405020304" pitchFamily="18" charset="0"/>
              </a:rPr>
              <a:t>Humidity_pct</a:t>
            </a:r>
            <a:r>
              <a:rPr lang="en-US" sz="1750" dirty="0">
                <a:latin typeface="Times New Roman" panose="02020603050405020304" pitchFamily="18" charset="0"/>
                <a:cs typeface="Times New Roman" panose="02020603050405020304" pitchFamily="18" charset="0"/>
              </a:rPr>
              <a:t>, and </a:t>
            </a:r>
            <a:r>
              <a:rPr lang="en-US" sz="1750" dirty="0" err="1">
                <a:latin typeface="Times New Roman" panose="02020603050405020304" pitchFamily="18" charset="0"/>
                <a:cs typeface="Times New Roman" panose="02020603050405020304" pitchFamily="18" charset="0"/>
              </a:rPr>
              <a:t>Soil_Moisture_pct</a:t>
            </a:r>
            <a:r>
              <a:rPr lang="en-US" sz="1750" dirty="0">
                <a:latin typeface="Times New Roman" panose="02020603050405020304" pitchFamily="18" charset="0"/>
                <a:cs typeface="Times New Roman" panose="02020603050405020304" pitchFamily="18" charset="0"/>
              </a:rPr>
              <a:t> show positive relationships, while </a:t>
            </a:r>
            <a:r>
              <a:rPr lang="en-US" sz="1750" dirty="0" err="1">
                <a:latin typeface="Times New Roman" panose="02020603050405020304" pitchFamily="18" charset="0"/>
                <a:cs typeface="Times New Roman" panose="02020603050405020304" pitchFamily="18" charset="0"/>
              </a:rPr>
              <a:t>Sunlight_Hours_Day</a:t>
            </a:r>
            <a:r>
              <a:rPr lang="en-US" sz="1750" dirty="0">
                <a:latin typeface="Times New Roman" panose="02020603050405020304" pitchFamily="18" charset="0"/>
                <a:cs typeface="Times New Roman" panose="02020603050405020304" pitchFamily="18" charset="0"/>
              </a:rPr>
              <a:t> tends to have negative relationships with rainfall, humidity, and soil moisture. This highlights clear differences in environmental conditions.</a:t>
            </a:r>
          </a:p>
        </p:txBody>
      </p:sp>
    </p:spTree>
    <p:extLst>
      <p:ext uri="{BB962C8B-B14F-4D97-AF65-F5344CB8AC3E}">
        <p14:creationId xmlns:p14="http://schemas.microsoft.com/office/powerpoint/2010/main" val="25724710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97917E-B0FB-C7A3-8313-B8CD66A81A54}"/>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2E0F53DA-5C07-39F9-6223-F56A089BE6E8}"/>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CBF7AA75-7A0A-1114-8C0D-3BDDDBBB9A7D}"/>
              </a:ext>
            </a:extLst>
          </p:cNvPr>
          <p:cNvSpPr>
            <a:spLocks noGrp="1"/>
          </p:cNvSpPr>
          <p:nvPr>
            <p:ph type="title"/>
          </p:nvPr>
        </p:nvSpPr>
        <p:spPr>
          <a:xfrm>
            <a:off x="501940" y="269240"/>
            <a:ext cx="2981643" cy="830997"/>
          </a:xfrm>
        </p:spPr>
        <p:txBody>
          <a:bodyPr>
            <a:normAutofit/>
          </a:bodyPr>
          <a:lstStyle/>
          <a:p>
            <a:r>
              <a:rPr lang="en-GB" sz="4000" u="sng" dirty="0">
                <a:latin typeface="Times New Roman" panose="02020603050405020304" pitchFamily="18" charset="0"/>
                <a:cs typeface="Times New Roman" panose="02020603050405020304" pitchFamily="18" charset="0"/>
              </a:rPr>
              <a:t>RESULTS </a:t>
            </a:r>
            <a:endParaRPr lang="en-IN" sz="4000" u="sng" dirty="0">
              <a:latin typeface="Times New Roman" panose="02020603050405020304" pitchFamily="18" charset="0"/>
              <a:cs typeface="Times New Roman" panose="02020603050405020304" pitchFamily="18" charset="0"/>
            </a:endParaRPr>
          </a:p>
        </p:txBody>
      </p:sp>
      <p:sp>
        <p:nvSpPr>
          <p:cNvPr id="7" name="Text Placeholder 30">
            <a:extLst>
              <a:ext uri="{FF2B5EF4-FFF2-40B4-BE49-F238E27FC236}">
                <a16:creationId xmlns:a16="http://schemas.microsoft.com/office/drawing/2014/main" id="{4C89A1D9-EA5E-6428-A423-9FF5AACEADF8}"/>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05C2FA5A-DF9E-D9E0-6EEA-4E40F12E7B4E}"/>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3" name="Picture 2">
            <a:extLst>
              <a:ext uri="{FF2B5EF4-FFF2-40B4-BE49-F238E27FC236}">
                <a16:creationId xmlns:a16="http://schemas.microsoft.com/office/drawing/2014/main" id="{08D89C5D-63A4-39F4-9C3F-3F0ED0E3A9E8}"/>
              </a:ext>
            </a:extLst>
          </p:cNvPr>
          <p:cNvPicPr>
            <a:picLocks noChangeAspect="1"/>
          </p:cNvPicPr>
          <p:nvPr/>
        </p:nvPicPr>
        <p:blipFill>
          <a:blip r:embed="rId3"/>
          <a:stretch>
            <a:fillRect/>
          </a:stretch>
        </p:blipFill>
        <p:spPr>
          <a:xfrm>
            <a:off x="307910" y="1100236"/>
            <a:ext cx="11655490" cy="2919313"/>
          </a:xfrm>
          <a:prstGeom prst="rect">
            <a:avLst/>
          </a:prstGeom>
        </p:spPr>
      </p:pic>
      <p:sp>
        <p:nvSpPr>
          <p:cNvPr id="9" name="TextBox 8">
            <a:extLst>
              <a:ext uri="{FF2B5EF4-FFF2-40B4-BE49-F238E27FC236}">
                <a16:creationId xmlns:a16="http://schemas.microsoft.com/office/drawing/2014/main" id="{180F6648-FA8E-1FDA-7EEC-8190529B4F72}"/>
              </a:ext>
            </a:extLst>
          </p:cNvPr>
          <p:cNvSpPr txBox="1"/>
          <p:nvPr/>
        </p:nvSpPr>
        <p:spPr>
          <a:xfrm>
            <a:off x="307910" y="4079637"/>
            <a:ext cx="11655490" cy="2723823"/>
          </a:xfrm>
          <a:prstGeom prst="rect">
            <a:avLst/>
          </a:prstGeom>
          <a:noFill/>
        </p:spPr>
        <p:txBody>
          <a:bodyPr wrap="square">
            <a:spAutoFit/>
          </a:bodyPr>
          <a:lstStyle/>
          <a:p>
            <a:pPr algn="just">
              <a:buNone/>
            </a:pPr>
            <a:r>
              <a:rPr lang="en-US" sz="1900" b="1" u="sng" dirty="0">
                <a:latin typeface="Times New Roman" panose="02020603050405020304" pitchFamily="18" charset="0"/>
                <a:cs typeface="Times New Roman" panose="02020603050405020304" pitchFamily="18" charset="0"/>
              </a:rPr>
              <a:t>Core Findings – Seasonal Agriculture Performance</a:t>
            </a:r>
          </a:p>
          <a:p>
            <a:pPr marL="285750" indent="-285750" algn="just">
              <a:buClr>
                <a:schemeClr val="accent4">
                  <a:lumMod val="75000"/>
                </a:schemeClr>
              </a:buClr>
              <a:buSzPct val="80000"/>
              <a:buFont typeface="Courier New" panose="02070309020205020404" pitchFamily="49" charset="0"/>
              <a:buChar char="o"/>
            </a:pPr>
            <a:r>
              <a:rPr lang="en-US" sz="1900" b="1" dirty="0">
                <a:latin typeface="Times New Roman" panose="02020603050405020304" pitchFamily="18" charset="0"/>
                <a:cs typeface="Times New Roman" panose="02020603050405020304" pitchFamily="18" charset="0"/>
              </a:rPr>
              <a:t>Kharif – Best Overall Performance:</a:t>
            </a:r>
            <a:r>
              <a:rPr lang="en-US" sz="1900" dirty="0">
                <a:latin typeface="Times New Roman" panose="02020603050405020304" pitchFamily="18" charset="0"/>
                <a:cs typeface="Times New Roman" panose="02020603050405020304" pitchFamily="18" charset="0"/>
              </a:rPr>
              <a:t> Kharif has the </a:t>
            </a:r>
            <a:r>
              <a:rPr lang="en-US" sz="1900" b="1" dirty="0">
                <a:latin typeface="Times New Roman" panose="02020603050405020304" pitchFamily="18" charset="0"/>
                <a:cs typeface="Times New Roman" panose="02020603050405020304" pitchFamily="18" charset="0"/>
              </a:rPr>
              <a:t>highest average yield (5.63 t/ha)</a:t>
            </a:r>
            <a:r>
              <a:rPr lang="en-US" sz="1900" dirty="0">
                <a:latin typeface="Times New Roman" panose="02020603050405020304" pitchFamily="18" charset="0"/>
                <a:cs typeface="Times New Roman" panose="02020603050405020304" pitchFamily="18" charset="0"/>
              </a:rPr>
              <a:t> and </a:t>
            </a:r>
            <a:r>
              <a:rPr lang="en-US" sz="1900" b="1" dirty="0">
                <a:latin typeface="Times New Roman" panose="02020603050405020304" pitchFamily="18" charset="0"/>
                <a:cs typeface="Times New Roman" panose="02020603050405020304" pitchFamily="18" charset="0"/>
              </a:rPr>
              <a:t>highest average profit (₹178,915)</a:t>
            </a:r>
            <a:r>
              <a:rPr lang="en-US" sz="1900" dirty="0">
                <a:latin typeface="Times New Roman" panose="02020603050405020304" pitchFamily="18" charset="0"/>
                <a:cs typeface="Times New Roman" panose="02020603050405020304" pitchFamily="18" charset="0"/>
              </a:rPr>
              <a:t>. It also has the highest water efficiency (</a:t>
            </a:r>
            <a:r>
              <a:rPr lang="en-US" sz="1900" b="1" dirty="0">
                <a:latin typeface="Times New Roman" panose="02020603050405020304" pitchFamily="18" charset="0"/>
                <a:cs typeface="Times New Roman" panose="02020603050405020304" pitchFamily="18" charset="0"/>
              </a:rPr>
              <a:t>5.89 t/1000 m³</a:t>
            </a:r>
            <a:r>
              <a:rPr lang="en-US" sz="1900" dirty="0">
                <a:latin typeface="Times New Roman" panose="02020603050405020304" pitchFamily="18" charset="0"/>
                <a:cs typeface="Times New Roman" panose="02020603050405020304" pitchFamily="18" charset="0"/>
              </a:rPr>
              <a:t>). </a:t>
            </a:r>
          </a:p>
          <a:p>
            <a:pPr marL="285750" indent="-285750" algn="just">
              <a:buClr>
                <a:schemeClr val="accent4">
                  <a:lumMod val="75000"/>
                </a:schemeClr>
              </a:buClr>
              <a:buSzPct val="80000"/>
              <a:buFont typeface="Courier New" panose="02070309020205020404" pitchFamily="49" charset="0"/>
              <a:buChar char="o"/>
            </a:pPr>
            <a:r>
              <a:rPr lang="en-US" sz="1900" b="1" dirty="0">
                <a:latin typeface="Times New Roman" panose="02020603050405020304" pitchFamily="18" charset="0"/>
                <a:cs typeface="Times New Roman" panose="02020603050405020304" pitchFamily="18" charset="0"/>
              </a:rPr>
              <a:t>Rabi – Moderate Performance:</a:t>
            </a:r>
            <a:r>
              <a:rPr lang="en-US" sz="1900" dirty="0">
                <a:latin typeface="Times New Roman" panose="02020603050405020304" pitchFamily="18" charset="0"/>
                <a:cs typeface="Times New Roman" panose="02020603050405020304" pitchFamily="18" charset="0"/>
              </a:rPr>
              <a:t> Rabi records an average yield of </a:t>
            </a:r>
            <a:r>
              <a:rPr lang="en-US" sz="1900" b="1" dirty="0">
                <a:latin typeface="Times New Roman" panose="02020603050405020304" pitchFamily="18" charset="0"/>
                <a:cs typeface="Times New Roman" panose="02020603050405020304" pitchFamily="18" charset="0"/>
              </a:rPr>
              <a:t>5.09 t/ha</a:t>
            </a:r>
            <a:r>
              <a:rPr lang="en-US" sz="1900" dirty="0">
                <a:latin typeface="Times New Roman" panose="02020603050405020304" pitchFamily="18" charset="0"/>
                <a:cs typeface="Times New Roman" panose="02020603050405020304" pitchFamily="18" charset="0"/>
              </a:rPr>
              <a:t> and average profit of </a:t>
            </a:r>
            <a:r>
              <a:rPr lang="en-US" sz="1900" b="1" dirty="0">
                <a:latin typeface="Times New Roman" panose="02020603050405020304" pitchFamily="18" charset="0"/>
                <a:cs typeface="Times New Roman" panose="02020603050405020304" pitchFamily="18" charset="0"/>
              </a:rPr>
              <a:t>₹87,689</a:t>
            </a:r>
            <a:r>
              <a:rPr lang="en-US" sz="1900" dirty="0">
                <a:latin typeface="Times New Roman" panose="02020603050405020304" pitchFamily="18" charset="0"/>
                <a:cs typeface="Times New Roman" panose="02020603050405020304" pitchFamily="18" charset="0"/>
              </a:rPr>
              <a:t>. Its profitability rate is </a:t>
            </a:r>
            <a:r>
              <a:rPr lang="en-US" sz="1900" b="1" dirty="0">
                <a:latin typeface="Times New Roman" panose="02020603050405020304" pitchFamily="18" charset="0"/>
                <a:cs typeface="Times New Roman" panose="02020603050405020304" pitchFamily="18" charset="0"/>
              </a:rPr>
              <a:t>48.9%</a:t>
            </a:r>
            <a:r>
              <a:rPr lang="en-US" sz="1900" dirty="0">
                <a:latin typeface="Times New Roman" panose="02020603050405020304" pitchFamily="18" charset="0"/>
                <a:cs typeface="Times New Roman" panose="02020603050405020304" pitchFamily="18" charset="0"/>
              </a:rPr>
              <a:t>, placing it between Kharif and Zaid. </a:t>
            </a:r>
          </a:p>
          <a:p>
            <a:pPr marL="285750" indent="-285750" algn="just">
              <a:buClr>
                <a:schemeClr val="accent4">
                  <a:lumMod val="75000"/>
                </a:schemeClr>
              </a:buClr>
              <a:buSzPct val="80000"/>
              <a:buFont typeface="Courier New" panose="02070309020205020404" pitchFamily="49" charset="0"/>
              <a:buChar char="o"/>
            </a:pPr>
            <a:r>
              <a:rPr lang="en-US" sz="1900" b="1" dirty="0">
                <a:latin typeface="Times New Roman" panose="02020603050405020304" pitchFamily="18" charset="0"/>
                <a:cs typeface="Times New Roman" panose="02020603050405020304" pitchFamily="18" charset="0"/>
              </a:rPr>
              <a:t>Zaid – Lowest Profitability:</a:t>
            </a:r>
            <a:r>
              <a:rPr lang="en-US" sz="1900" dirty="0">
                <a:latin typeface="Times New Roman" panose="02020603050405020304" pitchFamily="18" charset="0"/>
                <a:cs typeface="Times New Roman" panose="02020603050405020304" pitchFamily="18" charset="0"/>
              </a:rPr>
              <a:t> Zaid has the </a:t>
            </a:r>
            <a:r>
              <a:rPr lang="en-US" sz="1900" b="1" dirty="0">
                <a:latin typeface="Times New Roman" panose="02020603050405020304" pitchFamily="18" charset="0"/>
                <a:cs typeface="Times New Roman" panose="02020603050405020304" pitchFamily="18" charset="0"/>
              </a:rPr>
              <a:t>lowest average yield (4.63 t/ha)</a:t>
            </a:r>
            <a:r>
              <a:rPr lang="en-US" sz="1900" dirty="0">
                <a:latin typeface="Times New Roman" panose="02020603050405020304" pitchFamily="18" charset="0"/>
                <a:cs typeface="Times New Roman" panose="02020603050405020304" pitchFamily="18" charset="0"/>
              </a:rPr>
              <a:t> and records an </a:t>
            </a:r>
            <a:r>
              <a:rPr lang="en-US" sz="1900" b="1" dirty="0">
                <a:latin typeface="Times New Roman" panose="02020603050405020304" pitchFamily="18" charset="0"/>
                <a:cs typeface="Times New Roman" panose="02020603050405020304" pitchFamily="18" charset="0"/>
              </a:rPr>
              <a:t>average loss of ₹24,805</a:t>
            </a:r>
            <a:r>
              <a:rPr lang="en-US" sz="1900" dirty="0">
                <a:latin typeface="Times New Roman" panose="02020603050405020304" pitchFamily="18" charset="0"/>
                <a:cs typeface="Times New Roman" panose="02020603050405020304" pitchFamily="18" charset="0"/>
              </a:rPr>
              <a:t>. Its profitability rate is only </a:t>
            </a:r>
            <a:r>
              <a:rPr lang="en-US" sz="1900" b="1" dirty="0">
                <a:latin typeface="Times New Roman" panose="02020603050405020304" pitchFamily="18" charset="0"/>
                <a:cs typeface="Times New Roman" panose="02020603050405020304" pitchFamily="18" charset="0"/>
              </a:rPr>
              <a:t>35.5%</a:t>
            </a:r>
            <a:r>
              <a:rPr lang="en-US" sz="1900" dirty="0">
                <a:latin typeface="Times New Roman" panose="02020603050405020304" pitchFamily="18" charset="0"/>
                <a:cs typeface="Times New Roman" panose="02020603050405020304" pitchFamily="18" charset="0"/>
              </a:rPr>
              <a:t>, indicating weaker economic performance. </a:t>
            </a:r>
          </a:p>
          <a:p>
            <a:pPr marL="285750" indent="-285750" algn="just">
              <a:buClr>
                <a:schemeClr val="accent4">
                  <a:lumMod val="75000"/>
                </a:schemeClr>
              </a:buClr>
              <a:buSzPct val="80000"/>
              <a:buFont typeface="Courier New" panose="02070309020205020404" pitchFamily="49" charset="0"/>
              <a:buChar char="o"/>
            </a:pPr>
            <a:r>
              <a:rPr lang="en-US" sz="1900" b="1" dirty="0">
                <a:latin typeface="Times New Roman" panose="02020603050405020304" pitchFamily="18" charset="0"/>
                <a:cs typeface="Times New Roman" panose="02020603050405020304" pitchFamily="18" charset="0"/>
              </a:rPr>
              <a:t>Environmental &amp; Risk Differences:</a:t>
            </a:r>
            <a:r>
              <a:rPr lang="en-US" sz="1900" dirty="0">
                <a:latin typeface="Times New Roman" panose="02020603050405020304" pitchFamily="18" charset="0"/>
                <a:cs typeface="Times New Roman" panose="02020603050405020304" pitchFamily="18" charset="0"/>
              </a:rPr>
              <a:t> Kharif has the highest </a:t>
            </a:r>
            <a:r>
              <a:rPr lang="en-US" sz="1900" b="1" dirty="0">
                <a:latin typeface="Times New Roman" panose="02020603050405020304" pitchFamily="18" charset="0"/>
                <a:cs typeface="Times New Roman" panose="02020603050405020304" pitchFamily="18" charset="0"/>
              </a:rPr>
              <a:t>rainfall (852.10 mm), soil moisture (31.20%) and disease/pest risk (54.47%)</a:t>
            </a:r>
            <a:r>
              <a:rPr lang="en-US" sz="1900" dirty="0">
                <a:latin typeface="Times New Roman" panose="02020603050405020304" pitchFamily="18" charset="0"/>
                <a:cs typeface="Times New Roman" panose="02020603050405020304" pitchFamily="18" charset="0"/>
              </a:rPr>
              <a:t>. Zaid has the </a:t>
            </a:r>
            <a:r>
              <a:rPr lang="en-US" sz="1900" b="1" dirty="0">
                <a:latin typeface="Times New Roman" panose="02020603050405020304" pitchFamily="18" charset="0"/>
                <a:cs typeface="Times New Roman" panose="02020603050405020304" pitchFamily="18" charset="0"/>
              </a:rPr>
              <a:t>highest temperature (31.04°C)</a:t>
            </a:r>
            <a:r>
              <a:rPr lang="en-US" sz="1900" dirty="0">
                <a:latin typeface="Times New Roman" panose="02020603050405020304" pitchFamily="18" charset="0"/>
                <a:cs typeface="Times New Roman" panose="02020603050405020304" pitchFamily="18" charset="0"/>
              </a:rPr>
              <a:t> but the lowest rainfall and soil moisture.</a:t>
            </a:r>
          </a:p>
        </p:txBody>
      </p:sp>
    </p:spTree>
    <p:extLst>
      <p:ext uri="{BB962C8B-B14F-4D97-AF65-F5344CB8AC3E}">
        <p14:creationId xmlns:p14="http://schemas.microsoft.com/office/powerpoint/2010/main" val="3705356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6E94ED-1743-306E-1CA1-9410A2B50996}"/>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04506C61-5206-F1DF-9994-DED24DFB1C65}"/>
              </a:ext>
            </a:extLst>
          </p:cNvPr>
          <p:cNvPicPr>
            <a:picLocks noChangeAspect="1"/>
          </p:cNvPicPr>
          <p:nvPr/>
        </p:nvPicPr>
        <p:blipFill rotWithShape="1">
          <a:blip r:embed="rId2"/>
          <a:srcRect t="96181"/>
          <a:stretch/>
        </p:blipFill>
        <p:spPr>
          <a:xfrm>
            <a:off x="685482" y="6467091"/>
            <a:ext cx="2143125" cy="193040"/>
          </a:xfrm>
          <a:prstGeom prst="rect">
            <a:avLst/>
          </a:prstGeom>
        </p:spPr>
      </p:pic>
      <p:sp>
        <p:nvSpPr>
          <p:cNvPr id="4" name="Title 3">
            <a:extLst>
              <a:ext uri="{FF2B5EF4-FFF2-40B4-BE49-F238E27FC236}">
                <a16:creationId xmlns:a16="http://schemas.microsoft.com/office/drawing/2014/main" id="{9B097C2C-D75A-31D4-CD9F-366F39CDE51D}"/>
              </a:ext>
            </a:extLst>
          </p:cNvPr>
          <p:cNvSpPr>
            <a:spLocks noGrp="1"/>
          </p:cNvSpPr>
          <p:nvPr>
            <p:ph type="title"/>
          </p:nvPr>
        </p:nvSpPr>
        <p:spPr>
          <a:xfrm>
            <a:off x="451183" y="294389"/>
            <a:ext cx="4735798" cy="830997"/>
          </a:xfrm>
        </p:spPr>
        <p:txBody>
          <a:bodyPr>
            <a:normAutofit/>
          </a:bodyPr>
          <a:lstStyle/>
          <a:p>
            <a:r>
              <a:rPr lang="en-IN" sz="4000" u="sng" dirty="0">
                <a:latin typeface="Times New Roman" panose="02020603050405020304" pitchFamily="18" charset="0"/>
                <a:cs typeface="Times New Roman" panose="02020603050405020304" pitchFamily="18" charset="0"/>
              </a:rPr>
              <a:t>FUTURE  SCOPE</a:t>
            </a:r>
          </a:p>
        </p:txBody>
      </p:sp>
      <p:sp>
        <p:nvSpPr>
          <p:cNvPr id="7" name="Text Placeholder 30">
            <a:extLst>
              <a:ext uri="{FF2B5EF4-FFF2-40B4-BE49-F238E27FC236}">
                <a16:creationId xmlns:a16="http://schemas.microsoft.com/office/drawing/2014/main" id="{B7444DDE-63A3-9721-77CC-C93FED110DAF}"/>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Box 9">
            <a:extLst>
              <a:ext uri="{FF2B5EF4-FFF2-40B4-BE49-F238E27FC236}">
                <a16:creationId xmlns:a16="http://schemas.microsoft.com/office/drawing/2014/main" id="{104A278B-9A06-6AEE-4BEC-1CB477098A76}"/>
              </a:ext>
            </a:extLst>
          </p:cNvPr>
          <p:cNvSpPr txBox="1"/>
          <p:nvPr/>
        </p:nvSpPr>
        <p:spPr>
          <a:xfrm>
            <a:off x="451183" y="1275371"/>
            <a:ext cx="10169192" cy="4425635"/>
          </a:xfrm>
          <a:prstGeom prst="rect">
            <a:avLst/>
          </a:prstGeom>
          <a:noFill/>
        </p:spPr>
        <p:txBody>
          <a:bodyPr wrap="square">
            <a:spAutoFit/>
          </a:bodyPr>
          <a:lstStyle/>
          <a:p>
            <a:pPr marL="285750" indent="-285750" algn="just">
              <a:lnSpc>
                <a:spcPct val="150000"/>
              </a:lnSpc>
              <a:buClr>
                <a:schemeClr val="accent4">
                  <a:lumMod val="75000"/>
                </a:schemeClr>
              </a:buClr>
              <a:buSzPct val="80000"/>
              <a:buFont typeface="Courier New" panose="02070309020205020404" pitchFamily="49" charset="0"/>
              <a:buChar char="o"/>
            </a:pPr>
            <a:r>
              <a:rPr lang="en-US" sz="1900" b="1" dirty="0">
                <a:latin typeface="Times New Roman" panose="02020603050405020304" pitchFamily="18" charset="0"/>
                <a:cs typeface="Times New Roman" panose="02020603050405020304" pitchFamily="18" charset="0"/>
              </a:rPr>
              <a:t>Real-time weather integration</a:t>
            </a:r>
            <a:r>
              <a:rPr lang="en-US" sz="1900" dirty="0">
                <a:latin typeface="Times New Roman" panose="02020603050405020304" pitchFamily="18" charset="0"/>
                <a:cs typeface="Times New Roman" panose="02020603050405020304" pitchFamily="18" charset="0"/>
              </a:rPr>
              <a:t> for dynamic seasonal analysis. </a:t>
            </a:r>
          </a:p>
          <a:p>
            <a:pPr marL="285750" indent="-285750" algn="just">
              <a:lnSpc>
                <a:spcPct val="150000"/>
              </a:lnSpc>
              <a:buClr>
                <a:schemeClr val="accent4">
                  <a:lumMod val="75000"/>
                </a:schemeClr>
              </a:buClr>
              <a:buSzPct val="80000"/>
              <a:buFont typeface="Courier New" panose="02070309020205020404" pitchFamily="49" charset="0"/>
              <a:buChar char="o"/>
            </a:pPr>
            <a:r>
              <a:rPr lang="en-US" sz="1900" b="1" dirty="0">
                <a:latin typeface="Times New Roman" panose="02020603050405020304" pitchFamily="18" charset="0"/>
                <a:cs typeface="Times New Roman" panose="02020603050405020304" pitchFamily="18" charset="0"/>
              </a:rPr>
              <a:t>Machine-learning-based yield prediction</a:t>
            </a:r>
            <a:r>
              <a:rPr lang="en-US" sz="1900" dirty="0">
                <a:latin typeface="Times New Roman" panose="02020603050405020304" pitchFamily="18" charset="0"/>
                <a:cs typeface="Times New Roman" panose="02020603050405020304" pitchFamily="18" charset="0"/>
              </a:rPr>
              <a:t> using environmental and farming variables. </a:t>
            </a:r>
          </a:p>
          <a:p>
            <a:pPr marL="285750" indent="-285750" algn="just">
              <a:lnSpc>
                <a:spcPct val="150000"/>
              </a:lnSpc>
              <a:buClr>
                <a:schemeClr val="accent4">
                  <a:lumMod val="75000"/>
                </a:schemeClr>
              </a:buClr>
              <a:buSzPct val="80000"/>
              <a:buFont typeface="Courier New" panose="02070309020205020404" pitchFamily="49" charset="0"/>
              <a:buChar char="o"/>
            </a:pPr>
            <a:r>
              <a:rPr lang="en-US" sz="1900" b="1" dirty="0">
                <a:latin typeface="Times New Roman" panose="02020603050405020304" pitchFamily="18" charset="0"/>
                <a:cs typeface="Times New Roman" panose="02020603050405020304" pitchFamily="18" charset="0"/>
              </a:rPr>
              <a:t>Profit prediction</a:t>
            </a:r>
            <a:r>
              <a:rPr lang="en-US" sz="1900" dirty="0">
                <a:latin typeface="Times New Roman" panose="02020603050405020304" pitchFamily="18" charset="0"/>
                <a:cs typeface="Times New Roman" panose="02020603050405020304" pitchFamily="18" charset="0"/>
              </a:rPr>
              <a:t> to estimate expected economic outcomes. </a:t>
            </a:r>
          </a:p>
          <a:p>
            <a:pPr marL="285750" indent="-285750" algn="just">
              <a:lnSpc>
                <a:spcPct val="150000"/>
              </a:lnSpc>
              <a:buClr>
                <a:schemeClr val="accent4">
                  <a:lumMod val="75000"/>
                </a:schemeClr>
              </a:buClr>
              <a:buSzPct val="80000"/>
              <a:buFont typeface="Courier New" panose="02070309020205020404" pitchFamily="49" charset="0"/>
              <a:buChar char="o"/>
            </a:pPr>
            <a:r>
              <a:rPr lang="en-US" sz="1900" b="1" dirty="0">
                <a:latin typeface="Times New Roman" panose="02020603050405020304" pitchFamily="18" charset="0"/>
                <a:cs typeface="Times New Roman" panose="02020603050405020304" pitchFamily="18" charset="0"/>
              </a:rPr>
              <a:t>Crop recommendation system</a:t>
            </a:r>
            <a:r>
              <a:rPr lang="en-US" sz="1900" dirty="0">
                <a:latin typeface="Times New Roman" panose="02020603050405020304" pitchFamily="18" charset="0"/>
                <a:cs typeface="Times New Roman" panose="02020603050405020304" pitchFamily="18" charset="0"/>
              </a:rPr>
              <a:t> based on seasonal and soil conditions. </a:t>
            </a:r>
          </a:p>
          <a:p>
            <a:pPr marL="285750" indent="-285750" algn="just">
              <a:lnSpc>
                <a:spcPct val="150000"/>
              </a:lnSpc>
              <a:buClr>
                <a:schemeClr val="accent4">
                  <a:lumMod val="75000"/>
                </a:schemeClr>
              </a:buClr>
              <a:buSzPct val="80000"/>
              <a:buFont typeface="Courier New" panose="02070309020205020404" pitchFamily="49" charset="0"/>
              <a:buChar char="o"/>
            </a:pPr>
            <a:r>
              <a:rPr lang="en-US" sz="1900" b="1" dirty="0">
                <a:latin typeface="Times New Roman" panose="02020603050405020304" pitchFamily="18" charset="0"/>
                <a:cs typeface="Times New Roman" panose="02020603050405020304" pitchFamily="18" charset="0"/>
              </a:rPr>
              <a:t>Smart irrigation recommendations</a:t>
            </a:r>
            <a:r>
              <a:rPr lang="en-US" sz="1900" dirty="0">
                <a:latin typeface="Times New Roman" panose="02020603050405020304" pitchFamily="18" charset="0"/>
                <a:cs typeface="Times New Roman" panose="02020603050405020304" pitchFamily="18" charset="0"/>
              </a:rPr>
              <a:t> to improve water efficiency. </a:t>
            </a:r>
          </a:p>
          <a:p>
            <a:pPr marL="285750" indent="-285750" algn="just">
              <a:lnSpc>
                <a:spcPct val="150000"/>
              </a:lnSpc>
              <a:buClr>
                <a:schemeClr val="accent4">
                  <a:lumMod val="75000"/>
                </a:schemeClr>
              </a:buClr>
              <a:buSzPct val="80000"/>
              <a:buFont typeface="Courier New" panose="02070309020205020404" pitchFamily="49" charset="0"/>
              <a:buChar char="o"/>
            </a:pPr>
            <a:r>
              <a:rPr lang="en-US" sz="1900" b="1" dirty="0">
                <a:latin typeface="Times New Roman" panose="02020603050405020304" pitchFamily="18" charset="0"/>
                <a:cs typeface="Times New Roman" panose="02020603050405020304" pitchFamily="18" charset="0"/>
              </a:rPr>
              <a:t>Power BI interactive dashboard</a:t>
            </a:r>
            <a:r>
              <a:rPr lang="en-US" sz="1900" dirty="0">
                <a:latin typeface="Times New Roman" panose="02020603050405020304" pitchFamily="18" charset="0"/>
                <a:cs typeface="Times New Roman" panose="02020603050405020304" pitchFamily="18" charset="0"/>
              </a:rPr>
              <a:t> for real-time exploration. </a:t>
            </a:r>
          </a:p>
          <a:p>
            <a:pPr marL="285750" indent="-285750" algn="just">
              <a:lnSpc>
                <a:spcPct val="150000"/>
              </a:lnSpc>
              <a:buClr>
                <a:schemeClr val="accent4">
                  <a:lumMod val="75000"/>
                </a:schemeClr>
              </a:buClr>
              <a:buSzPct val="80000"/>
              <a:buFont typeface="Courier New" panose="02070309020205020404" pitchFamily="49" charset="0"/>
              <a:buChar char="o"/>
            </a:pPr>
            <a:r>
              <a:rPr lang="en-US" sz="1900" b="1" dirty="0">
                <a:latin typeface="Times New Roman" panose="02020603050405020304" pitchFamily="18" charset="0"/>
                <a:cs typeface="Times New Roman" panose="02020603050405020304" pitchFamily="18" charset="0"/>
              </a:rPr>
              <a:t>GIS-based geographical analysis</a:t>
            </a:r>
            <a:r>
              <a:rPr lang="en-US" sz="1900" dirty="0">
                <a:latin typeface="Times New Roman" panose="02020603050405020304" pitchFamily="18" charset="0"/>
                <a:cs typeface="Times New Roman" panose="02020603050405020304" pitchFamily="18" charset="0"/>
              </a:rPr>
              <a:t> of crop yield and profitability. </a:t>
            </a:r>
          </a:p>
          <a:p>
            <a:pPr marL="285750" indent="-285750" algn="just">
              <a:lnSpc>
                <a:spcPct val="150000"/>
              </a:lnSpc>
              <a:buClr>
                <a:schemeClr val="accent4">
                  <a:lumMod val="75000"/>
                </a:schemeClr>
              </a:buClr>
              <a:buSzPct val="80000"/>
              <a:buFont typeface="Courier New" panose="02070309020205020404" pitchFamily="49" charset="0"/>
              <a:buChar char="o"/>
            </a:pPr>
            <a:r>
              <a:rPr lang="en-US" sz="1900" b="1" dirty="0">
                <a:latin typeface="Times New Roman" panose="02020603050405020304" pitchFamily="18" charset="0"/>
                <a:cs typeface="Times New Roman" panose="02020603050405020304" pitchFamily="18" charset="0"/>
              </a:rPr>
              <a:t>Disease and pest risk prediction</a:t>
            </a:r>
            <a:r>
              <a:rPr lang="en-US" sz="1900" dirty="0">
                <a:latin typeface="Times New Roman" panose="02020603050405020304" pitchFamily="18" charset="0"/>
                <a:cs typeface="Times New Roman" panose="02020603050405020304" pitchFamily="18" charset="0"/>
              </a:rPr>
              <a:t> for early warning. </a:t>
            </a:r>
          </a:p>
          <a:p>
            <a:pPr marL="285750" indent="-285750" algn="just">
              <a:lnSpc>
                <a:spcPct val="150000"/>
              </a:lnSpc>
              <a:buClr>
                <a:schemeClr val="accent4">
                  <a:lumMod val="75000"/>
                </a:schemeClr>
              </a:buClr>
              <a:buSzPct val="80000"/>
              <a:buFont typeface="Courier New" panose="02070309020205020404" pitchFamily="49" charset="0"/>
              <a:buChar char="o"/>
            </a:pPr>
            <a:r>
              <a:rPr lang="en-US" sz="1900" b="1" dirty="0">
                <a:latin typeface="Times New Roman" panose="02020603050405020304" pitchFamily="18" charset="0"/>
                <a:cs typeface="Times New Roman" panose="02020603050405020304" pitchFamily="18" charset="0"/>
              </a:rPr>
              <a:t>Multi-year analysis</a:t>
            </a:r>
            <a:r>
              <a:rPr lang="en-US" sz="1900" dirty="0">
                <a:latin typeface="Times New Roman" panose="02020603050405020304" pitchFamily="18" charset="0"/>
                <a:cs typeface="Times New Roman" panose="02020603050405020304" pitchFamily="18" charset="0"/>
              </a:rPr>
              <a:t> to identify long-term agricultural trends. </a:t>
            </a:r>
          </a:p>
          <a:p>
            <a:pPr marL="285750" indent="-285750" algn="just">
              <a:lnSpc>
                <a:spcPct val="150000"/>
              </a:lnSpc>
              <a:buClr>
                <a:schemeClr val="accent4">
                  <a:lumMod val="75000"/>
                </a:schemeClr>
              </a:buClr>
              <a:buSzPct val="80000"/>
              <a:buFont typeface="Courier New" panose="02070309020205020404" pitchFamily="49" charset="0"/>
              <a:buChar char="o"/>
            </a:pPr>
            <a:r>
              <a:rPr lang="en-US" sz="1900" b="1" dirty="0">
                <a:latin typeface="Times New Roman" panose="02020603050405020304" pitchFamily="18" charset="0"/>
                <a:cs typeface="Times New Roman" panose="02020603050405020304" pitchFamily="18" charset="0"/>
              </a:rPr>
              <a:t>Farmer decision-support application</a:t>
            </a:r>
            <a:r>
              <a:rPr lang="en-US" sz="1900" dirty="0">
                <a:latin typeface="Times New Roman" panose="02020603050405020304" pitchFamily="18" charset="0"/>
                <a:cs typeface="Times New Roman" panose="02020603050405020304" pitchFamily="18" charset="0"/>
              </a:rPr>
              <a:t> for practical field-level recommendations.</a:t>
            </a:r>
          </a:p>
        </p:txBody>
      </p:sp>
    </p:spTree>
    <p:extLst>
      <p:ext uri="{BB962C8B-B14F-4D97-AF65-F5344CB8AC3E}">
        <p14:creationId xmlns:p14="http://schemas.microsoft.com/office/powerpoint/2010/main" val="7768281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7316CE-193E-3D5D-C15A-98517303A13F}"/>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3D44118A-0276-9E2F-E0E8-85CEE9F1E0C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01A2257-2F98-CB88-038E-C0F1D0A1A363}"/>
              </a:ext>
            </a:extLst>
          </p:cNvPr>
          <p:cNvSpPr>
            <a:spLocks noGrp="1"/>
          </p:cNvSpPr>
          <p:nvPr>
            <p:ph type="title"/>
          </p:nvPr>
        </p:nvSpPr>
        <p:spPr>
          <a:xfrm>
            <a:off x="451183" y="299172"/>
            <a:ext cx="4735798" cy="830997"/>
          </a:xfrm>
        </p:spPr>
        <p:txBody>
          <a:bodyPr>
            <a:normAutofit/>
          </a:bodyPr>
          <a:lstStyle/>
          <a:p>
            <a:r>
              <a:rPr lang="en-IN" sz="4000" u="sng" dirty="0">
                <a:latin typeface="Times New Roman" panose="02020603050405020304" pitchFamily="18" charset="0"/>
                <a:cs typeface="Times New Roman" panose="02020603050405020304" pitchFamily="18" charset="0"/>
              </a:rPr>
              <a:t>GitHub  Link</a:t>
            </a:r>
          </a:p>
        </p:txBody>
      </p:sp>
      <p:sp>
        <p:nvSpPr>
          <p:cNvPr id="7" name="Text Placeholder 30">
            <a:extLst>
              <a:ext uri="{FF2B5EF4-FFF2-40B4-BE49-F238E27FC236}">
                <a16:creationId xmlns:a16="http://schemas.microsoft.com/office/drawing/2014/main" id="{AF1C8809-654A-4DD1-BB18-87B8B6C020B9}"/>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0F7D0B46-DEEA-1B5E-FE84-59D11F3B110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3" name="TextBox 2">
            <a:extLst>
              <a:ext uri="{FF2B5EF4-FFF2-40B4-BE49-F238E27FC236}">
                <a16:creationId xmlns:a16="http://schemas.microsoft.com/office/drawing/2014/main" id="{5F0B37E4-66B1-8633-7266-68B321742757}"/>
              </a:ext>
            </a:extLst>
          </p:cNvPr>
          <p:cNvSpPr txBox="1"/>
          <p:nvPr/>
        </p:nvSpPr>
        <p:spPr>
          <a:xfrm>
            <a:off x="451183" y="2379742"/>
            <a:ext cx="7232875" cy="677108"/>
          </a:xfrm>
          <a:prstGeom prst="rect">
            <a:avLst/>
          </a:prstGeom>
          <a:noFill/>
        </p:spPr>
        <p:txBody>
          <a:bodyPr wrap="square">
            <a:spAutoFit/>
          </a:bodyPr>
          <a:lstStyle/>
          <a:p>
            <a:r>
              <a:rPr lang="en-US" sz="1900" dirty="0">
                <a:solidFill>
                  <a:schemeClr val="accent2">
                    <a:lumMod val="75000"/>
                  </a:schemeClr>
                </a:solidFill>
                <a:latin typeface="Times New Roman" panose="02020603050405020304" pitchFamily="18" charset="0"/>
                <a:cs typeface="Times New Roman" panose="02020603050405020304" pitchFamily="18" charset="0"/>
                <a:hlinkClick r:id="rId3">
                  <a:extLst>
                    <a:ext uri="{A12FA001-AC4F-418D-AE19-62706E023703}">
                      <ahyp:hlinkClr xmlns:ahyp="http://schemas.microsoft.com/office/drawing/2018/hyperlinkcolor" val="tx"/>
                    </a:ext>
                  </a:extLst>
                </a:hlinkClick>
              </a:rPr>
              <a:t>https://github.com/LambatePrathamesh/Seasonal-Agriculture-Performance-Analysis.git</a:t>
            </a:r>
            <a:endParaRPr lang="en-US" sz="1900" dirty="0">
              <a:solidFill>
                <a:schemeClr val="accent2">
                  <a:lumMod val="75000"/>
                </a:schemeClr>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8636104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866297-EA5A-44FA-6968-26D32B9B1EAC}"/>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5B12FC48-BC6E-8635-A49E-73EF17CEDC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42B692F6-18B4-BC16-EA0C-48FFBD5621DF}"/>
              </a:ext>
            </a:extLst>
          </p:cNvPr>
          <p:cNvSpPr>
            <a:spLocks noGrp="1"/>
          </p:cNvSpPr>
          <p:nvPr>
            <p:ph type="title"/>
          </p:nvPr>
        </p:nvSpPr>
        <p:spPr>
          <a:xfrm>
            <a:off x="320982" y="193040"/>
            <a:ext cx="11363643" cy="1082331"/>
          </a:xfrm>
        </p:spPr>
        <p:txBody>
          <a:bodyPr>
            <a:noAutofit/>
          </a:bodyPr>
          <a:lstStyle/>
          <a:p>
            <a:r>
              <a:rPr lang="en-IN" sz="3200" u="sng" dirty="0">
                <a:latin typeface="Times New Roman" panose="02020603050405020304" pitchFamily="18" charset="0"/>
                <a:cs typeface="Times New Roman" panose="02020603050405020304" pitchFamily="18" charset="0"/>
              </a:rPr>
              <a:t>VOIS Course completion certificate - </a:t>
            </a:r>
            <a:br>
              <a:rPr lang="en-IN" sz="3200" u="sng" dirty="0">
                <a:latin typeface="Times New Roman" panose="02020603050405020304" pitchFamily="18" charset="0"/>
                <a:cs typeface="Times New Roman" panose="02020603050405020304" pitchFamily="18" charset="0"/>
              </a:rPr>
            </a:br>
            <a:r>
              <a:rPr lang="en-IN" sz="3200" u="sng" dirty="0">
                <a:latin typeface="Times New Roman" panose="02020603050405020304" pitchFamily="18" charset="0"/>
                <a:cs typeface="Times New Roman" panose="02020603050405020304" pitchFamily="18" charset="0"/>
              </a:rPr>
              <a:t>Course name- Data Visualization </a:t>
            </a:r>
          </a:p>
        </p:txBody>
      </p:sp>
      <p:sp>
        <p:nvSpPr>
          <p:cNvPr id="7" name="Text Placeholder 30">
            <a:extLst>
              <a:ext uri="{FF2B5EF4-FFF2-40B4-BE49-F238E27FC236}">
                <a16:creationId xmlns:a16="http://schemas.microsoft.com/office/drawing/2014/main" id="{069BD300-7A70-B076-3B4C-43081E893162}"/>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8C1854F2-9914-C22F-FF0B-693CD1D0F966}"/>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3" name="Picture 2">
            <a:extLst>
              <a:ext uri="{FF2B5EF4-FFF2-40B4-BE49-F238E27FC236}">
                <a16:creationId xmlns:a16="http://schemas.microsoft.com/office/drawing/2014/main" id="{92C34BA9-81E1-DE82-46E1-FF8A995ADA24}"/>
              </a:ext>
            </a:extLst>
          </p:cNvPr>
          <p:cNvPicPr>
            <a:picLocks noChangeAspect="1"/>
          </p:cNvPicPr>
          <p:nvPr/>
        </p:nvPicPr>
        <p:blipFill>
          <a:blip r:embed="rId3"/>
          <a:stretch>
            <a:fillRect/>
          </a:stretch>
        </p:blipFill>
        <p:spPr>
          <a:xfrm>
            <a:off x="350324" y="1343025"/>
            <a:ext cx="11520694" cy="5321935"/>
          </a:xfrm>
          <a:prstGeom prst="rect">
            <a:avLst/>
          </a:prstGeom>
        </p:spPr>
      </p:pic>
    </p:spTree>
    <p:extLst>
      <p:ext uri="{BB962C8B-B14F-4D97-AF65-F5344CB8AC3E}">
        <p14:creationId xmlns:p14="http://schemas.microsoft.com/office/powerpoint/2010/main" val="39628022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D88C20CF-C1EE-4092-B52D-FD4AB2AB2508}"/>
              </a:ext>
            </a:extLst>
          </p:cNvPr>
          <p:cNvSpPr>
            <a:spLocks noGrp="1"/>
          </p:cNvSpPr>
          <p:nvPr>
            <p:ph type="title"/>
          </p:nvPr>
        </p:nvSpPr>
        <p:spPr>
          <a:xfrm>
            <a:off x="426000" y="2760226"/>
            <a:ext cx="11340000" cy="1337548"/>
          </a:xfrm>
          <a:prstGeom prst="rect">
            <a:avLst/>
          </a:prstGeom>
        </p:spPr>
        <p:txBody>
          <a:bodyPr anchor="ctr">
            <a:noAutofit/>
          </a:bodyPr>
          <a:lstStyle/>
          <a:p>
            <a:pPr algn="ctr"/>
            <a:r>
              <a:rPr lang="en-US" sz="8000" b="1" u="sng" dirty="0">
                <a:solidFill>
                  <a:schemeClr val="tx1"/>
                </a:solidFill>
                <a:latin typeface="Times New Roman" panose="02020603050405020304" pitchFamily="18" charset="0"/>
                <a:cs typeface="Times New Roman" panose="02020603050405020304" pitchFamily="18" charset="0"/>
              </a:rPr>
              <a:t>Thank  You</a:t>
            </a:r>
          </a:p>
        </p:txBody>
      </p:sp>
      <p:sp>
        <p:nvSpPr>
          <p:cNvPr id="31" name="Text Placeholder 30">
            <a:extLst>
              <a:ext uri="{FF2B5EF4-FFF2-40B4-BE49-F238E27FC236}">
                <a16:creationId xmlns:a16="http://schemas.microsoft.com/office/drawing/2014/main" id="{97AB1F14-3A1E-4057-A473-9975BA59F012}"/>
              </a:ext>
            </a:extLst>
          </p:cNvPr>
          <p:cNvSpPr>
            <a:spLocks noGrp="1"/>
          </p:cNvSpPr>
          <p:nvPr>
            <p:ph type="body" sz="quarter" idx="13"/>
          </p:nvPr>
        </p:nvSpPr>
        <p:spPr>
          <a:xfrm>
            <a:off x="3727865" y="4641925"/>
            <a:ext cx="2139695" cy="1108635"/>
          </a:xfrm>
        </p:spPr>
        <p:txBody>
          <a:bodyPr>
            <a:normAutofit/>
          </a:bodyPr>
          <a:lstStyle/>
          <a:p>
            <a:r>
              <a:rPr lang="en-US" dirty="0"/>
              <a:t>.</a:t>
            </a:r>
          </a:p>
        </p:txBody>
      </p:sp>
      <p:sp>
        <p:nvSpPr>
          <p:cNvPr id="17" name="Text Placeholder 28">
            <a:extLst>
              <a:ext uri="{FF2B5EF4-FFF2-40B4-BE49-F238E27FC236}">
                <a16:creationId xmlns:a16="http://schemas.microsoft.com/office/drawing/2014/main" id="{E212CE24-374D-44D0-8F39-0F5A36E42ED7}"/>
              </a:ext>
            </a:extLst>
          </p:cNvPr>
          <p:cNvSpPr txBox="1">
            <a:spLocks/>
          </p:cNvSpPr>
          <p:nvPr/>
        </p:nvSpPr>
        <p:spPr>
          <a:xfrm>
            <a:off x="878337" y="4134780"/>
            <a:ext cx="2596574" cy="453919"/>
          </a:xfrm>
          <a:prstGeom prst="rect">
            <a:avLst/>
          </a:prstGeom>
        </p:spPr>
        <p:txBody>
          <a:bodyPr vert="horz" lIns="91440" tIns="45720" rIns="91440" bIns="45720" rtlCol="0">
            <a:normAutofit lnSpcReduction="10000"/>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400" dirty="0"/>
          </a:p>
        </p:txBody>
      </p:sp>
      <p:sp>
        <p:nvSpPr>
          <p:cNvPr id="20" name="Text Placeholder 28">
            <a:extLst>
              <a:ext uri="{FF2B5EF4-FFF2-40B4-BE49-F238E27FC236}">
                <a16:creationId xmlns:a16="http://schemas.microsoft.com/office/drawing/2014/main" id="{A09A5BC1-0E62-4E6B-A590-951A87D4B4FE}"/>
              </a:ext>
            </a:extLst>
          </p:cNvPr>
          <p:cNvSpPr txBox="1">
            <a:spLocks/>
          </p:cNvSpPr>
          <p:nvPr/>
        </p:nvSpPr>
        <p:spPr>
          <a:xfrm>
            <a:off x="5353508" y="3962573"/>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23" name="Text Placeholder 28">
            <a:extLst>
              <a:ext uri="{FF2B5EF4-FFF2-40B4-BE49-F238E27FC236}">
                <a16:creationId xmlns:a16="http://schemas.microsoft.com/office/drawing/2014/main" id="{9E6B148F-F3B6-4E6B-9B85-645C039858E8}"/>
              </a:ext>
            </a:extLst>
          </p:cNvPr>
          <p:cNvSpPr txBox="1">
            <a:spLocks/>
          </p:cNvSpPr>
          <p:nvPr/>
        </p:nvSpPr>
        <p:spPr>
          <a:xfrm>
            <a:off x="7789163" y="3962572"/>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30" name="Text Placeholder 30">
            <a:extLst>
              <a:ext uri="{FF2B5EF4-FFF2-40B4-BE49-F238E27FC236}">
                <a16:creationId xmlns:a16="http://schemas.microsoft.com/office/drawing/2014/main" id="{D3BF02F6-2753-476A-8046-A85AE3A49748}"/>
              </a:ext>
            </a:extLst>
          </p:cNvPr>
          <p:cNvSpPr txBox="1">
            <a:spLocks/>
          </p:cNvSpPr>
          <p:nvPr/>
        </p:nvSpPr>
        <p:spPr>
          <a:xfrm>
            <a:off x="6096000"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dirty="0"/>
          </a:p>
        </p:txBody>
      </p:sp>
      <p:sp>
        <p:nvSpPr>
          <p:cNvPr id="32" name="Text Placeholder 30">
            <a:extLst>
              <a:ext uri="{FF2B5EF4-FFF2-40B4-BE49-F238E27FC236}">
                <a16:creationId xmlns:a16="http://schemas.microsoft.com/office/drawing/2014/main" id="{B993AB29-3A3A-4473-8AC8-86E859C97321}"/>
              </a:ext>
            </a:extLst>
          </p:cNvPr>
          <p:cNvSpPr txBox="1">
            <a:spLocks/>
          </p:cNvSpPr>
          <p:nvPr/>
        </p:nvSpPr>
        <p:spPr>
          <a:xfrm>
            <a:off x="8591363"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r>
              <a:rPr lang="en-GB" dirty="0"/>
              <a:t>.</a:t>
            </a:r>
          </a:p>
        </p:txBody>
      </p:sp>
      <p:pic>
        <p:nvPicPr>
          <p:cNvPr id="15" name="Picture 14">
            <a:extLst>
              <a:ext uri="{FF2B5EF4-FFF2-40B4-BE49-F238E27FC236}">
                <a16:creationId xmlns:a16="http://schemas.microsoft.com/office/drawing/2014/main" id="{BD3F9E86-2FB3-4DB3-9343-59D594F350A0}"/>
              </a:ext>
            </a:extLst>
          </p:cNvPr>
          <p:cNvPicPr>
            <a:picLocks noChangeAspect="1"/>
          </p:cNvPicPr>
          <p:nvPr/>
        </p:nvPicPr>
        <p:blipFill rotWithShape="1">
          <a:blip r:embed="rId2"/>
          <a:srcRect t="96181"/>
          <a:stretch/>
        </p:blipFill>
        <p:spPr>
          <a:xfrm>
            <a:off x="675957" y="6471920"/>
            <a:ext cx="2143125" cy="193040"/>
          </a:xfrm>
          <a:prstGeom prst="rect">
            <a:avLst/>
          </a:prstGeom>
        </p:spPr>
      </p:pic>
    </p:spTree>
    <p:extLst>
      <p:ext uri="{BB962C8B-B14F-4D97-AF65-F5344CB8AC3E}">
        <p14:creationId xmlns:p14="http://schemas.microsoft.com/office/powerpoint/2010/main" val="34017487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par>
                    <p:cTn id="10" fill="hold">
                      <p:stCondLst>
                        <p:cond delay="indefinite"/>
                      </p:stCondLst>
                      <p:childTnLst>
                        <p:par>
                          <p:cTn id="11" fill="hold">
                            <p:stCondLst>
                              <p:cond delay="0"/>
                            </p:stCondLst>
                            <p:childTnLst>
                              <p:par>
                                <p:cTn id="12" presetID="12" presetClass="entr" presetSubtype="4" fill="hold" grpId="0" nodeType="clickEffect" nodePh="1">
                                  <p:stCondLst>
                                    <p:cond delay="0"/>
                                  </p:stCondLst>
                                  <p:endCondLst>
                                    <p:cond evt="begin" delay="0">
                                      <p:tn val="12"/>
                                    </p:cond>
                                  </p:endCondLst>
                                  <p:childTnLst>
                                    <p:set>
                                      <p:cBhvr>
                                        <p:cTn id="13" dur="1" fill="hold">
                                          <p:stCondLst>
                                            <p:cond delay="0"/>
                                          </p:stCondLst>
                                        </p:cTn>
                                        <p:tgtEl>
                                          <p:spTgt spid="17"/>
                                        </p:tgtEl>
                                        <p:attrNameLst>
                                          <p:attrName>style.visibility</p:attrName>
                                        </p:attrNameLst>
                                      </p:cBhvr>
                                      <p:to>
                                        <p:strVal val="visible"/>
                                      </p:to>
                                    </p:set>
                                    <p:anim calcmode="lin" valueType="num">
                                      <p:cBhvr additive="base">
                                        <p:cTn id="14" dur="500"/>
                                        <p:tgtEl>
                                          <p:spTgt spid="17"/>
                                        </p:tgtEl>
                                        <p:attrNameLst>
                                          <p:attrName>ppt_y</p:attrName>
                                        </p:attrNameLst>
                                      </p:cBhvr>
                                      <p:tavLst>
                                        <p:tav tm="0">
                                          <p:val>
                                            <p:strVal val="#ppt_y+#ppt_h*1.125000"/>
                                          </p:val>
                                        </p:tav>
                                        <p:tav tm="100000">
                                          <p:val>
                                            <p:strVal val="#ppt_y"/>
                                          </p:val>
                                        </p:tav>
                                      </p:tavLst>
                                    </p:anim>
                                    <p:animEffect transition="in" filter="wipe(up)">
                                      <p:cBhvr>
                                        <p:cTn id="15" dur="500"/>
                                        <p:tgtEl>
                                          <p:spTgt spid="17"/>
                                        </p:tgtEl>
                                      </p:cBhvr>
                                    </p:animEffect>
                                  </p:childTnLst>
                                </p:cTn>
                              </p:par>
                            </p:childTnLst>
                          </p:cTn>
                        </p:par>
                      </p:childTnLst>
                    </p:cTn>
                  </p:par>
                  <p:par>
                    <p:cTn id="16" fill="hold">
                      <p:stCondLst>
                        <p:cond delay="indefinite"/>
                      </p:stCondLst>
                      <p:childTnLst>
                        <p:par>
                          <p:cTn id="17" fill="hold">
                            <p:stCondLst>
                              <p:cond delay="0"/>
                            </p:stCondLst>
                            <p:childTnLst>
                              <p:par>
                                <p:cTn id="18" presetID="12" presetClass="entr" presetSubtype="4" fill="hold" grpId="0" nodeType="clickEffect">
                                  <p:stCondLst>
                                    <p:cond delay="0"/>
                                  </p:stCondLst>
                                  <p:childTnLst>
                                    <p:set>
                                      <p:cBhvr>
                                        <p:cTn id="19" dur="1" fill="hold">
                                          <p:stCondLst>
                                            <p:cond delay="0"/>
                                          </p:stCondLst>
                                        </p:cTn>
                                        <p:tgtEl>
                                          <p:spTgt spid="31">
                                            <p:txEl>
                                              <p:pRg st="0" end="0"/>
                                            </p:txEl>
                                          </p:spTgt>
                                        </p:tgtEl>
                                        <p:attrNameLst>
                                          <p:attrName>style.visibility</p:attrName>
                                        </p:attrNameLst>
                                      </p:cBhvr>
                                      <p:to>
                                        <p:strVal val="visible"/>
                                      </p:to>
                                    </p:set>
                                    <p:anim calcmode="lin" valueType="num">
                                      <p:cBhvr additive="base">
                                        <p:cTn id="20" dur="500"/>
                                        <p:tgtEl>
                                          <p:spTgt spid="31">
                                            <p:txEl>
                                              <p:pRg st="0" end="0"/>
                                            </p:txEl>
                                          </p:spTgt>
                                        </p:tgtEl>
                                        <p:attrNameLst>
                                          <p:attrName>ppt_y</p:attrName>
                                        </p:attrNameLst>
                                      </p:cBhvr>
                                      <p:tavLst>
                                        <p:tav tm="0">
                                          <p:val>
                                            <p:strVal val="#ppt_y+#ppt_h*1.125000"/>
                                          </p:val>
                                        </p:tav>
                                        <p:tav tm="100000">
                                          <p:val>
                                            <p:strVal val="#ppt_y"/>
                                          </p:val>
                                        </p:tav>
                                      </p:tavLst>
                                    </p:anim>
                                    <p:animEffect transition="in" filter="wipe(up)">
                                      <p:cBhvr>
                                        <p:cTn id="21" dur="500"/>
                                        <p:tgtEl>
                                          <p:spTgt spid="31">
                                            <p:txEl>
                                              <p:pRg st="0" end="0"/>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2" presetClass="entr" presetSubtype="4" fill="hold" grpId="0" nodeType="clickEffect" nodePh="1">
                                  <p:stCondLst>
                                    <p:cond delay="0"/>
                                  </p:stCondLst>
                                  <p:endCondLst>
                                    <p:cond evt="begin" delay="0">
                                      <p:tn val="24"/>
                                    </p:cond>
                                  </p:endCondLst>
                                  <p:childTnLst>
                                    <p:set>
                                      <p:cBhvr>
                                        <p:cTn id="25" dur="1" fill="hold">
                                          <p:stCondLst>
                                            <p:cond delay="0"/>
                                          </p:stCondLst>
                                        </p:cTn>
                                        <p:tgtEl>
                                          <p:spTgt spid="20"/>
                                        </p:tgtEl>
                                        <p:attrNameLst>
                                          <p:attrName>style.visibility</p:attrName>
                                        </p:attrNameLst>
                                      </p:cBhvr>
                                      <p:to>
                                        <p:strVal val="visible"/>
                                      </p:to>
                                    </p:set>
                                    <p:anim calcmode="lin" valueType="num">
                                      <p:cBhvr additive="base">
                                        <p:cTn id="26" dur="500"/>
                                        <p:tgtEl>
                                          <p:spTgt spid="20"/>
                                        </p:tgtEl>
                                        <p:attrNameLst>
                                          <p:attrName>ppt_y</p:attrName>
                                        </p:attrNameLst>
                                      </p:cBhvr>
                                      <p:tavLst>
                                        <p:tav tm="0">
                                          <p:val>
                                            <p:strVal val="#ppt_y+#ppt_h*1.125000"/>
                                          </p:val>
                                        </p:tav>
                                        <p:tav tm="100000">
                                          <p:val>
                                            <p:strVal val="#ppt_y"/>
                                          </p:val>
                                        </p:tav>
                                      </p:tavLst>
                                    </p:anim>
                                    <p:animEffect transition="in" filter="wipe(up)">
                                      <p:cBhvr>
                                        <p:cTn id="27" dur="500"/>
                                        <p:tgtEl>
                                          <p:spTgt spid="20"/>
                                        </p:tgtEl>
                                      </p:cBhvr>
                                    </p:animEffect>
                                  </p:childTnLst>
                                </p:cTn>
                              </p:par>
                            </p:childTnLst>
                          </p:cTn>
                        </p:par>
                      </p:childTnLst>
                    </p:cTn>
                  </p:par>
                  <p:par>
                    <p:cTn id="28" fill="hold">
                      <p:stCondLst>
                        <p:cond delay="indefinite"/>
                      </p:stCondLst>
                      <p:childTnLst>
                        <p:par>
                          <p:cTn id="29" fill="hold">
                            <p:stCondLst>
                              <p:cond delay="0"/>
                            </p:stCondLst>
                            <p:childTnLst>
                              <p:par>
                                <p:cTn id="30" presetID="12" presetClass="entr" presetSubtype="4" fill="hold" grpId="0" nodeType="clickEffect" nodePh="1">
                                  <p:stCondLst>
                                    <p:cond delay="0"/>
                                  </p:stCondLst>
                                  <p:endCondLst>
                                    <p:cond evt="begin" delay="0">
                                      <p:tn val="30"/>
                                    </p:cond>
                                  </p:endCondLst>
                                  <p:childTnLst>
                                    <p:set>
                                      <p:cBhvr>
                                        <p:cTn id="31" dur="1" fill="hold">
                                          <p:stCondLst>
                                            <p:cond delay="0"/>
                                          </p:stCondLst>
                                        </p:cTn>
                                        <p:tgtEl>
                                          <p:spTgt spid="30"/>
                                        </p:tgtEl>
                                        <p:attrNameLst>
                                          <p:attrName>style.visibility</p:attrName>
                                        </p:attrNameLst>
                                      </p:cBhvr>
                                      <p:to>
                                        <p:strVal val="visible"/>
                                      </p:to>
                                    </p:set>
                                    <p:anim calcmode="lin" valueType="num">
                                      <p:cBhvr additive="base">
                                        <p:cTn id="32" dur="500"/>
                                        <p:tgtEl>
                                          <p:spTgt spid="30"/>
                                        </p:tgtEl>
                                        <p:attrNameLst>
                                          <p:attrName>ppt_y</p:attrName>
                                        </p:attrNameLst>
                                      </p:cBhvr>
                                      <p:tavLst>
                                        <p:tav tm="0">
                                          <p:val>
                                            <p:strVal val="#ppt_y+#ppt_h*1.125000"/>
                                          </p:val>
                                        </p:tav>
                                        <p:tav tm="100000">
                                          <p:val>
                                            <p:strVal val="#ppt_y"/>
                                          </p:val>
                                        </p:tav>
                                      </p:tavLst>
                                    </p:anim>
                                    <p:animEffect transition="in" filter="wipe(up)">
                                      <p:cBhvr>
                                        <p:cTn id="33" dur="500"/>
                                        <p:tgtEl>
                                          <p:spTgt spid="30"/>
                                        </p:tgtEl>
                                      </p:cBhvr>
                                    </p:animEffect>
                                  </p:childTnLst>
                                </p:cTn>
                              </p:par>
                            </p:childTnLst>
                          </p:cTn>
                        </p:par>
                      </p:childTnLst>
                    </p:cTn>
                  </p:par>
                  <p:par>
                    <p:cTn id="34" fill="hold">
                      <p:stCondLst>
                        <p:cond delay="indefinite"/>
                      </p:stCondLst>
                      <p:childTnLst>
                        <p:par>
                          <p:cTn id="35" fill="hold">
                            <p:stCondLst>
                              <p:cond delay="0"/>
                            </p:stCondLst>
                            <p:childTnLst>
                              <p:par>
                                <p:cTn id="36" presetID="12" presetClass="entr" presetSubtype="4" fill="hold" grpId="0" nodeType="clickEffect" nodePh="1">
                                  <p:stCondLst>
                                    <p:cond delay="0"/>
                                  </p:stCondLst>
                                  <p:endCondLst>
                                    <p:cond evt="begin" delay="0">
                                      <p:tn val="36"/>
                                    </p:cond>
                                  </p:endCondLst>
                                  <p:childTnLst>
                                    <p:set>
                                      <p:cBhvr>
                                        <p:cTn id="37" dur="1" fill="hold">
                                          <p:stCondLst>
                                            <p:cond delay="0"/>
                                          </p:stCondLst>
                                        </p:cTn>
                                        <p:tgtEl>
                                          <p:spTgt spid="23"/>
                                        </p:tgtEl>
                                        <p:attrNameLst>
                                          <p:attrName>style.visibility</p:attrName>
                                        </p:attrNameLst>
                                      </p:cBhvr>
                                      <p:to>
                                        <p:strVal val="visible"/>
                                      </p:to>
                                    </p:set>
                                    <p:anim calcmode="lin" valueType="num">
                                      <p:cBhvr additive="base">
                                        <p:cTn id="38" dur="500"/>
                                        <p:tgtEl>
                                          <p:spTgt spid="23"/>
                                        </p:tgtEl>
                                        <p:attrNameLst>
                                          <p:attrName>ppt_y</p:attrName>
                                        </p:attrNameLst>
                                      </p:cBhvr>
                                      <p:tavLst>
                                        <p:tav tm="0">
                                          <p:val>
                                            <p:strVal val="#ppt_y+#ppt_h*1.125000"/>
                                          </p:val>
                                        </p:tav>
                                        <p:tav tm="100000">
                                          <p:val>
                                            <p:strVal val="#ppt_y"/>
                                          </p:val>
                                        </p:tav>
                                      </p:tavLst>
                                    </p:anim>
                                    <p:animEffect transition="in" filter="wipe(up)">
                                      <p:cBhvr>
                                        <p:cTn id="39" dur="500"/>
                                        <p:tgtEl>
                                          <p:spTgt spid="23"/>
                                        </p:tgtEl>
                                      </p:cBhvr>
                                    </p:animEffect>
                                  </p:childTnLst>
                                </p:cTn>
                              </p:par>
                            </p:childTnLst>
                          </p:cTn>
                        </p:par>
                      </p:childTnLst>
                    </p:cTn>
                  </p:par>
                  <p:par>
                    <p:cTn id="40" fill="hold">
                      <p:stCondLst>
                        <p:cond delay="indefinite"/>
                      </p:stCondLst>
                      <p:childTnLst>
                        <p:par>
                          <p:cTn id="41" fill="hold">
                            <p:stCondLst>
                              <p:cond delay="0"/>
                            </p:stCondLst>
                            <p:childTnLst>
                              <p:par>
                                <p:cTn id="42" presetID="12" presetClass="entr" presetSubtype="4" fill="hold" grpId="0" nodeType="clickEffect">
                                  <p:stCondLst>
                                    <p:cond delay="0"/>
                                  </p:stCondLst>
                                  <p:childTnLst>
                                    <p:set>
                                      <p:cBhvr>
                                        <p:cTn id="43" dur="1" fill="hold">
                                          <p:stCondLst>
                                            <p:cond delay="0"/>
                                          </p:stCondLst>
                                        </p:cTn>
                                        <p:tgtEl>
                                          <p:spTgt spid="32"/>
                                        </p:tgtEl>
                                        <p:attrNameLst>
                                          <p:attrName>style.visibility</p:attrName>
                                        </p:attrNameLst>
                                      </p:cBhvr>
                                      <p:to>
                                        <p:strVal val="visible"/>
                                      </p:to>
                                    </p:set>
                                    <p:anim calcmode="lin" valueType="num">
                                      <p:cBhvr additive="base">
                                        <p:cTn id="44" dur="500"/>
                                        <p:tgtEl>
                                          <p:spTgt spid="32"/>
                                        </p:tgtEl>
                                        <p:attrNameLst>
                                          <p:attrName>ppt_y</p:attrName>
                                        </p:attrNameLst>
                                      </p:cBhvr>
                                      <p:tavLst>
                                        <p:tav tm="0">
                                          <p:val>
                                            <p:strVal val="#ppt_y+#ppt_h*1.125000"/>
                                          </p:val>
                                        </p:tav>
                                        <p:tav tm="100000">
                                          <p:val>
                                            <p:strVal val="#ppt_y"/>
                                          </p:val>
                                        </p:tav>
                                      </p:tavLst>
                                    </p:anim>
                                    <p:animEffect transition="in" filter="wipe(up)">
                                      <p:cBhvr>
                                        <p:cTn id="45"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31" grpId="0" build="p"/>
      <p:bldP spid="17" grpId="0"/>
      <p:bldP spid="20" grpId="0"/>
      <p:bldP spid="23" grpId="0"/>
      <p:bldP spid="30" grpId="0"/>
      <p:bldP spid="32" grpId="0"/>
    </p:bldLst>
  </p:timing>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0B5AB586-D108-4FC1-8368-649FE654B89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426e97fa315356fffbdcd9876fe988c2">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14b8f0def80e6d70ce3def20c90759ae"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4DEA9014-ED64-4558-B1E1-D03F0EE32BEB}">
  <ds:schemaRefs>
    <ds:schemaRef ds:uri="http://purl.org/dc/dcmitype/"/>
    <ds:schemaRef ds:uri="http://schemas.microsoft.com/office/2006/documentManagement/types"/>
    <ds:schemaRef ds:uri="71af3243-3dd4-4a8d-8c0d-dd76da1f02a5"/>
    <ds:schemaRef ds:uri="http://purl.org/dc/elements/1.1/"/>
    <ds:schemaRef ds:uri="http://www.w3.org/XML/1998/namespace"/>
    <ds:schemaRef ds:uri="16c05727-aa75-4e4a-9b5f-8a80a1165891"/>
    <ds:schemaRef ds:uri="http://purl.org/dc/terms/"/>
    <ds:schemaRef ds:uri="http://schemas.microsoft.com/office/infopath/2007/PartnerControls"/>
    <ds:schemaRef ds:uri="http://schemas.openxmlformats.org/package/2006/metadata/core-properties"/>
    <ds:schemaRef ds:uri="http://schemas.microsoft.com/office/2006/metadata/properties"/>
  </ds:schemaRefs>
</ds:datastoreItem>
</file>

<file path=customXml/itemProps2.xml><?xml version="1.0" encoding="utf-8"?>
<ds:datastoreItem xmlns:ds="http://schemas.openxmlformats.org/officeDocument/2006/customXml" ds:itemID="{05D99ABA-76CE-4A8E-B5F0-C051B96628DE}">
  <ds:schemaRefs>
    <ds:schemaRef ds:uri="http://schemas.microsoft.com/sharepoint/v3/contenttype/forms"/>
  </ds:schemaRefs>
</ds:datastoreItem>
</file>

<file path=customXml/itemProps3.xml><?xml version="1.0" encoding="utf-8"?>
<ds:datastoreItem xmlns:ds="http://schemas.openxmlformats.org/officeDocument/2006/customXml" ds:itemID="{B19EB750-A6DA-4BE8-B87B-FC499FE7336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Facet</Template>
  <TotalTime>1484</TotalTime>
  <Words>2017</Words>
  <Application>Microsoft Office PowerPoint</Application>
  <PresentationFormat>Widescreen</PresentationFormat>
  <Paragraphs>118</Paragraphs>
  <Slides>20</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20</vt:i4>
      </vt:variant>
    </vt:vector>
  </HeadingPairs>
  <TitlesOfParts>
    <vt:vector size="28" baseType="lpstr">
      <vt:lpstr>Arial</vt:lpstr>
      <vt:lpstr>Calibri</vt:lpstr>
      <vt:lpstr>Courier New</vt:lpstr>
      <vt:lpstr>Times New Roman</vt:lpstr>
      <vt:lpstr>Trebuchet MS</vt:lpstr>
      <vt:lpstr>Wingdings</vt:lpstr>
      <vt:lpstr>Wingdings 3</vt:lpstr>
      <vt:lpstr>Facet</vt:lpstr>
      <vt:lpstr>Project Title - SEASONAL AGRICULTURE PERFORMANCE        ANALYSIS </vt:lpstr>
      <vt:lpstr>PROBLEM  STATEMENT</vt:lpstr>
      <vt:lpstr>PowerPoint Presentation</vt:lpstr>
      <vt:lpstr>WHO  ARE  THE  END  USERS?</vt:lpstr>
      <vt:lpstr>TECHNOLOGY  USED</vt:lpstr>
      <vt:lpstr>RESULTS </vt:lpstr>
      <vt:lpstr>RESULTS </vt:lpstr>
      <vt:lpstr>RESULTS </vt:lpstr>
      <vt:lpstr>RESULTS </vt:lpstr>
      <vt:lpstr>RESULTS </vt:lpstr>
      <vt:lpstr>RESULTS </vt:lpstr>
      <vt:lpstr>RESULTS </vt:lpstr>
      <vt:lpstr>RESULTS </vt:lpstr>
      <vt:lpstr>RESULTS </vt:lpstr>
      <vt:lpstr>RESULTS </vt:lpstr>
      <vt:lpstr>RESULTS </vt:lpstr>
      <vt:lpstr>FUTURE  SCOPE</vt:lpstr>
      <vt:lpstr>GitHub  Link</vt:lpstr>
      <vt:lpstr>VOIS Course completion certificate -  Course name- Data Visualization </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MASKED HUNTERS</dc:title>
  <dc:creator>Venkataswamy</dc:creator>
  <cp:lastModifiedBy>PRATHAMESH SANJAY LAMBATE</cp:lastModifiedBy>
  <cp:revision>99</cp:revision>
  <dcterms:created xsi:type="dcterms:W3CDTF">2021-07-11T13:13:15Z</dcterms:created>
  <dcterms:modified xsi:type="dcterms:W3CDTF">2026-09-04T13:07:54Z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